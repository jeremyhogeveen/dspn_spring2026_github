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mov" ContentType="video/unknown"/>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charts/chart2.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3.xml" ContentType="application/vnd.openxmlformats-officedocument.drawingml.chart+xml"/>
  <Override PartName="/ppt/theme/themeOverride1.xml" ContentType="application/vnd.openxmlformats-officedocument.themeOverr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4.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5.xml" ContentType="application/vnd.openxmlformats-officedocument.drawingml.chart+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6.xml" ContentType="application/vnd.openxmlformats-officedocument.drawingml.chart+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rts/chart7.xml" ContentType="application/vnd.openxmlformats-officedocument.drawingml.chart+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rts/chart8.xml" ContentType="application/vnd.openxmlformats-officedocument.drawingml.chart+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rts/chart9.xml" ContentType="application/vnd.openxmlformats-officedocument.drawingml.chart+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rts/chart10.xml" ContentType="application/vnd.openxmlformats-officedocument.drawingml.chart+xml"/>
  <Override PartName="/ppt/notesSlides/notesSlide80.xml" ContentType="application/vnd.openxmlformats-officedocument.presentationml.notesSlide+xml"/>
  <Override PartName="/ppt/charts/chart11.xml" ContentType="application/vnd.openxmlformats-officedocument.drawingml.chart+xml"/>
  <Override PartName="/ppt/theme/themeOverride2.xml" ContentType="application/vnd.openxmlformats-officedocument.themeOverride+xml"/>
  <Override PartName="/ppt/charts/chart12.xml" ContentType="application/vnd.openxmlformats-officedocument.drawingml.chart+xml"/>
  <Override PartName="/ppt/theme/themeOverride3.xml" ContentType="application/vnd.openxmlformats-officedocument.themeOverr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57" r:id="rId3"/>
    <p:sldId id="259" r:id="rId4"/>
    <p:sldId id="265" r:id="rId5"/>
    <p:sldId id="258" r:id="rId6"/>
    <p:sldId id="267" r:id="rId7"/>
    <p:sldId id="261" r:id="rId8"/>
    <p:sldId id="264" r:id="rId9"/>
    <p:sldId id="266" r:id="rId10"/>
    <p:sldId id="268" r:id="rId11"/>
    <p:sldId id="269" r:id="rId12"/>
    <p:sldId id="270" r:id="rId13"/>
    <p:sldId id="271" r:id="rId14"/>
    <p:sldId id="272" r:id="rId15"/>
    <p:sldId id="273" r:id="rId16"/>
    <p:sldId id="274" r:id="rId17"/>
    <p:sldId id="275" r:id="rId18"/>
    <p:sldId id="283" r:id="rId19"/>
    <p:sldId id="276" r:id="rId20"/>
    <p:sldId id="277" r:id="rId21"/>
    <p:sldId id="278" r:id="rId22"/>
    <p:sldId id="279" r:id="rId23"/>
    <p:sldId id="280" r:id="rId24"/>
    <p:sldId id="281" r:id="rId25"/>
    <p:sldId id="373" r:id="rId26"/>
    <p:sldId id="374" r:id="rId27"/>
    <p:sldId id="282" r:id="rId28"/>
    <p:sldId id="284" r:id="rId29"/>
    <p:sldId id="285" r:id="rId30"/>
    <p:sldId id="286" r:id="rId31"/>
    <p:sldId id="287" r:id="rId32"/>
    <p:sldId id="288" r:id="rId33"/>
    <p:sldId id="289" r:id="rId34"/>
    <p:sldId id="290" r:id="rId35"/>
    <p:sldId id="292" r:id="rId36"/>
    <p:sldId id="293" r:id="rId37"/>
    <p:sldId id="294" r:id="rId38"/>
    <p:sldId id="295" r:id="rId39"/>
    <p:sldId id="370" r:id="rId40"/>
    <p:sldId id="296" r:id="rId41"/>
    <p:sldId id="371" r:id="rId42"/>
    <p:sldId id="297" r:id="rId43"/>
    <p:sldId id="298" r:id="rId44"/>
    <p:sldId id="299" r:id="rId45"/>
    <p:sldId id="328" r:id="rId46"/>
    <p:sldId id="353" r:id="rId47"/>
    <p:sldId id="354" r:id="rId48"/>
    <p:sldId id="314" r:id="rId49"/>
    <p:sldId id="332" r:id="rId50"/>
    <p:sldId id="355" r:id="rId51"/>
    <p:sldId id="356" r:id="rId52"/>
    <p:sldId id="315" r:id="rId53"/>
    <p:sldId id="305" r:id="rId54"/>
    <p:sldId id="372" r:id="rId55"/>
    <p:sldId id="311" r:id="rId56"/>
    <p:sldId id="358" r:id="rId57"/>
    <p:sldId id="360" r:id="rId58"/>
    <p:sldId id="359" r:id="rId59"/>
    <p:sldId id="357" r:id="rId60"/>
    <p:sldId id="312" r:id="rId61"/>
    <p:sldId id="361" r:id="rId62"/>
    <p:sldId id="319" r:id="rId63"/>
    <p:sldId id="307" r:id="rId64"/>
    <p:sldId id="363" r:id="rId65"/>
    <p:sldId id="310" r:id="rId66"/>
    <p:sldId id="364" r:id="rId67"/>
    <p:sldId id="365" r:id="rId68"/>
    <p:sldId id="316" r:id="rId69"/>
    <p:sldId id="317" r:id="rId70"/>
    <p:sldId id="323" r:id="rId71"/>
    <p:sldId id="326" r:id="rId72"/>
    <p:sldId id="325" r:id="rId73"/>
    <p:sldId id="327" r:id="rId74"/>
    <p:sldId id="335" r:id="rId75"/>
    <p:sldId id="336" r:id="rId76"/>
    <p:sldId id="366" r:id="rId77"/>
    <p:sldId id="340" r:id="rId78"/>
    <p:sldId id="341" r:id="rId79"/>
    <p:sldId id="342" r:id="rId80"/>
    <p:sldId id="343" r:id="rId81"/>
    <p:sldId id="367" r:id="rId82"/>
    <p:sldId id="346" r:id="rId83"/>
    <p:sldId id="349" r:id="rId84"/>
    <p:sldId id="368" r:id="rId85"/>
    <p:sldId id="350" r:id="rId86"/>
    <p:sldId id="369" r:id="rId87"/>
    <p:sldId id="351" r:id="rId88"/>
    <p:sldId id="352" r:id="rId89"/>
    <p:sldId id="313" r:id="rId90"/>
    <p:sldId id="348"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720" autoAdjust="0"/>
  </p:normalViewPr>
  <p:slideViewPr>
    <p:cSldViewPr>
      <p:cViewPr varScale="1">
        <p:scale>
          <a:sx n="76" d="100"/>
          <a:sy n="76" d="100"/>
        </p:scale>
        <p:origin x="-193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interSettings" Target="printerSettings/printerSettings1.bin"/><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charts/_rels/chart1.xml.rels><?xml version="1.0" encoding="UTF-8" standalone="yes"?>
<Relationships xmlns="http://schemas.openxmlformats.org/package/2006/relationships"><Relationship Id="rId1" Type="http://schemas.openxmlformats.org/officeDocument/2006/relationships/oleObject" Target="Bereitschaftspotential:Users:hoge4680:Desktop:PhD_Second%20Year:Experiment%201%20manuscript:Mimicker%20vs%20Non-mimicker_pooled%20analysi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ereitschaftspotential:Users:hoge4680:Desktop:Comp_Pres_Data_Values.xls"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Macintosh%20HD:Users:sukhvinderobhi:Dropbox:Jeremy's%20School%20Files:psych%20792%20readings:surprise,entropy,meps:Sunday:Comp_Pres_Data_Value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1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Bereitschaftspotential:Users:hoge4680:Dropbox:Jeremy's%20School%20Files:psych%20792%20readings:surprise,entropy,meps:Sunday:Comp_Pres_Data_Values.xlsx" TargetMode="External"/></Relationships>
</file>

<file path=ppt/charts/_rels/chart12.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Bereitschaftspotential:Users:hoge4680:Dropbox:Jeremy's%20School%20Files:psych%20792%20readings:surprise,entropy,meps:Sunday:Comp_Pres_Data_Valu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v>Human</c:v>
          </c:tx>
          <c:invertIfNegative val="0"/>
          <c:errBars>
            <c:errBarType val="both"/>
            <c:errValType val="cust"/>
            <c:noEndCap val="0"/>
            <c:plus>
              <c:numRef>
                <c:f>Sheet1!$J$8</c:f>
                <c:numCache>
                  <c:formatCode>General</c:formatCode>
                  <c:ptCount val="1"/>
                  <c:pt idx="0">
                    <c:v>0.0968575353715897</c:v>
                  </c:pt>
                </c:numCache>
              </c:numRef>
            </c:plus>
            <c:minus>
              <c:numRef>
                <c:f>Sheet1!$J$8</c:f>
                <c:numCache>
                  <c:formatCode>General</c:formatCode>
                  <c:ptCount val="1"/>
                  <c:pt idx="0">
                    <c:v>0.0968575353715897</c:v>
                  </c:pt>
                </c:numCache>
              </c:numRef>
            </c:minus>
          </c:errBars>
          <c:val>
            <c:numRef>
              <c:f>Sheet1!$H$8</c:f>
              <c:numCache>
                <c:formatCode>General</c:formatCode>
                <c:ptCount val="1"/>
                <c:pt idx="0">
                  <c:v>1.740926353263033</c:v>
                </c:pt>
              </c:numCache>
            </c:numRef>
          </c:val>
        </c:ser>
        <c:ser>
          <c:idx val="1"/>
          <c:order val="1"/>
          <c:tx>
            <c:v>Robot</c:v>
          </c:tx>
          <c:invertIfNegative val="0"/>
          <c:errBars>
            <c:errBarType val="both"/>
            <c:errValType val="cust"/>
            <c:noEndCap val="0"/>
            <c:plus>
              <c:numRef>
                <c:f>Sheet1!$J$9</c:f>
                <c:numCache>
                  <c:formatCode>General</c:formatCode>
                  <c:ptCount val="1"/>
                  <c:pt idx="0">
                    <c:v>0.0460109476241578</c:v>
                  </c:pt>
                </c:numCache>
              </c:numRef>
            </c:plus>
            <c:minus>
              <c:numRef>
                <c:f>Sheet1!$J$9</c:f>
                <c:numCache>
                  <c:formatCode>General</c:formatCode>
                  <c:ptCount val="1"/>
                  <c:pt idx="0">
                    <c:v>0.0460109476241578</c:v>
                  </c:pt>
                </c:numCache>
              </c:numRef>
            </c:minus>
          </c:errBars>
          <c:val>
            <c:numRef>
              <c:f>Sheet1!$H$9</c:f>
              <c:numCache>
                <c:formatCode>General</c:formatCode>
                <c:ptCount val="1"/>
                <c:pt idx="0">
                  <c:v>1.152040400486982</c:v>
                </c:pt>
              </c:numCache>
            </c:numRef>
          </c:val>
        </c:ser>
        <c:dLbls>
          <c:showLegendKey val="0"/>
          <c:showVal val="0"/>
          <c:showCatName val="0"/>
          <c:showSerName val="0"/>
          <c:showPercent val="0"/>
          <c:showBubbleSize val="0"/>
        </c:dLbls>
        <c:gapWidth val="75"/>
        <c:overlap val="-25"/>
        <c:axId val="497152424"/>
        <c:axId val="497159080"/>
      </c:barChart>
      <c:catAx>
        <c:axId val="497152424"/>
        <c:scaling>
          <c:orientation val="minMax"/>
        </c:scaling>
        <c:delete val="0"/>
        <c:axPos val="b"/>
        <c:title>
          <c:tx>
            <c:rich>
              <a:bodyPr/>
              <a:lstStyle/>
              <a:p>
                <a:pPr>
                  <a:defRPr/>
                </a:pPr>
                <a:r>
                  <a:rPr lang="en-US"/>
                  <a:t>Observed Action</a:t>
                </a:r>
              </a:p>
            </c:rich>
          </c:tx>
          <c:layout>
            <c:manualLayout>
              <c:xMode val="edge"/>
              <c:yMode val="edge"/>
              <c:x val="0.530723901447803"/>
              <c:y val="0.945623290021609"/>
            </c:manualLayout>
          </c:layout>
          <c:overlay val="0"/>
        </c:title>
        <c:majorTickMark val="none"/>
        <c:minorTickMark val="none"/>
        <c:tickLblPos val="none"/>
        <c:spPr>
          <a:ln>
            <a:solidFill>
              <a:schemeClr val="tx1"/>
            </a:solidFill>
          </a:ln>
        </c:spPr>
        <c:crossAx val="497159080"/>
        <c:crosses val="autoZero"/>
        <c:auto val="1"/>
        <c:lblAlgn val="ctr"/>
        <c:lblOffset val="100"/>
        <c:noMultiLvlLbl val="0"/>
      </c:catAx>
      <c:valAx>
        <c:axId val="497159080"/>
        <c:scaling>
          <c:orientation val="minMax"/>
        </c:scaling>
        <c:delete val="0"/>
        <c:axPos val="l"/>
        <c:title>
          <c:tx>
            <c:rich>
              <a:bodyPr rot="0" vert="horz"/>
              <a:lstStyle/>
              <a:p>
                <a:pPr>
                  <a:defRPr/>
                </a:pPr>
                <a:r>
                  <a:rPr lang="en-US"/>
                  <a:t>MEP Facilitation</a:t>
                </a:r>
              </a:p>
            </c:rich>
          </c:tx>
          <c:layout/>
          <c:overlay val="0"/>
        </c:title>
        <c:numFmt formatCode="General" sourceLinked="1"/>
        <c:majorTickMark val="out"/>
        <c:minorTickMark val="none"/>
        <c:tickLblPos val="nextTo"/>
        <c:spPr>
          <a:ln w="9525">
            <a:solidFill>
              <a:schemeClr val="tx1"/>
            </a:solidFill>
          </a:ln>
        </c:spPr>
        <c:crossAx val="497152424"/>
        <c:crosses val="autoZero"/>
        <c:crossBetween val="between"/>
      </c:valAx>
      <c:spPr>
        <a:solidFill>
          <a:schemeClr val="tx1">
            <a:lumMod val="75000"/>
            <a:lumOff val="25000"/>
          </a:schemeClr>
        </a:solidFill>
      </c:spPr>
    </c:plotArea>
    <c:legend>
      <c:legendPos val="b"/>
      <c:layout>
        <c:manualLayout>
          <c:xMode val="edge"/>
          <c:yMode val="edge"/>
          <c:x val="0.220612427079252"/>
          <c:y val="0.805238397919357"/>
          <c:w val="0.774707209985848"/>
          <c:h val="0.0820052325697873"/>
        </c:manualLayout>
      </c:layout>
      <c:overlay val="0"/>
    </c:legend>
    <c:plotVisOnly val="1"/>
    <c:dispBlanksAs val="gap"/>
    <c:showDLblsOverMax val="0"/>
  </c:chart>
  <c:txPr>
    <a:bodyPr/>
    <a:lstStyle/>
    <a:p>
      <a:pPr>
        <a:defRPr sz="2200">
          <a:solidFill>
            <a:srgbClr val="FFFFFF"/>
          </a:solidFill>
          <a:latin typeface="Helvetica"/>
          <a:cs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spPr>
            <a:ln w="50800">
              <a:solidFill>
                <a:schemeClr val="tx1"/>
              </a:solidFill>
            </a:ln>
          </c:spPr>
          <c:marker>
            <c:symbol val="none"/>
          </c:marker>
          <c:val>
            <c:numRef>
              <c:f>Sheet1!$A$1:$AD$1</c:f>
              <c:numCache>
                <c:formatCode>0.00</c:formatCode>
                <c:ptCount val="30"/>
                <c:pt idx="0">
                  <c:v>2.44573974609375</c:v>
                </c:pt>
                <c:pt idx="1">
                  <c:v>0.6065673828125</c:v>
                </c:pt>
                <c:pt idx="2">
                  <c:v>1.82733154296875</c:v>
                </c:pt>
                <c:pt idx="3">
                  <c:v>2.8072509765625</c:v>
                </c:pt>
                <c:pt idx="4">
                  <c:v>1.12811279296875</c:v>
                </c:pt>
                <c:pt idx="5">
                  <c:v>1.15863037109375</c:v>
                </c:pt>
                <c:pt idx="6">
                  <c:v>1.66888427734375</c:v>
                </c:pt>
                <c:pt idx="7">
                  <c:v>1.47216796875</c:v>
                </c:pt>
                <c:pt idx="8">
                  <c:v>2.42864990234375</c:v>
                </c:pt>
                <c:pt idx="9">
                  <c:v>1.88031005859375</c:v>
                </c:pt>
                <c:pt idx="10">
                  <c:v>2.34210205078125</c:v>
                </c:pt>
                <c:pt idx="11">
                  <c:v>1.774169921875</c:v>
                </c:pt>
                <c:pt idx="12">
                  <c:v>3.14788818359375</c:v>
                </c:pt>
                <c:pt idx="13">
                  <c:v>2.20556640625</c:v>
                </c:pt>
                <c:pt idx="14">
                  <c:v>2.66912841796875</c:v>
                </c:pt>
                <c:pt idx="15">
                  <c:v>1.841796875</c:v>
                </c:pt>
                <c:pt idx="16">
                  <c:v>2.18072509765625</c:v>
                </c:pt>
                <c:pt idx="17">
                  <c:v>1.083740234375</c:v>
                </c:pt>
                <c:pt idx="18">
                  <c:v>2.474548339843742</c:v>
                </c:pt>
                <c:pt idx="19">
                  <c:v>2.49542236328125</c:v>
                </c:pt>
                <c:pt idx="20">
                  <c:v>1.93658447265625</c:v>
                </c:pt>
                <c:pt idx="21">
                  <c:v>1.60772705078125</c:v>
                </c:pt>
                <c:pt idx="22">
                  <c:v>1.650146484375</c:v>
                </c:pt>
                <c:pt idx="23">
                  <c:v>0.05419921875</c:v>
                </c:pt>
                <c:pt idx="24">
                  <c:v>1.81243896484375</c:v>
                </c:pt>
                <c:pt idx="25">
                  <c:v>0.688720703125</c:v>
                </c:pt>
                <c:pt idx="26">
                  <c:v>2.9515380859375</c:v>
                </c:pt>
                <c:pt idx="27">
                  <c:v>1.0667724609375</c:v>
                </c:pt>
                <c:pt idx="28">
                  <c:v>3.20947265625</c:v>
                </c:pt>
                <c:pt idx="29">
                  <c:v>2.0362548828125</c:v>
                </c:pt>
              </c:numCache>
            </c:numRef>
          </c:val>
          <c:smooth val="1"/>
        </c:ser>
        <c:dLbls>
          <c:showLegendKey val="0"/>
          <c:showVal val="0"/>
          <c:showCatName val="0"/>
          <c:showSerName val="0"/>
          <c:showPercent val="0"/>
          <c:showBubbleSize val="0"/>
        </c:dLbls>
        <c:marker val="1"/>
        <c:smooth val="0"/>
        <c:axId val="477412936"/>
        <c:axId val="477418232"/>
      </c:lineChart>
      <c:catAx>
        <c:axId val="477412936"/>
        <c:scaling>
          <c:orientation val="minMax"/>
        </c:scaling>
        <c:delete val="0"/>
        <c:axPos val="b"/>
        <c:title>
          <c:tx>
            <c:rich>
              <a:bodyPr/>
              <a:lstStyle/>
              <a:p>
                <a:pPr>
                  <a:defRPr/>
                </a:pPr>
                <a:r>
                  <a:rPr lang="en-US"/>
                  <a:t>MEP #</a:t>
                </a:r>
              </a:p>
            </c:rich>
          </c:tx>
          <c:layout>
            <c:manualLayout>
              <c:xMode val="edge"/>
              <c:yMode val="edge"/>
              <c:x val="0.586249689409063"/>
              <c:y val="0.957117750439367"/>
            </c:manualLayout>
          </c:layout>
          <c:overlay val="0"/>
        </c:title>
        <c:majorTickMark val="out"/>
        <c:minorTickMark val="none"/>
        <c:tickLblPos val="nextTo"/>
        <c:crossAx val="477418232"/>
        <c:crosses val="autoZero"/>
        <c:auto val="1"/>
        <c:lblAlgn val="ctr"/>
        <c:lblOffset val="100"/>
        <c:noMultiLvlLbl val="0"/>
      </c:catAx>
      <c:valAx>
        <c:axId val="477418232"/>
        <c:scaling>
          <c:orientation val="minMax"/>
        </c:scaling>
        <c:delete val="0"/>
        <c:axPos val="l"/>
        <c:title>
          <c:tx>
            <c:rich>
              <a:bodyPr rot="0" vert="horz"/>
              <a:lstStyle/>
              <a:p>
                <a:pPr>
                  <a:defRPr sz="2200"/>
                </a:pPr>
                <a:r>
                  <a:rPr lang="en-US" sz="2200"/>
                  <a:t>MEP</a:t>
                </a:r>
                <a:r>
                  <a:rPr lang="en-US" sz="2200" baseline="0"/>
                  <a:t> Amplitude (mV)</a:t>
                </a:r>
                <a:endParaRPr lang="en-US" sz="2200"/>
              </a:p>
            </c:rich>
          </c:tx>
          <c:layout/>
          <c:overlay val="0"/>
        </c:title>
        <c:numFmt formatCode="0.00" sourceLinked="1"/>
        <c:majorTickMark val="out"/>
        <c:minorTickMark val="none"/>
        <c:tickLblPos val="nextTo"/>
        <c:crossAx val="477412936"/>
        <c:crosses val="autoZero"/>
        <c:crossBetween val="between"/>
      </c:valAx>
      <c:spPr>
        <a:solidFill>
          <a:schemeClr val="tx1">
            <a:lumMod val="65000"/>
            <a:lumOff val="35000"/>
          </a:schemeClr>
        </a:solidFill>
      </c:spPr>
    </c:plotArea>
    <c:plotVisOnly val="1"/>
    <c:dispBlanksAs val="gap"/>
    <c:showDLblsOverMax val="0"/>
  </c:chart>
  <c:spPr>
    <a:solidFill>
      <a:schemeClr val="tx1"/>
    </a:solidFill>
  </c:spPr>
  <c:txPr>
    <a:bodyPr/>
    <a:lstStyle/>
    <a:p>
      <a:pPr>
        <a:defRPr sz="1200">
          <a:solidFill>
            <a:schemeClr val="bg1"/>
          </a:solidFill>
          <a:latin typeface="Helvetica"/>
          <a:cs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spPr>
            <a:ln w="50800">
              <a:solidFill>
                <a:schemeClr val="tx1"/>
              </a:solidFill>
            </a:ln>
          </c:spPr>
          <c:marker>
            <c:symbol val="none"/>
          </c:marker>
          <c:val>
            <c:numRef>
              <c:f>'Variability Across Block'!$A$1:$BW$1</c:f>
              <c:numCache>
                <c:formatCode>0.00</c:formatCode>
                <c:ptCount val="75"/>
                <c:pt idx="0">
                  <c:v>0.0</c:v>
                </c:pt>
                <c:pt idx="1">
                  <c:v>0.0</c:v>
                </c:pt>
                <c:pt idx="2">
                  <c:v>2.4457397469375</c:v>
                </c:pt>
                <c:pt idx="3">
                  <c:v>0.0</c:v>
                </c:pt>
                <c:pt idx="4">
                  <c:v>0.665673828125</c:v>
                </c:pt>
                <c:pt idx="5">
                  <c:v>0.0</c:v>
                </c:pt>
                <c:pt idx="6">
                  <c:v>0.0</c:v>
                </c:pt>
                <c:pt idx="7">
                  <c:v>0.0</c:v>
                </c:pt>
                <c:pt idx="8">
                  <c:v>0.0</c:v>
                </c:pt>
                <c:pt idx="9">
                  <c:v>0.0</c:v>
                </c:pt>
                <c:pt idx="10">
                  <c:v>0.0</c:v>
                </c:pt>
                <c:pt idx="11">
                  <c:v>1.82733154296875</c:v>
                </c:pt>
                <c:pt idx="12">
                  <c:v>0.0</c:v>
                </c:pt>
                <c:pt idx="13">
                  <c:v>0.0</c:v>
                </c:pt>
                <c:pt idx="14">
                  <c:v>2.87259765625</c:v>
                </c:pt>
                <c:pt idx="15">
                  <c:v>0.0</c:v>
                </c:pt>
                <c:pt idx="16">
                  <c:v>1.12811279296875</c:v>
                </c:pt>
                <c:pt idx="17">
                  <c:v>0.0</c:v>
                </c:pt>
                <c:pt idx="18">
                  <c:v>0.0</c:v>
                </c:pt>
                <c:pt idx="19">
                  <c:v>1.158633719375</c:v>
                </c:pt>
                <c:pt idx="20">
                  <c:v>1.66888427734375</c:v>
                </c:pt>
                <c:pt idx="21">
                  <c:v>1.47216796875</c:v>
                </c:pt>
                <c:pt idx="22">
                  <c:v>0.0</c:v>
                </c:pt>
                <c:pt idx="23">
                  <c:v>0.0</c:v>
                </c:pt>
                <c:pt idx="24">
                  <c:v>2.428649923437498</c:v>
                </c:pt>
                <c:pt idx="25">
                  <c:v>1.88315859375</c:v>
                </c:pt>
                <c:pt idx="26">
                  <c:v>0.0</c:v>
                </c:pt>
                <c:pt idx="27">
                  <c:v>2.34212578125</c:v>
                </c:pt>
                <c:pt idx="28">
                  <c:v>0.0</c:v>
                </c:pt>
                <c:pt idx="29">
                  <c:v>0.0</c:v>
                </c:pt>
                <c:pt idx="30">
                  <c:v>0.0</c:v>
                </c:pt>
                <c:pt idx="31">
                  <c:v>1.774169921875</c:v>
                </c:pt>
                <c:pt idx="32">
                  <c:v>0.0</c:v>
                </c:pt>
                <c:pt idx="33">
                  <c:v>0.0</c:v>
                </c:pt>
                <c:pt idx="34">
                  <c:v>3.14788818359375</c:v>
                </c:pt>
                <c:pt idx="35">
                  <c:v>2.255664625</c:v>
                </c:pt>
                <c:pt idx="36">
                  <c:v>0.0</c:v>
                </c:pt>
                <c:pt idx="37">
                  <c:v>0.0</c:v>
                </c:pt>
                <c:pt idx="38">
                  <c:v>2.66912841796875</c:v>
                </c:pt>
                <c:pt idx="39">
                  <c:v>0.0</c:v>
                </c:pt>
                <c:pt idx="40">
                  <c:v>0.0</c:v>
                </c:pt>
                <c:pt idx="41">
                  <c:v>1.841796875</c:v>
                </c:pt>
                <c:pt idx="42">
                  <c:v>0.0</c:v>
                </c:pt>
                <c:pt idx="43">
                  <c:v>2.187259765625</c:v>
                </c:pt>
                <c:pt idx="44">
                  <c:v>1.8374234375</c:v>
                </c:pt>
                <c:pt idx="45">
                  <c:v>0.0</c:v>
                </c:pt>
                <c:pt idx="46">
                  <c:v>0.0</c:v>
                </c:pt>
                <c:pt idx="47">
                  <c:v>2.474548339843742</c:v>
                </c:pt>
                <c:pt idx="48">
                  <c:v>0.0</c:v>
                </c:pt>
                <c:pt idx="49">
                  <c:v>0.0</c:v>
                </c:pt>
                <c:pt idx="50">
                  <c:v>2.49542236328125</c:v>
                </c:pt>
                <c:pt idx="51">
                  <c:v>0.0</c:v>
                </c:pt>
                <c:pt idx="52">
                  <c:v>0.0</c:v>
                </c:pt>
                <c:pt idx="53">
                  <c:v>0.0</c:v>
                </c:pt>
                <c:pt idx="54">
                  <c:v>0.0</c:v>
                </c:pt>
                <c:pt idx="55">
                  <c:v>1.93658447265625</c:v>
                </c:pt>
                <c:pt idx="56">
                  <c:v>1.67727578125</c:v>
                </c:pt>
                <c:pt idx="57">
                  <c:v>0.0</c:v>
                </c:pt>
                <c:pt idx="58">
                  <c:v>0.0</c:v>
                </c:pt>
                <c:pt idx="59">
                  <c:v>0.0</c:v>
                </c:pt>
                <c:pt idx="60">
                  <c:v>0.0</c:v>
                </c:pt>
                <c:pt idx="61">
                  <c:v>1.65146484375</c:v>
                </c:pt>
                <c:pt idx="62">
                  <c:v>0.5419921875</c:v>
                </c:pt>
                <c:pt idx="63">
                  <c:v>1.81243896484375</c:v>
                </c:pt>
                <c:pt idx="64">
                  <c:v>0.0</c:v>
                </c:pt>
                <c:pt idx="65">
                  <c:v>0.6887273125</c:v>
                </c:pt>
                <c:pt idx="66">
                  <c:v>0.0</c:v>
                </c:pt>
                <c:pt idx="67">
                  <c:v>0.0</c:v>
                </c:pt>
                <c:pt idx="68">
                  <c:v>0.0</c:v>
                </c:pt>
                <c:pt idx="69">
                  <c:v>0.0</c:v>
                </c:pt>
                <c:pt idx="70">
                  <c:v>2.951538859375</c:v>
                </c:pt>
                <c:pt idx="71">
                  <c:v>0.0</c:v>
                </c:pt>
                <c:pt idx="72">
                  <c:v>1.66772469375</c:v>
                </c:pt>
                <c:pt idx="73">
                  <c:v>3.2947265625</c:v>
                </c:pt>
                <c:pt idx="74">
                  <c:v>2.362548828124999</c:v>
                </c:pt>
              </c:numCache>
            </c:numRef>
          </c:val>
          <c:smooth val="1"/>
        </c:ser>
        <c:dLbls>
          <c:showLegendKey val="0"/>
          <c:showVal val="0"/>
          <c:showCatName val="0"/>
          <c:showSerName val="0"/>
          <c:showPercent val="0"/>
          <c:showBubbleSize val="0"/>
        </c:dLbls>
        <c:marker val="1"/>
        <c:smooth val="0"/>
        <c:axId val="531415576"/>
        <c:axId val="531420856"/>
      </c:lineChart>
      <c:catAx>
        <c:axId val="531415576"/>
        <c:scaling>
          <c:orientation val="minMax"/>
        </c:scaling>
        <c:delete val="0"/>
        <c:axPos val="b"/>
        <c:title>
          <c:tx>
            <c:rich>
              <a:bodyPr/>
              <a:lstStyle/>
              <a:p>
                <a:pPr>
                  <a:defRPr/>
                </a:pPr>
                <a:r>
                  <a:rPr lang="en-US"/>
                  <a:t>Trial #</a:t>
                </a:r>
              </a:p>
            </c:rich>
          </c:tx>
          <c:layout>
            <c:manualLayout>
              <c:xMode val="edge"/>
              <c:yMode val="edge"/>
              <c:x val="0.586249689409063"/>
              <c:y val="0.957117750439367"/>
            </c:manualLayout>
          </c:layout>
          <c:overlay val="0"/>
        </c:title>
        <c:majorTickMark val="out"/>
        <c:minorTickMark val="none"/>
        <c:tickLblPos val="nextTo"/>
        <c:crossAx val="531420856"/>
        <c:crosses val="autoZero"/>
        <c:auto val="1"/>
        <c:lblAlgn val="ctr"/>
        <c:lblOffset val="100"/>
        <c:noMultiLvlLbl val="0"/>
      </c:catAx>
      <c:valAx>
        <c:axId val="531420856"/>
        <c:scaling>
          <c:orientation val="minMax"/>
        </c:scaling>
        <c:delete val="0"/>
        <c:axPos val="l"/>
        <c:title>
          <c:tx>
            <c:rich>
              <a:bodyPr rot="0" vert="horz"/>
              <a:lstStyle/>
              <a:p>
                <a:pPr>
                  <a:defRPr sz="2200"/>
                </a:pPr>
                <a:r>
                  <a:rPr lang="en-US" sz="2200"/>
                  <a:t>MEP</a:t>
                </a:r>
                <a:r>
                  <a:rPr lang="en-US" sz="2200" baseline="0"/>
                  <a:t> Amplitude (mV)</a:t>
                </a:r>
                <a:endParaRPr lang="en-US" sz="2200"/>
              </a:p>
            </c:rich>
          </c:tx>
          <c:layout/>
          <c:overlay val="0"/>
        </c:title>
        <c:numFmt formatCode="0.00" sourceLinked="1"/>
        <c:majorTickMark val="out"/>
        <c:minorTickMark val="none"/>
        <c:tickLblPos val="nextTo"/>
        <c:crossAx val="531415576"/>
        <c:crosses val="autoZero"/>
        <c:crossBetween val="between"/>
      </c:valAx>
      <c:spPr>
        <a:solidFill>
          <a:schemeClr val="tx1">
            <a:lumMod val="65000"/>
            <a:lumOff val="35000"/>
          </a:schemeClr>
        </a:solidFill>
      </c:spPr>
    </c:plotArea>
    <c:plotVisOnly val="1"/>
    <c:dispBlanksAs val="gap"/>
    <c:showDLblsOverMax val="0"/>
  </c:chart>
  <c:spPr>
    <a:solidFill>
      <a:schemeClr val="tx1"/>
    </a:solidFill>
  </c:spPr>
  <c:txPr>
    <a:bodyPr/>
    <a:lstStyle/>
    <a:p>
      <a:pPr>
        <a:defRPr sz="1200">
          <a:solidFill>
            <a:schemeClr val="bg1"/>
          </a:solidFill>
          <a:latin typeface="Helvetica"/>
          <a:cs typeface="Helvetica"/>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200"/>
            </a:pPr>
            <a:r>
              <a:rPr lang="en-US" sz="2200" dirty="0" smtClean="0"/>
              <a:t>Surprise</a:t>
            </a:r>
            <a:endParaRPr lang="en-US" sz="2200" dirty="0"/>
          </a:p>
        </c:rich>
      </c:tx>
      <c:layout/>
      <c:overlay val="0"/>
    </c:title>
    <c:autoTitleDeleted val="0"/>
    <c:plotArea>
      <c:layout/>
      <c:scatterChart>
        <c:scatterStyle val="lineMarker"/>
        <c:varyColors val="0"/>
        <c:ser>
          <c:idx val="0"/>
          <c:order val="0"/>
          <c:tx>
            <c:strRef>
              <c:f>Sheet1!$A$2</c:f>
              <c:strCache>
                <c:ptCount val="1"/>
                <c:pt idx="0">
                  <c:v>I(xi)</c:v>
                </c:pt>
              </c:strCache>
            </c:strRef>
          </c:tx>
          <c:spPr>
            <a:ln w="25400">
              <a:solidFill>
                <a:schemeClr val="tx1"/>
              </a:solidFill>
            </a:ln>
          </c:spPr>
          <c:marker>
            <c:symbol val="circle"/>
            <c:size val="5"/>
            <c:spPr>
              <a:solidFill>
                <a:schemeClr val="tx1"/>
              </a:solidFill>
              <a:ln>
                <a:noFill/>
              </a:ln>
            </c:spPr>
          </c:marker>
          <c:xVal>
            <c:numRef>
              <c:f>Sheet1!$B$1:$BX$1</c:f>
              <c:numCache>
                <c:formatCode>General</c:formatCode>
                <c:ptCount val="75"/>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numCache>
            </c:numRef>
          </c:xVal>
          <c:yVal>
            <c:numRef>
              <c:f>Sheet1!$B$2:$BX$2</c:f>
              <c:numCache>
                <c:formatCode>General</c:formatCode>
                <c:ptCount val="75"/>
                <c:pt idx="0">
                  <c:v>1.0</c:v>
                </c:pt>
                <c:pt idx="1">
                  <c:v>1.584962500721156</c:v>
                </c:pt>
                <c:pt idx="2">
                  <c:v>2.0</c:v>
                </c:pt>
                <c:pt idx="3">
                  <c:v>1.321928094887362</c:v>
                </c:pt>
                <c:pt idx="4">
                  <c:v>1.584962500721156</c:v>
                </c:pt>
                <c:pt idx="5">
                  <c:v>1.807354922057604</c:v>
                </c:pt>
                <c:pt idx="6">
                  <c:v>1.415037499278844</c:v>
                </c:pt>
                <c:pt idx="7">
                  <c:v>1.584962500721156</c:v>
                </c:pt>
                <c:pt idx="8">
                  <c:v>1.736965594166206</c:v>
                </c:pt>
                <c:pt idx="9">
                  <c:v>1.459431618637297</c:v>
                </c:pt>
                <c:pt idx="10">
                  <c:v>1.584962500721156</c:v>
                </c:pt>
                <c:pt idx="11">
                  <c:v>1.37851162325373</c:v>
                </c:pt>
                <c:pt idx="12">
                  <c:v>1.485426827170242</c:v>
                </c:pt>
                <c:pt idx="13">
                  <c:v>1.584962500721156</c:v>
                </c:pt>
                <c:pt idx="14">
                  <c:v>1.678071905112638</c:v>
                </c:pt>
                <c:pt idx="15">
                  <c:v>1.765534746362977</c:v>
                </c:pt>
                <c:pt idx="16">
                  <c:v>1.584962500721156</c:v>
                </c:pt>
                <c:pt idx="17">
                  <c:v>1.662965012722429</c:v>
                </c:pt>
                <c:pt idx="18">
                  <c:v>1.736965594166206</c:v>
                </c:pt>
                <c:pt idx="19">
                  <c:v>1.584962500721156</c:v>
                </c:pt>
                <c:pt idx="20">
                  <c:v>1.652076696579693</c:v>
                </c:pt>
                <c:pt idx="21">
                  <c:v>1.71620703399941</c:v>
                </c:pt>
                <c:pt idx="22">
                  <c:v>1.777607578663552</c:v>
                </c:pt>
                <c:pt idx="23">
                  <c:v>1.643856189774725</c:v>
                </c:pt>
                <c:pt idx="24">
                  <c:v>1.700439718141092</c:v>
                </c:pt>
                <c:pt idx="25">
                  <c:v>1.584962500721156</c:v>
                </c:pt>
                <c:pt idx="26">
                  <c:v>1.637429920615291</c:v>
                </c:pt>
                <c:pt idx="27">
                  <c:v>1.68805599368526</c:v>
                </c:pt>
                <c:pt idx="28">
                  <c:v>1.736965594166206</c:v>
                </c:pt>
                <c:pt idx="29">
                  <c:v>1.784271308944563</c:v>
                </c:pt>
                <c:pt idx="30">
                  <c:v>1.678071905112638</c:v>
                </c:pt>
                <c:pt idx="31">
                  <c:v>1.722466024471091</c:v>
                </c:pt>
                <c:pt idx="32">
                  <c:v>1.765534746362977</c:v>
                </c:pt>
                <c:pt idx="33">
                  <c:v>1.807354922057604</c:v>
                </c:pt>
                <c:pt idx="34">
                  <c:v>1.84799690655495</c:v>
                </c:pt>
                <c:pt idx="35">
                  <c:v>1.750021746991653</c:v>
                </c:pt>
                <c:pt idx="36">
                  <c:v>1.788495894806288</c:v>
                </c:pt>
                <c:pt idx="37">
                  <c:v>1.825970600224951</c:v>
                </c:pt>
                <c:pt idx="38">
                  <c:v>1.736965594166206</c:v>
                </c:pt>
                <c:pt idx="39">
                  <c:v>1.772589503896928</c:v>
                </c:pt>
                <c:pt idx="40">
                  <c:v>1.807354922057604</c:v>
                </c:pt>
                <c:pt idx="41">
                  <c:v>1.841302253980942</c:v>
                </c:pt>
                <c:pt idx="42">
                  <c:v>1.874469117916141</c:v>
                </c:pt>
                <c:pt idx="43">
                  <c:v>1.906890595608519</c:v>
                </c:pt>
                <c:pt idx="44">
                  <c:v>1.938599455335857</c:v>
                </c:pt>
                <c:pt idx="45">
                  <c:v>1.854149133536545</c:v>
                </c:pt>
                <c:pt idx="46">
                  <c:v>1.884522782580064</c:v>
                </c:pt>
                <c:pt idx="47">
                  <c:v>1.914270125974116</c:v>
                </c:pt>
                <c:pt idx="48">
                  <c:v>1.943416471633632</c:v>
                </c:pt>
                <c:pt idx="49">
                  <c:v>1.971985623830404</c:v>
                </c:pt>
                <c:pt idx="50">
                  <c:v>2.0</c:v>
                </c:pt>
                <c:pt idx="51">
                  <c:v>1.920565532505595</c:v>
                </c:pt>
                <c:pt idx="52">
                  <c:v>1.947532580105865</c:v>
                </c:pt>
                <c:pt idx="53">
                  <c:v>1.874469117916141</c:v>
                </c:pt>
                <c:pt idx="54">
                  <c:v>1.900464326449086</c:v>
                </c:pt>
                <c:pt idx="55">
                  <c:v>1.832890014164742</c:v>
                </c:pt>
                <c:pt idx="56">
                  <c:v>1.857980995127572</c:v>
                </c:pt>
                <c:pt idx="57">
                  <c:v>1.882643049361841</c:v>
                </c:pt>
                <c:pt idx="58">
                  <c:v>1.819427754358179</c:v>
                </c:pt>
                <c:pt idx="59">
                  <c:v>1.843274496312547</c:v>
                </c:pt>
                <c:pt idx="60">
                  <c:v>1.784271308944563</c:v>
                </c:pt>
                <c:pt idx="61">
                  <c:v>1.807354922057604</c:v>
                </c:pt>
                <c:pt idx="62">
                  <c:v>1.752072486556414</c:v>
                </c:pt>
                <c:pt idx="63">
                  <c:v>1.77444029958487</c:v>
                </c:pt>
                <c:pt idx="64">
                  <c:v>1.722466024471091</c:v>
                </c:pt>
                <c:pt idx="65">
                  <c:v>1.74416109557041</c:v>
                </c:pt>
                <c:pt idx="66">
                  <c:v>1.69514541847158</c:v>
                </c:pt>
                <c:pt idx="67">
                  <c:v>1.71620703399941</c:v>
                </c:pt>
                <c:pt idx="68">
                  <c:v>1.669851398307669</c:v>
                </c:pt>
                <c:pt idx="69">
                  <c:v>1.690315500867385</c:v>
                </c:pt>
                <c:pt idx="70">
                  <c:v>1.710493382805015</c:v>
                </c:pt>
                <c:pt idx="71">
                  <c:v>1.666262602823004</c:v>
                </c:pt>
                <c:pt idx="72">
                  <c:v>1.685891409571937</c:v>
                </c:pt>
                <c:pt idx="73">
                  <c:v>1.705256734438868</c:v>
                </c:pt>
                <c:pt idx="74">
                  <c:v>1.724365557386573</c:v>
                </c:pt>
              </c:numCache>
            </c:numRef>
          </c:yVal>
          <c:smooth val="0"/>
        </c:ser>
        <c:dLbls>
          <c:showLegendKey val="0"/>
          <c:showVal val="0"/>
          <c:showCatName val="0"/>
          <c:showSerName val="0"/>
          <c:showPercent val="0"/>
          <c:showBubbleSize val="0"/>
        </c:dLbls>
        <c:axId val="531062456"/>
        <c:axId val="531070168"/>
      </c:scatterChart>
      <c:valAx>
        <c:axId val="531062456"/>
        <c:scaling>
          <c:orientation val="minMax"/>
          <c:max val="75.0"/>
          <c:min val="1.0"/>
        </c:scaling>
        <c:delete val="0"/>
        <c:axPos val="b"/>
        <c:title>
          <c:tx>
            <c:rich>
              <a:bodyPr/>
              <a:lstStyle/>
              <a:p>
                <a:pPr>
                  <a:defRPr sz="1800"/>
                </a:pPr>
                <a:r>
                  <a:rPr lang="en-US" sz="1800"/>
                  <a:t>Trial Number</a:t>
                </a:r>
              </a:p>
            </c:rich>
          </c:tx>
          <c:layout/>
          <c:overlay val="0"/>
        </c:title>
        <c:numFmt formatCode="General" sourceLinked="1"/>
        <c:majorTickMark val="out"/>
        <c:minorTickMark val="none"/>
        <c:tickLblPos val="nextTo"/>
        <c:crossAx val="531070168"/>
        <c:crosses val="autoZero"/>
        <c:crossBetween val="midCat"/>
      </c:valAx>
      <c:valAx>
        <c:axId val="531070168"/>
        <c:scaling>
          <c:orientation val="minMax"/>
          <c:min val="0.5"/>
        </c:scaling>
        <c:delete val="0"/>
        <c:axPos val="l"/>
        <c:title>
          <c:tx>
            <c:rich>
              <a:bodyPr rot="-5400000" vert="horz"/>
              <a:lstStyle/>
              <a:p>
                <a:pPr>
                  <a:defRPr sz="1800"/>
                </a:pPr>
                <a:r>
                  <a:rPr lang="en-US" sz="1800"/>
                  <a:t>bits</a:t>
                </a:r>
              </a:p>
            </c:rich>
          </c:tx>
          <c:layout/>
          <c:overlay val="0"/>
        </c:title>
        <c:numFmt formatCode="General" sourceLinked="1"/>
        <c:majorTickMark val="out"/>
        <c:minorTickMark val="none"/>
        <c:tickLblPos val="nextTo"/>
        <c:crossAx val="531062456"/>
        <c:crosses val="autoZero"/>
        <c:crossBetween val="midCat"/>
      </c:valAx>
      <c:spPr>
        <a:solidFill>
          <a:schemeClr val="tx1">
            <a:lumMod val="50000"/>
            <a:lumOff val="50000"/>
          </a:schemeClr>
        </a:solidFill>
      </c:spPr>
    </c:plotArea>
    <c:plotVisOnly val="1"/>
    <c:dispBlanksAs val="gap"/>
    <c:showDLblsOverMax val="0"/>
  </c:chart>
  <c:txPr>
    <a:bodyPr/>
    <a:lstStyle/>
    <a:p>
      <a:pPr>
        <a:defRPr>
          <a:solidFill>
            <a:schemeClr val="bg1"/>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200"/>
            </a:pPr>
            <a:r>
              <a:rPr lang="en-US" sz="2200"/>
              <a:t>Entropy</a:t>
            </a:r>
          </a:p>
        </c:rich>
      </c:tx>
      <c:layout/>
      <c:overlay val="0"/>
    </c:title>
    <c:autoTitleDeleted val="0"/>
    <c:plotArea>
      <c:layout/>
      <c:scatterChart>
        <c:scatterStyle val="lineMarker"/>
        <c:varyColors val="0"/>
        <c:ser>
          <c:idx val="0"/>
          <c:order val="0"/>
          <c:tx>
            <c:strRef>
              <c:f>Sheet1!$A$2</c:f>
              <c:strCache>
                <c:ptCount val="1"/>
                <c:pt idx="0">
                  <c:v>I(xi)</c:v>
                </c:pt>
              </c:strCache>
            </c:strRef>
          </c:tx>
          <c:spPr>
            <a:ln w="25400">
              <a:solidFill>
                <a:schemeClr val="tx1"/>
              </a:solidFill>
            </a:ln>
          </c:spPr>
          <c:marker>
            <c:symbol val="circle"/>
            <c:size val="5"/>
            <c:spPr>
              <a:solidFill>
                <a:schemeClr val="tx1"/>
              </a:solidFill>
              <a:ln>
                <a:noFill/>
              </a:ln>
            </c:spPr>
          </c:marker>
          <c:xVal>
            <c:numRef>
              <c:f>Sheet1!$B$1:$BX$1</c:f>
              <c:numCache>
                <c:formatCode>General</c:formatCode>
                <c:ptCount val="75"/>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numCache>
            </c:numRef>
          </c:xVal>
          <c:yVal>
            <c:numRef>
              <c:f>Sheet1!$B$3:$BX$3</c:f>
              <c:numCache>
                <c:formatCode>General</c:formatCode>
                <c:ptCount val="75"/>
                <c:pt idx="0">
                  <c:v>1.0</c:v>
                </c:pt>
                <c:pt idx="1">
                  <c:v>1.292481250360578</c:v>
                </c:pt>
                <c:pt idx="2">
                  <c:v>1.52832083357372</c:v>
                </c:pt>
                <c:pt idx="3">
                  <c:v>1.476722648902129</c:v>
                </c:pt>
                <c:pt idx="4">
                  <c:v>1.498370619265935</c:v>
                </c:pt>
                <c:pt idx="5">
                  <c:v>1.549868003064546</c:v>
                </c:pt>
                <c:pt idx="6">
                  <c:v>1.530606502523732</c:v>
                </c:pt>
                <c:pt idx="7">
                  <c:v>1.53740100229841</c:v>
                </c:pt>
                <c:pt idx="8">
                  <c:v>1.559574845839276</c:v>
                </c:pt>
                <c:pt idx="9">
                  <c:v>1.549560523119078</c:v>
                </c:pt>
                <c:pt idx="10">
                  <c:v>1.552778884719267</c:v>
                </c:pt>
                <c:pt idx="11">
                  <c:v>1.538256612930472</c:v>
                </c:pt>
                <c:pt idx="12">
                  <c:v>1.534192783256608</c:v>
                </c:pt>
                <c:pt idx="13">
                  <c:v>1.537819191646933</c:v>
                </c:pt>
                <c:pt idx="14">
                  <c:v>1.547169372544647</c:v>
                </c:pt>
                <c:pt idx="15">
                  <c:v>1.560817208408293</c:v>
                </c:pt>
                <c:pt idx="16">
                  <c:v>1.562237519720814</c:v>
                </c:pt>
                <c:pt idx="17">
                  <c:v>1.567833491554237</c:v>
                </c:pt>
                <c:pt idx="18">
                  <c:v>1.576735181165394</c:v>
                </c:pt>
                <c:pt idx="19">
                  <c:v>1.577146547143182</c:v>
                </c:pt>
                <c:pt idx="20">
                  <c:v>1.580714649497301</c:v>
                </c:pt>
                <c:pt idx="21">
                  <c:v>1.586873394247397</c:v>
                </c:pt>
                <c:pt idx="22">
                  <c:v>1.595166184874186</c:v>
                </c:pt>
                <c:pt idx="23">
                  <c:v>1.597194935078375</c:v>
                </c:pt>
                <c:pt idx="24">
                  <c:v>1.601324726400884</c:v>
                </c:pt>
                <c:pt idx="25">
                  <c:v>1.600695410028587</c:v>
                </c:pt>
                <c:pt idx="26">
                  <c:v>1.602055947457724</c:v>
                </c:pt>
                <c:pt idx="27">
                  <c:v>1.605127377680136</c:v>
                </c:pt>
                <c:pt idx="28">
                  <c:v>1.609673523076207</c:v>
                </c:pt>
                <c:pt idx="29">
                  <c:v>1.61549344927182</c:v>
                </c:pt>
                <c:pt idx="30">
                  <c:v>1.617512109137652</c:v>
                </c:pt>
                <c:pt idx="31">
                  <c:v>1.620791918991822</c:v>
                </c:pt>
                <c:pt idx="32">
                  <c:v>1.625178065275796</c:v>
                </c:pt>
                <c:pt idx="33">
                  <c:v>1.63053620812232</c:v>
                </c:pt>
                <c:pt idx="34">
                  <c:v>1.636749370934681</c:v>
                </c:pt>
                <c:pt idx="35">
                  <c:v>1.639895825825152</c:v>
                </c:pt>
                <c:pt idx="36">
                  <c:v>1.643912043905723</c:v>
                </c:pt>
                <c:pt idx="37">
                  <c:v>1.648703058545703</c:v>
                </c:pt>
                <c:pt idx="38">
                  <c:v>1.65096620048469</c:v>
                </c:pt>
                <c:pt idx="39">
                  <c:v>1.654006783069996</c:v>
                </c:pt>
                <c:pt idx="40">
                  <c:v>1.65774698158189</c:v>
                </c:pt>
                <c:pt idx="41">
                  <c:v>1.662117345210438</c:v>
                </c:pt>
                <c:pt idx="42">
                  <c:v>1.667055758529175</c:v>
                </c:pt>
                <c:pt idx="43">
                  <c:v>1.672506550280978</c:v>
                </c:pt>
                <c:pt idx="44">
                  <c:v>1.678419725948864</c:v>
                </c:pt>
                <c:pt idx="45">
                  <c:v>1.68223993046164</c:v>
                </c:pt>
                <c:pt idx="46">
                  <c:v>1.686543820932245</c:v>
                </c:pt>
                <c:pt idx="47">
                  <c:v>1.69128811895395</c:v>
                </c:pt>
                <c:pt idx="48">
                  <c:v>1.69643359553925</c:v>
                </c:pt>
                <c:pt idx="49">
                  <c:v>1.701944636105073</c:v>
                </c:pt>
                <c:pt idx="50">
                  <c:v>1.707788858926542</c:v>
                </c:pt>
                <c:pt idx="51">
                  <c:v>1.711880718033832</c:v>
                </c:pt>
                <c:pt idx="52">
                  <c:v>1.716326979582361</c:v>
                </c:pt>
                <c:pt idx="53">
                  <c:v>1.719255537699653</c:v>
                </c:pt>
                <c:pt idx="54">
                  <c:v>1.722550242949642</c:v>
                </c:pt>
                <c:pt idx="55">
                  <c:v>1.724520596007055</c:v>
                </c:pt>
                <c:pt idx="56">
                  <c:v>1.726862006517941</c:v>
                </c:pt>
                <c:pt idx="57">
                  <c:v>1.729547886566974</c:v>
                </c:pt>
                <c:pt idx="58">
                  <c:v>1.731071274156656</c:v>
                </c:pt>
                <c:pt idx="59">
                  <c:v>1.732941327859254</c:v>
                </c:pt>
                <c:pt idx="60">
                  <c:v>1.733782802959013</c:v>
                </c:pt>
                <c:pt idx="61">
                  <c:v>1.734969450041248</c:v>
                </c:pt>
                <c:pt idx="62">
                  <c:v>1.73524092681133</c:v>
                </c:pt>
                <c:pt idx="63">
                  <c:v>1.735853417010917</c:v>
                </c:pt>
                <c:pt idx="64">
                  <c:v>1.735647457125689</c:v>
                </c:pt>
                <c:pt idx="65">
                  <c:v>1.735776451647578</c:v>
                </c:pt>
                <c:pt idx="66">
                  <c:v>1.735170018316593</c:v>
                </c:pt>
                <c:pt idx="67">
                  <c:v>1.734891150900164</c:v>
                </c:pt>
                <c:pt idx="68">
                  <c:v>1.733948545790128</c:v>
                </c:pt>
                <c:pt idx="69">
                  <c:v>1.733325216576946</c:v>
                </c:pt>
                <c:pt idx="70">
                  <c:v>1.733003641453398</c:v>
                </c:pt>
                <c:pt idx="71">
                  <c:v>1.732076682583531</c:v>
                </c:pt>
                <c:pt idx="72">
                  <c:v>1.73144400761077</c:v>
                </c:pt>
                <c:pt idx="73">
                  <c:v>1.73109012554088</c:v>
                </c:pt>
                <c:pt idx="74">
                  <c:v>1.731000464632155</c:v>
                </c:pt>
              </c:numCache>
            </c:numRef>
          </c:yVal>
          <c:smooth val="0"/>
        </c:ser>
        <c:dLbls>
          <c:showLegendKey val="0"/>
          <c:showVal val="0"/>
          <c:showCatName val="0"/>
          <c:showSerName val="0"/>
          <c:showPercent val="0"/>
          <c:showBubbleSize val="0"/>
        </c:dLbls>
        <c:axId val="530898760"/>
        <c:axId val="530906408"/>
      </c:scatterChart>
      <c:valAx>
        <c:axId val="530898760"/>
        <c:scaling>
          <c:orientation val="minMax"/>
          <c:max val="75.0"/>
          <c:min val="1.0"/>
        </c:scaling>
        <c:delete val="0"/>
        <c:axPos val="b"/>
        <c:title>
          <c:tx>
            <c:rich>
              <a:bodyPr/>
              <a:lstStyle/>
              <a:p>
                <a:pPr>
                  <a:defRPr sz="1800"/>
                </a:pPr>
                <a:r>
                  <a:rPr lang="en-US" sz="1800"/>
                  <a:t>Trial Number</a:t>
                </a:r>
              </a:p>
            </c:rich>
          </c:tx>
          <c:layout/>
          <c:overlay val="0"/>
        </c:title>
        <c:numFmt formatCode="General" sourceLinked="1"/>
        <c:majorTickMark val="out"/>
        <c:minorTickMark val="none"/>
        <c:tickLblPos val="nextTo"/>
        <c:crossAx val="530906408"/>
        <c:crossesAt val="0.6"/>
        <c:crossBetween val="midCat"/>
      </c:valAx>
      <c:valAx>
        <c:axId val="530906408"/>
        <c:scaling>
          <c:orientation val="minMax"/>
          <c:max val="2.0"/>
          <c:min val="0.8"/>
        </c:scaling>
        <c:delete val="0"/>
        <c:axPos val="l"/>
        <c:title>
          <c:tx>
            <c:rich>
              <a:bodyPr rot="-5400000" vert="horz"/>
              <a:lstStyle/>
              <a:p>
                <a:pPr>
                  <a:defRPr sz="1800"/>
                </a:pPr>
                <a:r>
                  <a:rPr lang="en-US" sz="1800"/>
                  <a:t>bits</a:t>
                </a:r>
              </a:p>
            </c:rich>
          </c:tx>
          <c:layout/>
          <c:overlay val="0"/>
        </c:title>
        <c:numFmt formatCode="General" sourceLinked="1"/>
        <c:majorTickMark val="out"/>
        <c:minorTickMark val="none"/>
        <c:tickLblPos val="nextTo"/>
        <c:crossAx val="530898760"/>
        <c:crosses val="autoZero"/>
        <c:crossBetween val="midCat"/>
      </c:valAx>
      <c:spPr>
        <a:solidFill>
          <a:schemeClr val="tx1">
            <a:lumMod val="50000"/>
            <a:lumOff val="50000"/>
          </a:schemeClr>
        </a:solidFill>
      </c:spPr>
    </c:plotArea>
    <c:plotVisOnly val="1"/>
    <c:dispBlanksAs val="gap"/>
    <c:showDLblsOverMax val="0"/>
  </c:chart>
  <c:txPr>
    <a:bodyPr/>
    <a:lstStyle/>
    <a:p>
      <a:pPr>
        <a:defRPr>
          <a:solidFill>
            <a:srgbClr val="FFFFFF"/>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mV_bit!$B$3</c:f>
              <c:strCache>
                <c:ptCount val="1"/>
                <c:pt idx="0">
                  <c:v>Surprise</c:v>
                </c:pt>
              </c:strCache>
            </c:strRef>
          </c:tx>
          <c:spPr>
            <a:solidFill>
              <a:srgbClr val="FF0000"/>
            </a:solidFill>
          </c:spPr>
          <c:invertIfNegative val="0"/>
          <c:dLbls>
            <c:dLbl>
              <c:idx val="0"/>
              <c:layout>
                <c:manualLayout>
                  <c:x val="-0.06"/>
                  <c:y val="-0.014903129657228"/>
                </c:manualLayout>
              </c:layout>
              <c:dLblPos val="outEnd"/>
              <c:showLegendKey val="0"/>
              <c:showVal val="1"/>
              <c:showCatName val="0"/>
              <c:showSerName val="0"/>
              <c:showPercent val="0"/>
              <c:showBubbleSize val="0"/>
            </c:dLbl>
            <c:dLblPos val="outEnd"/>
            <c:showLegendKey val="0"/>
            <c:showVal val="1"/>
            <c:showCatName val="0"/>
            <c:showSerName val="0"/>
            <c:showPercent val="0"/>
            <c:showBubbleSize val="0"/>
            <c:showLeaderLines val="0"/>
          </c:dLbls>
          <c:errBars>
            <c:errBarType val="both"/>
            <c:errValType val="cust"/>
            <c:noEndCap val="0"/>
            <c:plus>
              <c:numRef>
                <c:f>mV_bit!$D$3</c:f>
                <c:numCache>
                  <c:formatCode>General</c:formatCode>
                  <c:ptCount val="1"/>
                  <c:pt idx="0">
                    <c:v>0.138</c:v>
                  </c:pt>
                </c:numCache>
              </c:numRef>
            </c:plus>
            <c:minus>
              <c:numRef>
                <c:f>mV_bit!$D$3</c:f>
                <c:numCache>
                  <c:formatCode>General</c:formatCode>
                  <c:ptCount val="1"/>
                  <c:pt idx="0">
                    <c:v>0.138</c:v>
                  </c:pt>
                </c:numCache>
              </c:numRef>
            </c:minus>
          </c:errBars>
          <c:cat>
            <c:strRef>
              <c:f>mV_bit!$B$4</c:f>
              <c:strCache>
                <c:ptCount val="1"/>
                <c:pt idx="0">
                  <c:v>Entropy</c:v>
                </c:pt>
              </c:strCache>
            </c:strRef>
          </c:cat>
          <c:val>
            <c:numRef>
              <c:f>mV_bit!$C$3</c:f>
              <c:numCache>
                <c:formatCode>General</c:formatCode>
                <c:ptCount val="1"/>
                <c:pt idx="0">
                  <c:v>-0.382</c:v>
                </c:pt>
              </c:numCache>
            </c:numRef>
          </c:val>
        </c:ser>
        <c:dLbls>
          <c:showLegendKey val="0"/>
          <c:showVal val="0"/>
          <c:showCatName val="0"/>
          <c:showSerName val="0"/>
          <c:showPercent val="0"/>
          <c:showBubbleSize val="0"/>
        </c:dLbls>
        <c:gapWidth val="75"/>
        <c:overlap val="-25"/>
        <c:axId val="522909816"/>
        <c:axId val="522913192"/>
      </c:barChart>
      <c:catAx>
        <c:axId val="522909816"/>
        <c:scaling>
          <c:orientation val="minMax"/>
        </c:scaling>
        <c:delete val="0"/>
        <c:axPos val="b"/>
        <c:majorTickMark val="none"/>
        <c:minorTickMark val="none"/>
        <c:tickLblPos val="none"/>
        <c:spPr>
          <a:ln>
            <a:solidFill>
              <a:schemeClr val="tx1"/>
            </a:solidFill>
          </a:ln>
        </c:spPr>
        <c:crossAx val="522913192"/>
        <c:crosses val="autoZero"/>
        <c:auto val="1"/>
        <c:lblAlgn val="ctr"/>
        <c:lblOffset val="100"/>
        <c:noMultiLvlLbl val="0"/>
      </c:catAx>
      <c:valAx>
        <c:axId val="522913192"/>
        <c:scaling>
          <c:orientation val="minMax"/>
        </c:scaling>
        <c:delete val="0"/>
        <c:axPos val="l"/>
        <c:title>
          <c:tx>
            <c:rich>
              <a:bodyPr rot="-5400000" vert="horz"/>
              <a:lstStyle/>
              <a:p>
                <a:pPr>
                  <a:defRPr/>
                </a:pPr>
                <a:r>
                  <a:rPr lang="en-US"/>
                  <a:t>mV / bit</a:t>
                </a:r>
              </a:p>
            </c:rich>
          </c:tx>
          <c:overlay val="0"/>
        </c:title>
        <c:numFmt formatCode="General" sourceLinked="1"/>
        <c:majorTickMark val="out"/>
        <c:minorTickMark val="none"/>
        <c:tickLblPos val="nextTo"/>
        <c:spPr>
          <a:ln w="9525">
            <a:solidFill>
              <a:schemeClr val="tx1"/>
            </a:solidFill>
          </a:ln>
        </c:spPr>
        <c:crossAx val="522909816"/>
        <c:crosses val="autoZero"/>
        <c:crossBetween val="between"/>
      </c:valAx>
      <c:spPr>
        <a:solidFill>
          <a:schemeClr val="tx1">
            <a:lumMod val="50000"/>
            <a:lumOff val="50000"/>
          </a:schemeClr>
        </a:solidFill>
      </c:spPr>
    </c:plotArea>
    <c:legend>
      <c:legendPos val="b"/>
      <c:layout>
        <c:manualLayout>
          <c:xMode val="edge"/>
          <c:yMode val="edge"/>
          <c:x val="0.0677916414294367"/>
          <c:y val="0.916295340131664"/>
          <c:w val="0.922878255602665"/>
          <c:h val="0.0598596524167713"/>
        </c:manualLayout>
      </c:layout>
      <c:overlay val="0"/>
    </c:legend>
    <c:plotVisOnly val="1"/>
    <c:dispBlanksAs val="gap"/>
    <c:showDLblsOverMax val="0"/>
  </c:chart>
  <c:txPr>
    <a:bodyPr/>
    <a:lstStyle/>
    <a:p>
      <a:pPr>
        <a:defRPr sz="1800">
          <a:solidFill>
            <a:srgbClr val="FFFFFF"/>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mV_bit!$B$3</c:f>
              <c:strCache>
                <c:ptCount val="1"/>
                <c:pt idx="0">
                  <c:v>Surprise</c:v>
                </c:pt>
              </c:strCache>
            </c:strRef>
          </c:tx>
          <c:spPr>
            <a:solidFill>
              <a:srgbClr val="FF0000"/>
            </a:solidFill>
          </c:spPr>
          <c:invertIfNegative val="0"/>
          <c:dLbls>
            <c:dLbl>
              <c:idx val="0"/>
              <c:layout>
                <c:manualLayout>
                  <c:x val="-0.062879486820305"/>
                  <c:y val="0.0"/>
                </c:manualLayout>
              </c:layout>
              <c:dLblPos val="outEnd"/>
              <c:showLegendKey val="0"/>
              <c:showVal val="1"/>
              <c:showCatName val="0"/>
              <c:showSerName val="0"/>
              <c:showPercent val="0"/>
              <c:showBubbleSize val="0"/>
            </c:dLbl>
            <c:dLblPos val="outEnd"/>
            <c:showLegendKey val="0"/>
            <c:showVal val="1"/>
            <c:showCatName val="0"/>
            <c:showSerName val="0"/>
            <c:showPercent val="0"/>
            <c:showBubbleSize val="0"/>
            <c:showLeaderLines val="0"/>
          </c:dLbls>
          <c:errBars>
            <c:errBarType val="both"/>
            <c:errValType val="cust"/>
            <c:noEndCap val="0"/>
            <c:plus>
              <c:numRef>
                <c:f>mV_bit!$O$3</c:f>
                <c:numCache>
                  <c:formatCode>General</c:formatCode>
                  <c:ptCount val="1"/>
                  <c:pt idx="0">
                    <c:v>0.09</c:v>
                  </c:pt>
                </c:numCache>
              </c:numRef>
            </c:plus>
            <c:minus>
              <c:numRef>
                <c:f>mV_bit!$O$3</c:f>
                <c:numCache>
                  <c:formatCode>General</c:formatCode>
                  <c:ptCount val="1"/>
                  <c:pt idx="0">
                    <c:v>0.09</c:v>
                  </c:pt>
                </c:numCache>
              </c:numRef>
            </c:minus>
          </c:errBars>
          <c:cat>
            <c:strRef>
              <c:f>mV_bit!$B$4</c:f>
              <c:strCache>
                <c:ptCount val="1"/>
                <c:pt idx="0">
                  <c:v>Entropy</c:v>
                </c:pt>
              </c:strCache>
            </c:strRef>
          </c:cat>
          <c:val>
            <c:numRef>
              <c:f>mV_bit!$N$3</c:f>
              <c:numCache>
                <c:formatCode>General</c:formatCode>
                <c:ptCount val="1"/>
                <c:pt idx="0">
                  <c:v>-0.12</c:v>
                </c:pt>
              </c:numCache>
            </c:numRef>
          </c:val>
        </c:ser>
        <c:dLbls>
          <c:dLblPos val="outEnd"/>
          <c:showLegendKey val="0"/>
          <c:showVal val="1"/>
          <c:showCatName val="0"/>
          <c:showSerName val="0"/>
          <c:showPercent val="0"/>
          <c:showBubbleSize val="0"/>
        </c:dLbls>
        <c:gapWidth val="75"/>
        <c:overlap val="-25"/>
        <c:axId val="522383064"/>
        <c:axId val="522386440"/>
      </c:barChart>
      <c:catAx>
        <c:axId val="522383064"/>
        <c:scaling>
          <c:orientation val="minMax"/>
        </c:scaling>
        <c:delete val="0"/>
        <c:axPos val="b"/>
        <c:majorTickMark val="none"/>
        <c:minorTickMark val="none"/>
        <c:tickLblPos val="none"/>
        <c:spPr>
          <a:ln>
            <a:solidFill>
              <a:schemeClr val="tx1"/>
            </a:solidFill>
          </a:ln>
        </c:spPr>
        <c:crossAx val="522386440"/>
        <c:crosses val="autoZero"/>
        <c:auto val="1"/>
        <c:lblAlgn val="ctr"/>
        <c:lblOffset val="100"/>
        <c:noMultiLvlLbl val="0"/>
      </c:catAx>
      <c:valAx>
        <c:axId val="522386440"/>
        <c:scaling>
          <c:orientation val="minMax"/>
        </c:scaling>
        <c:delete val="0"/>
        <c:axPos val="l"/>
        <c:title>
          <c:tx>
            <c:rich>
              <a:bodyPr rot="-5400000" vert="horz"/>
              <a:lstStyle/>
              <a:p>
                <a:pPr>
                  <a:defRPr/>
                </a:pPr>
                <a:r>
                  <a:rPr lang="en-US"/>
                  <a:t>mV / bit</a:t>
                </a:r>
              </a:p>
            </c:rich>
          </c:tx>
          <c:overlay val="0"/>
        </c:title>
        <c:numFmt formatCode="General" sourceLinked="1"/>
        <c:majorTickMark val="out"/>
        <c:minorTickMark val="none"/>
        <c:tickLblPos val="nextTo"/>
        <c:spPr>
          <a:ln w="9525">
            <a:solidFill>
              <a:schemeClr val="tx1"/>
            </a:solidFill>
          </a:ln>
        </c:spPr>
        <c:crossAx val="522383064"/>
        <c:crosses val="autoZero"/>
        <c:crossBetween val="between"/>
      </c:valAx>
      <c:spPr>
        <a:solidFill>
          <a:schemeClr val="tx1">
            <a:lumMod val="50000"/>
            <a:lumOff val="50000"/>
          </a:schemeClr>
        </a:solidFill>
      </c:spPr>
    </c:plotArea>
    <c:legend>
      <c:legendPos val="b"/>
      <c:layout>
        <c:manualLayout>
          <c:xMode val="edge"/>
          <c:yMode val="edge"/>
          <c:x val="0.0677916414294367"/>
          <c:y val="0.916295340131664"/>
          <c:w val="0.922878255602665"/>
          <c:h val="0.0598596524167713"/>
        </c:manualLayout>
      </c:layout>
      <c:overlay val="0"/>
    </c:legend>
    <c:plotVisOnly val="1"/>
    <c:dispBlanksAs val="gap"/>
    <c:showDLblsOverMax val="0"/>
  </c:chart>
  <c:txPr>
    <a:bodyPr/>
    <a:lstStyle/>
    <a:p>
      <a:pPr>
        <a:defRPr sz="1800">
          <a:solidFill>
            <a:srgbClr val="FFFFFF"/>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148385920846995"/>
          <c:y val="0.0830471784314214"/>
          <c:w val="0.837568802449017"/>
          <c:h val="0.687334627218291"/>
        </c:manualLayout>
      </c:layout>
      <c:barChart>
        <c:barDir val="col"/>
        <c:grouping val="clustered"/>
        <c:varyColors val="0"/>
        <c:ser>
          <c:idx val="0"/>
          <c:order val="0"/>
          <c:tx>
            <c:v>Likelihood</c:v>
          </c:tx>
          <c:spPr>
            <a:ln>
              <a:solidFill>
                <a:schemeClr val="tx1"/>
              </a:solidFill>
            </a:ln>
          </c:spPr>
          <c:invertIfNegative val="0"/>
          <c:cat>
            <c:numRef>
              <c:f>Sheet2!$A$2:$A$8</c:f>
              <c:numCache>
                <c:formatCode>General</c:formatCode>
                <c:ptCount val="7"/>
                <c:pt idx="0">
                  <c:v>1.0</c:v>
                </c:pt>
                <c:pt idx="1">
                  <c:v>2.0</c:v>
                </c:pt>
                <c:pt idx="2">
                  <c:v>3.0</c:v>
                </c:pt>
                <c:pt idx="3">
                  <c:v>4.0</c:v>
                </c:pt>
                <c:pt idx="4">
                  <c:v>5.0</c:v>
                </c:pt>
                <c:pt idx="5">
                  <c:v>6.0</c:v>
                </c:pt>
                <c:pt idx="6">
                  <c:v>7.0</c:v>
                </c:pt>
              </c:numCache>
            </c:numRef>
          </c:cat>
          <c:val>
            <c:numRef>
              <c:f>Sheet2!$B$2:$B$8</c:f>
              <c:numCache>
                <c:formatCode>General</c:formatCode>
                <c:ptCount val="7"/>
                <c:pt idx="0">
                  <c:v>5.0</c:v>
                </c:pt>
                <c:pt idx="1">
                  <c:v>7.0</c:v>
                </c:pt>
                <c:pt idx="2">
                  <c:v>7.0</c:v>
                </c:pt>
                <c:pt idx="3">
                  <c:v>5.0</c:v>
                </c:pt>
                <c:pt idx="4">
                  <c:v>3.0</c:v>
                </c:pt>
                <c:pt idx="5">
                  <c:v>2.0</c:v>
                </c:pt>
                <c:pt idx="6">
                  <c:v>1.0</c:v>
                </c:pt>
              </c:numCache>
            </c:numRef>
          </c:val>
        </c:ser>
        <c:dLbls>
          <c:showLegendKey val="0"/>
          <c:showVal val="0"/>
          <c:showCatName val="0"/>
          <c:showSerName val="0"/>
          <c:showPercent val="0"/>
          <c:showBubbleSize val="0"/>
        </c:dLbls>
        <c:gapWidth val="150"/>
        <c:axId val="529953768"/>
        <c:axId val="529959784"/>
      </c:barChart>
      <c:catAx>
        <c:axId val="529953768"/>
        <c:scaling>
          <c:orientation val="minMax"/>
        </c:scaling>
        <c:delete val="0"/>
        <c:axPos val="b"/>
        <c:title>
          <c:tx>
            <c:rich>
              <a:bodyPr/>
              <a:lstStyle/>
              <a:p>
                <a:pPr>
                  <a:defRPr/>
                </a:pPr>
                <a:r>
                  <a:rPr lang="en-US" sz="1800" dirty="0" smtClean="0">
                    <a:solidFill>
                      <a:schemeClr val="bg1"/>
                    </a:solidFill>
                  </a:rPr>
                  <a:t>SOA</a:t>
                </a:r>
                <a:endParaRPr lang="en-US" sz="1800" dirty="0">
                  <a:solidFill>
                    <a:schemeClr val="bg1"/>
                  </a:solidFill>
                </a:endParaRPr>
              </a:p>
            </c:rich>
          </c:tx>
          <c:layout>
            <c:manualLayout>
              <c:xMode val="edge"/>
              <c:yMode val="edge"/>
              <c:x val="0.50859895418632"/>
              <c:y val="0.899779559640765"/>
            </c:manualLayout>
          </c:layout>
          <c:overlay val="0"/>
        </c:title>
        <c:numFmt formatCode="General" sourceLinked="1"/>
        <c:majorTickMark val="out"/>
        <c:minorTickMark val="none"/>
        <c:tickLblPos val="low"/>
        <c:spPr>
          <a:solidFill>
            <a:schemeClr val="tx1"/>
          </a:solidFill>
          <a:ln w="38100">
            <a:solidFill>
              <a:schemeClr val="tx1">
                <a:lumMod val="95000"/>
                <a:lumOff val="5000"/>
              </a:schemeClr>
            </a:solidFill>
            <a:prstDash val="dash"/>
          </a:ln>
        </c:spPr>
        <c:txPr>
          <a:bodyPr/>
          <a:lstStyle/>
          <a:p>
            <a:pPr>
              <a:defRPr sz="1800">
                <a:solidFill>
                  <a:srgbClr val="FFFFFF"/>
                </a:solidFill>
              </a:defRPr>
            </a:pPr>
            <a:endParaRPr lang="en-US"/>
          </a:p>
        </c:txPr>
        <c:crossAx val="529959784"/>
        <c:crosses val="autoZero"/>
        <c:auto val="1"/>
        <c:lblAlgn val="ctr"/>
        <c:lblOffset val="100"/>
        <c:noMultiLvlLbl val="0"/>
      </c:catAx>
      <c:valAx>
        <c:axId val="529959784"/>
        <c:scaling>
          <c:orientation val="minMax"/>
        </c:scaling>
        <c:delete val="0"/>
        <c:axPos val="l"/>
        <c:title>
          <c:tx>
            <c:rich>
              <a:bodyPr rot="-5400000" vert="horz"/>
              <a:lstStyle/>
              <a:p>
                <a:pPr>
                  <a:defRPr/>
                </a:pPr>
                <a:r>
                  <a:rPr lang="en-US" sz="1800">
                    <a:solidFill>
                      <a:srgbClr val="FFFFFF"/>
                    </a:solidFill>
                    <a:latin typeface="Helvetica"/>
                    <a:cs typeface="Helvetica"/>
                  </a:rPr>
                  <a:t>Likelihood</a:t>
                </a:r>
              </a:p>
            </c:rich>
          </c:tx>
          <c:overlay val="0"/>
        </c:title>
        <c:numFmt formatCode="General" sourceLinked="1"/>
        <c:majorTickMark val="out"/>
        <c:minorTickMark val="none"/>
        <c:tickLblPos val="nextTo"/>
        <c:txPr>
          <a:bodyPr/>
          <a:lstStyle/>
          <a:p>
            <a:pPr>
              <a:defRPr sz="1400" b="1">
                <a:solidFill>
                  <a:schemeClr val="bg1"/>
                </a:solidFill>
                <a:latin typeface="Helvetica"/>
                <a:cs typeface="Helvetica"/>
              </a:defRPr>
            </a:pPr>
            <a:endParaRPr lang="en-US"/>
          </a:p>
        </c:txPr>
        <c:crossAx val="529953768"/>
        <c:crosses val="autoZero"/>
        <c:crossBetween val="between"/>
      </c:valAx>
      <c:spPr>
        <a:solidFill>
          <a:schemeClr val="bg1">
            <a:lumMod val="50000"/>
          </a:schemeClr>
        </a:solidFill>
      </c:spPr>
    </c:plotArea>
    <c:plotVisOnly val="1"/>
    <c:dispBlanksAs val="gap"/>
    <c:showDLblsOverMax val="0"/>
  </c:chart>
  <c:spPr>
    <a:solidFill>
      <a:schemeClr val="tx1"/>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a:t>Surprise</a:t>
            </a:r>
          </a:p>
        </c:rich>
      </c:tx>
      <c:overlay val="0"/>
    </c:title>
    <c:autoTitleDeleted val="0"/>
    <c:plotArea>
      <c:layout/>
      <c:scatterChart>
        <c:scatterStyle val="lineMarker"/>
        <c:varyColors val="0"/>
        <c:ser>
          <c:idx val="0"/>
          <c:order val="0"/>
          <c:tx>
            <c:v>"TMS SOA 3"</c:v>
          </c:tx>
          <c:spPr>
            <a:ln w="25400">
              <a:solidFill>
                <a:schemeClr val="tx1"/>
              </a:solidFill>
            </a:ln>
          </c:spPr>
          <c:marker>
            <c:symbol val="circle"/>
            <c:size val="5"/>
            <c:spPr>
              <a:solidFill>
                <a:schemeClr val="tx1"/>
              </a:solidFill>
              <a:ln>
                <a:noFill/>
              </a:ln>
            </c:spPr>
          </c:marker>
          <c:xVal>
            <c:numRef>
              <c:f>Sheet1!$B$1:$BX$1</c:f>
              <c:numCache>
                <c:formatCode>General</c:formatCode>
                <c:ptCount val="75"/>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numCache>
            </c:numRef>
          </c:xVal>
          <c:yVal>
            <c:numRef>
              <c:f>Sheet1!$A$77:$BW$77</c:f>
              <c:numCache>
                <c:formatCode>General</c:formatCode>
                <c:ptCount val="75"/>
                <c:pt idx="0">
                  <c:v>3.807354922057605</c:v>
                </c:pt>
                <c:pt idx="1">
                  <c:v>3.906890595608519</c:v>
                </c:pt>
                <c:pt idx="2">
                  <c:v>4.0</c:v>
                </c:pt>
                <c:pt idx="3">
                  <c:v>4.08746284125034</c:v>
                </c:pt>
                <c:pt idx="4">
                  <c:v>4.169925001442309</c:v>
                </c:pt>
                <c:pt idx="5">
                  <c:v>4.247927513443586</c:v>
                </c:pt>
                <c:pt idx="6">
                  <c:v>4.321928094887362</c:v>
                </c:pt>
                <c:pt idx="7">
                  <c:v>3.392317422778758</c:v>
                </c:pt>
                <c:pt idx="8">
                  <c:v>3.459431618637298</c:v>
                </c:pt>
                <c:pt idx="9">
                  <c:v>3.523561956057013</c:v>
                </c:pt>
                <c:pt idx="10">
                  <c:v>3.584962500721156</c:v>
                </c:pt>
                <c:pt idx="11">
                  <c:v>3.643856189774722</c:v>
                </c:pt>
                <c:pt idx="12">
                  <c:v>3.700439718141093</c:v>
                </c:pt>
                <c:pt idx="13">
                  <c:v>3.75488750216347</c:v>
                </c:pt>
                <c:pt idx="14">
                  <c:v>3.222392421336448</c:v>
                </c:pt>
                <c:pt idx="15">
                  <c:v>3.273018494406416</c:v>
                </c:pt>
                <c:pt idx="16">
                  <c:v>3.321928094887362</c:v>
                </c:pt>
                <c:pt idx="17">
                  <c:v>3.369233809665719</c:v>
                </c:pt>
                <c:pt idx="18">
                  <c:v>3.41503749927884</c:v>
                </c:pt>
                <c:pt idx="19">
                  <c:v>3.459431618637298</c:v>
                </c:pt>
                <c:pt idx="20">
                  <c:v>3.502500340529183</c:v>
                </c:pt>
                <c:pt idx="21">
                  <c:v>3.54432051622381</c:v>
                </c:pt>
                <c:pt idx="22">
                  <c:v>3.584962500721156</c:v>
                </c:pt>
                <c:pt idx="23">
                  <c:v>3.624490864907793</c:v>
                </c:pt>
                <c:pt idx="24">
                  <c:v>3.247927513443586</c:v>
                </c:pt>
                <c:pt idx="25">
                  <c:v>3.28540221886225</c:v>
                </c:pt>
                <c:pt idx="26">
                  <c:v>3.321928094887362</c:v>
                </c:pt>
                <c:pt idx="27">
                  <c:v>3.357552004618082</c:v>
                </c:pt>
                <c:pt idx="28">
                  <c:v>3.392317422778758</c:v>
                </c:pt>
                <c:pt idx="29">
                  <c:v>3.104336659814735</c:v>
                </c:pt>
                <c:pt idx="30">
                  <c:v>3.137503523749935</c:v>
                </c:pt>
                <c:pt idx="31">
                  <c:v>3.169925001442313</c:v>
                </c:pt>
                <c:pt idx="32">
                  <c:v>3.20163386116965</c:v>
                </c:pt>
                <c:pt idx="33">
                  <c:v>3.232660756790275</c:v>
                </c:pt>
                <c:pt idx="34">
                  <c:v>3.263034405833794</c:v>
                </c:pt>
                <c:pt idx="35">
                  <c:v>3.292781749227846</c:v>
                </c:pt>
                <c:pt idx="36">
                  <c:v>3.058893689053566</c:v>
                </c:pt>
                <c:pt idx="37">
                  <c:v>3.08746284125034</c:v>
                </c:pt>
                <c:pt idx="38">
                  <c:v>3.115477217419936</c:v>
                </c:pt>
                <c:pt idx="39">
                  <c:v>3.142957953842044</c:v>
                </c:pt>
                <c:pt idx="40">
                  <c:v>2.947532580105864</c:v>
                </c:pt>
                <c:pt idx="41">
                  <c:v>2.974004791467056</c:v>
                </c:pt>
                <c:pt idx="42">
                  <c:v>3.0</c:v>
                </c:pt>
                <c:pt idx="43">
                  <c:v>3.025535092107137</c:v>
                </c:pt>
                <c:pt idx="44">
                  <c:v>3.050626073069968</c:v>
                </c:pt>
                <c:pt idx="45">
                  <c:v>3.075288127304236</c:v>
                </c:pt>
                <c:pt idx="46">
                  <c:v>3.099535673550915</c:v>
                </c:pt>
                <c:pt idx="47">
                  <c:v>3.123382415505282</c:v>
                </c:pt>
                <c:pt idx="48">
                  <c:v>3.146841388329271</c:v>
                </c:pt>
                <c:pt idx="49">
                  <c:v>3.169925001442313</c:v>
                </c:pt>
                <c:pt idx="50">
                  <c:v>3.192645077942396</c:v>
                </c:pt>
                <c:pt idx="51">
                  <c:v>3.215012890970851</c:v>
                </c:pt>
                <c:pt idx="52">
                  <c:v>3.237039197300849</c:v>
                </c:pt>
                <c:pt idx="53">
                  <c:v>3.258734268400168</c:v>
                </c:pt>
                <c:pt idx="54">
                  <c:v>3.08746284125034</c:v>
                </c:pt>
                <c:pt idx="55">
                  <c:v>3.10852445677817</c:v>
                </c:pt>
                <c:pt idx="56">
                  <c:v>3.129283016944967</c:v>
                </c:pt>
                <c:pt idx="57">
                  <c:v>3.149747119504682</c:v>
                </c:pt>
                <c:pt idx="58">
                  <c:v>3.169925001442313</c:v>
                </c:pt>
                <c:pt idx="59">
                  <c:v>3.189824558880018</c:v>
                </c:pt>
                <c:pt idx="60">
                  <c:v>3.20945336562895</c:v>
                </c:pt>
                <c:pt idx="61">
                  <c:v>3.22881869049588</c:v>
                </c:pt>
                <c:pt idx="62">
                  <c:v>3.247927513443586</c:v>
                </c:pt>
                <c:pt idx="63">
                  <c:v>3.266786540694901</c:v>
                </c:pt>
                <c:pt idx="64">
                  <c:v>3.28540221886225</c:v>
                </c:pt>
                <c:pt idx="65">
                  <c:v>3.303780748177103</c:v>
                </c:pt>
                <c:pt idx="66">
                  <c:v>3.321928094887362</c:v>
                </c:pt>
                <c:pt idx="67">
                  <c:v>3.339850002884622</c:v>
                </c:pt>
                <c:pt idx="68">
                  <c:v>3.357552004618082</c:v>
                </c:pt>
                <c:pt idx="69">
                  <c:v>3.375039431346924</c:v>
                </c:pt>
                <c:pt idx="70">
                  <c:v>3.392317422778758</c:v>
                </c:pt>
                <c:pt idx="71">
                  <c:v>3.409390936137702</c:v>
                </c:pt>
                <c:pt idx="72">
                  <c:v>3.426264754702098</c:v>
                </c:pt>
                <c:pt idx="73">
                  <c:v>3.442943495848725</c:v>
                </c:pt>
                <c:pt idx="74">
                  <c:v>3.459431618637298</c:v>
                </c:pt>
              </c:numCache>
            </c:numRef>
          </c:yVal>
          <c:smooth val="0"/>
        </c:ser>
        <c:ser>
          <c:idx val="1"/>
          <c:order val="1"/>
          <c:tx>
            <c:v>TMS SOA 7</c:v>
          </c:tx>
          <c:spPr>
            <a:ln>
              <a:solidFill>
                <a:srgbClr val="3366FF"/>
              </a:solidFill>
            </a:ln>
          </c:spPr>
          <c:marker>
            <c:symbol val="circle"/>
            <c:size val="5"/>
            <c:spPr>
              <a:solidFill>
                <a:srgbClr val="3366FF"/>
              </a:solidFill>
              <a:ln>
                <a:noFill/>
              </a:ln>
            </c:spPr>
          </c:marker>
          <c:xVal>
            <c:numRef>
              <c:f>Sheet1!$B$1:$BX$1</c:f>
              <c:numCache>
                <c:formatCode>General</c:formatCode>
                <c:ptCount val="75"/>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numCache>
            </c:numRef>
          </c:xVal>
          <c:yVal>
            <c:numRef>
              <c:f>Sheet1!$A$78:$BW$78</c:f>
              <c:numCache>
                <c:formatCode>General</c:formatCode>
                <c:ptCount val="75"/>
                <c:pt idx="0">
                  <c:v>3.807354922057605</c:v>
                </c:pt>
                <c:pt idx="1">
                  <c:v>3.906890595608519</c:v>
                </c:pt>
                <c:pt idx="2">
                  <c:v>4.0</c:v>
                </c:pt>
                <c:pt idx="3">
                  <c:v>4.08746284125034</c:v>
                </c:pt>
                <c:pt idx="4">
                  <c:v>4.169925001442309</c:v>
                </c:pt>
                <c:pt idx="5">
                  <c:v>4.247927513443586</c:v>
                </c:pt>
                <c:pt idx="6">
                  <c:v>4.321928094887362</c:v>
                </c:pt>
                <c:pt idx="7">
                  <c:v>4.392317422778761</c:v>
                </c:pt>
                <c:pt idx="8">
                  <c:v>4.459431618637296</c:v>
                </c:pt>
                <c:pt idx="9">
                  <c:v>4.523561956057007</c:v>
                </c:pt>
                <c:pt idx="10">
                  <c:v>4.584962500721157</c:v>
                </c:pt>
                <c:pt idx="11">
                  <c:v>4.643856189774726</c:v>
                </c:pt>
                <c:pt idx="12">
                  <c:v>4.700439718141093</c:v>
                </c:pt>
                <c:pt idx="13">
                  <c:v>4.754887502163465</c:v>
                </c:pt>
                <c:pt idx="14">
                  <c:v>4.807354922057604</c:v>
                </c:pt>
                <c:pt idx="15">
                  <c:v>4.857980995127569</c:v>
                </c:pt>
                <c:pt idx="16">
                  <c:v>4.906890595608518</c:v>
                </c:pt>
                <c:pt idx="17">
                  <c:v>4.954196310386876</c:v>
                </c:pt>
                <c:pt idx="18">
                  <c:v>5.0</c:v>
                </c:pt>
                <c:pt idx="19">
                  <c:v>5.044394119358449</c:v>
                </c:pt>
                <c:pt idx="20">
                  <c:v>5.08746284125034</c:v>
                </c:pt>
                <c:pt idx="21">
                  <c:v>5.129283016944966</c:v>
                </c:pt>
                <c:pt idx="22">
                  <c:v>5.169925001442309</c:v>
                </c:pt>
                <c:pt idx="23">
                  <c:v>5.20945336562895</c:v>
                </c:pt>
                <c:pt idx="24">
                  <c:v>5.247927513443585</c:v>
                </c:pt>
                <c:pt idx="25">
                  <c:v>5.285402218862249</c:v>
                </c:pt>
                <c:pt idx="26">
                  <c:v>5.321928094887362</c:v>
                </c:pt>
                <c:pt idx="27">
                  <c:v>5.357552004618084</c:v>
                </c:pt>
                <c:pt idx="28">
                  <c:v>5.392317422778761</c:v>
                </c:pt>
                <c:pt idx="29">
                  <c:v>5.426264754702097</c:v>
                </c:pt>
                <c:pt idx="30">
                  <c:v>5.459431618637296</c:v>
                </c:pt>
                <c:pt idx="31">
                  <c:v>5.491853096329678</c:v>
                </c:pt>
                <c:pt idx="32">
                  <c:v>5.523561956057007</c:v>
                </c:pt>
                <c:pt idx="33">
                  <c:v>4.554588851677634</c:v>
                </c:pt>
                <c:pt idx="34">
                  <c:v>4.584962500721157</c:v>
                </c:pt>
                <c:pt idx="35">
                  <c:v>4.614709844115203</c:v>
                </c:pt>
                <c:pt idx="36">
                  <c:v>4.643856189774726</c:v>
                </c:pt>
                <c:pt idx="37">
                  <c:v>4.672425341971491</c:v>
                </c:pt>
                <c:pt idx="38">
                  <c:v>4.700439718141093</c:v>
                </c:pt>
                <c:pt idx="39">
                  <c:v>4.7279204545632</c:v>
                </c:pt>
                <c:pt idx="40">
                  <c:v>4.754887502163465</c:v>
                </c:pt>
                <c:pt idx="41">
                  <c:v>4.78135971352466</c:v>
                </c:pt>
                <c:pt idx="42">
                  <c:v>4.807354922057604</c:v>
                </c:pt>
                <c:pt idx="43">
                  <c:v>4.832890014164742</c:v>
                </c:pt>
                <c:pt idx="44">
                  <c:v>4.857980995127569</c:v>
                </c:pt>
                <c:pt idx="45">
                  <c:v>4.882643049361841</c:v>
                </c:pt>
                <c:pt idx="46">
                  <c:v>4.906890595608518</c:v>
                </c:pt>
                <c:pt idx="47">
                  <c:v>4.930737337562886</c:v>
                </c:pt>
                <c:pt idx="48">
                  <c:v>4.954196310386876</c:v>
                </c:pt>
                <c:pt idx="49">
                  <c:v>4.977279923499916</c:v>
                </c:pt>
                <c:pt idx="50">
                  <c:v>5.0</c:v>
                </c:pt>
                <c:pt idx="51">
                  <c:v>5.02236781302845</c:v>
                </c:pt>
                <c:pt idx="52">
                  <c:v>5.044394119358449</c:v>
                </c:pt>
                <c:pt idx="53">
                  <c:v>5.066089190457773</c:v>
                </c:pt>
                <c:pt idx="54">
                  <c:v>5.08746284125034</c:v>
                </c:pt>
                <c:pt idx="55">
                  <c:v>5.108524456778166</c:v>
                </c:pt>
                <c:pt idx="56">
                  <c:v>5.129283016944966</c:v>
                </c:pt>
                <c:pt idx="57">
                  <c:v>5.149747119504683</c:v>
                </c:pt>
                <c:pt idx="58">
                  <c:v>5.169925001442309</c:v>
                </c:pt>
                <c:pt idx="59">
                  <c:v>5.189824558880014</c:v>
                </c:pt>
                <c:pt idx="60">
                  <c:v>5.20945336562895</c:v>
                </c:pt>
                <c:pt idx="61">
                  <c:v>5.22881869049588</c:v>
                </c:pt>
                <c:pt idx="62">
                  <c:v>5.247927513443585</c:v>
                </c:pt>
                <c:pt idx="63">
                  <c:v>5.266786540694897</c:v>
                </c:pt>
                <c:pt idx="64">
                  <c:v>5.285402218862249</c:v>
                </c:pt>
                <c:pt idx="65">
                  <c:v>5.3037807481771</c:v>
                </c:pt>
                <c:pt idx="66">
                  <c:v>4.736965594166206</c:v>
                </c:pt>
                <c:pt idx="67">
                  <c:v>4.33985000288463</c:v>
                </c:pt>
                <c:pt idx="68">
                  <c:v>4.357552004618084</c:v>
                </c:pt>
                <c:pt idx="69">
                  <c:v>4.375039431346925</c:v>
                </c:pt>
                <c:pt idx="70">
                  <c:v>4.392317422778761</c:v>
                </c:pt>
                <c:pt idx="71">
                  <c:v>4.409390936137702</c:v>
                </c:pt>
                <c:pt idx="72">
                  <c:v>4.426264754702097</c:v>
                </c:pt>
                <c:pt idx="73">
                  <c:v>4.44294349584873</c:v>
                </c:pt>
                <c:pt idx="74">
                  <c:v>4.459431618637296</c:v>
                </c:pt>
              </c:numCache>
            </c:numRef>
          </c:yVal>
          <c:smooth val="0"/>
        </c:ser>
        <c:dLbls>
          <c:showLegendKey val="0"/>
          <c:showVal val="0"/>
          <c:showCatName val="0"/>
          <c:showSerName val="0"/>
          <c:showPercent val="0"/>
          <c:showBubbleSize val="0"/>
        </c:dLbls>
        <c:axId val="529800536"/>
        <c:axId val="529808280"/>
      </c:scatterChart>
      <c:valAx>
        <c:axId val="529800536"/>
        <c:scaling>
          <c:orientation val="minMax"/>
          <c:max val="75.0"/>
          <c:min val="1.0"/>
        </c:scaling>
        <c:delete val="0"/>
        <c:axPos val="b"/>
        <c:title>
          <c:tx>
            <c:rich>
              <a:bodyPr/>
              <a:lstStyle/>
              <a:p>
                <a:pPr>
                  <a:defRPr/>
                </a:pPr>
                <a:r>
                  <a:rPr lang="en-US"/>
                  <a:t>Trial Number</a:t>
                </a:r>
              </a:p>
            </c:rich>
          </c:tx>
          <c:overlay val="0"/>
        </c:title>
        <c:numFmt formatCode="General" sourceLinked="1"/>
        <c:majorTickMark val="out"/>
        <c:minorTickMark val="none"/>
        <c:tickLblPos val="nextTo"/>
        <c:crossAx val="529808280"/>
        <c:crosses val="autoZero"/>
        <c:crossBetween val="midCat"/>
      </c:valAx>
      <c:valAx>
        <c:axId val="529808280"/>
        <c:scaling>
          <c:orientation val="minMax"/>
        </c:scaling>
        <c:delete val="0"/>
        <c:axPos val="l"/>
        <c:title>
          <c:tx>
            <c:rich>
              <a:bodyPr rot="-5400000" vert="horz"/>
              <a:lstStyle/>
              <a:p>
                <a:pPr>
                  <a:defRPr/>
                </a:pPr>
                <a:r>
                  <a:rPr lang="en-US"/>
                  <a:t>bits</a:t>
                </a:r>
              </a:p>
            </c:rich>
          </c:tx>
          <c:overlay val="0"/>
        </c:title>
        <c:numFmt formatCode="General" sourceLinked="1"/>
        <c:majorTickMark val="out"/>
        <c:minorTickMark val="none"/>
        <c:tickLblPos val="nextTo"/>
        <c:crossAx val="529800536"/>
        <c:crosses val="autoZero"/>
        <c:crossBetween val="midCat"/>
      </c:valAx>
      <c:spPr>
        <a:solidFill>
          <a:schemeClr val="tx1">
            <a:lumMod val="65000"/>
            <a:lumOff val="35000"/>
          </a:schemeClr>
        </a:solidFill>
      </c:spPr>
    </c:plotArea>
    <c:plotVisOnly val="1"/>
    <c:dispBlanksAs val="gap"/>
    <c:showDLblsOverMax val="0"/>
  </c:chart>
  <c:txPr>
    <a:bodyPr/>
    <a:lstStyle/>
    <a:p>
      <a:pPr>
        <a:defRPr sz="1800">
          <a:solidFill>
            <a:srgbClr val="FFFFFF"/>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143088837783091"/>
          <c:y val="0.169432085181492"/>
          <c:w val="0.837568802449017"/>
          <c:h val="0.80611399557588"/>
        </c:manualLayout>
      </c:layout>
      <c:lineChart>
        <c:grouping val="standard"/>
        <c:varyColors val="0"/>
        <c:ser>
          <c:idx val="0"/>
          <c:order val="0"/>
          <c:tx>
            <c:v>Likelihood</c:v>
          </c:tx>
          <c:spPr>
            <a:ln>
              <a:solidFill>
                <a:schemeClr val="tx1"/>
              </a:solidFill>
            </a:ln>
          </c:spPr>
          <c:marker>
            <c:symbol val="none"/>
          </c:marker>
          <c:cat>
            <c:numRef>
              <c:f>Sheet2!$A$2:$A$8</c:f>
              <c:numCache>
                <c:formatCode>General</c:formatCode>
                <c:ptCount val="7"/>
                <c:pt idx="0">
                  <c:v>1.0</c:v>
                </c:pt>
                <c:pt idx="1">
                  <c:v>2.0</c:v>
                </c:pt>
                <c:pt idx="2">
                  <c:v>3.0</c:v>
                </c:pt>
                <c:pt idx="3">
                  <c:v>4.0</c:v>
                </c:pt>
                <c:pt idx="4">
                  <c:v>5.0</c:v>
                </c:pt>
                <c:pt idx="5">
                  <c:v>6.0</c:v>
                </c:pt>
                <c:pt idx="6">
                  <c:v>7.0</c:v>
                </c:pt>
              </c:numCache>
            </c:numRef>
          </c:cat>
          <c:val>
            <c:numRef>
              <c:f>Sheet2!$B$2:$B$8</c:f>
              <c:numCache>
                <c:formatCode>General</c:formatCode>
                <c:ptCount val="7"/>
                <c:pt idx="0">
                  <c:v>5.0</c:v>
                </c:pt>
                <c:pt idx="1">
                  <c:v>7.0</c:v>
                </c:pt>
                <c:pt idx="2">
                  <c:v>7.0</c:v>
                </c:pt>
                <c:pt idx="3">
                  <c:v>5.0</c:v>
                </c:pt>
                <c:pt idx="4">
                  <c:v>3.0</c:v>
                </c:pt>
                <c:pt idx="5">
                  <c:v>2.0</c:v>
                </c:pt>
                <c:pt idx="6">
                  <c:v>1.0</c:v>
                </c:pt>
              </c:numCache>
            </c:numRef>
          </c:val>
          <c:smooth val="1"/>
        </c:ser>
        <c:dLbls>
          <c:showLegendKey val="0"/>
          <c:showVal val="0"/>
          <c:showCatName val="0"/>
          <c:showSerName val="0"/>
          <c:showPercent val="0"/>
          <c:showBubbleSize val="0"/>
        </c:dLbls>
        <c:marker val="1"/>
        <c:smooth val="0"/>
        <c:axId val="497994616"/>
        <c:axId val="497998136"/>
      </c:lineChart>
      <c:catAx>
        <c:axId val="497994616"/>
        <c:scaling>
          <c:orientation val="minMax"/>
        </c:scaling>
        <c:delete val="0"/>
        <c:axPos val="b"/>
        <c:numFmt formatCode="General" sourceLinked="1"/>
        <c:majorTickMark val="out"/>
        <c:minorTickMark val="none"/>
        <c:tickLblPos val="low"/>
        <c:spPr>
          <a:solidFill>
            <a:schemeClr val="tx1"/>
          </a:solidFill>
          <a:ln w="38100">
            <a:solidFill>
              <a:schemeClr val="tx1">
                <a:lumMod val="95000"/>
                <a:lumOff val="5000"/>
              </a:schemeClr>
            </a:solidFill>
            <a:prstDash val="dash"/>
          </a:ln>
        </c:spPr>
        <c:txPr>
          <a:bodyPr/>
          <a:lstStyle/>
          <a:p>
            <a:pPr>
              <a:defRPr sz="1800">
                <a:solidFill>
                  <a:srgbClr val="FFFFFF"/>
                </a:solidFill>
              </a:defRPr>
            </a:pPr>
            <a:endParaRPr lang="en-US"/>
          </a:p>
        </c:txPr>
        <c:crossAx val="497998136"/>
        <c:crosses val="autoZero"/>
        <c:auto val="1"/>
        <c:lblAlgn val="ctr"/>
        <c:lblOffset val="100"/>
        <c:noMultiLvlLbl val="0"/>
      </c:catAx>
      <c:valAx>
        <c:axId val="497998136"/>
        <c:scaling>
          <c:orientation val="minMax"/>
        </c:scaling>
        <c:delete val="0"/>
        <c:axPos val="l"/>
        <c:title>
          <c:tx>
            <c:rich>
              <a:bodyPr rot="-5400000" vert="horz"/>
              <a:lstStyle/>
              <a:p>
                <a:pPr>
                  <a:defRPr/>
                </a:pPr>
                <a:r>
                  <a:rPr lang="en-US" sz="1800">
                    <a:solidFill>
                      <a:srgbClr val="FFFFFF"/>
                    </a:solidFill>
                    <a:latin typeface="Helvetica"/>
                    <a:cs typeface="Helvetica"/>
                  </a:rPr>
                  <a:t>Likelihood</a:t>
                </a:r>
              </a:p>
            </c:rich>
          </c:tx>
          <c:overlay val="0"/>
        </c:title>
        <c:numFmt formatCode="General" sourceLinked="1"/>
        <c:majorTickMark val="out"/>
        <c:minorTickMark val="none"/>
        <c:tickLblPos val="nextTo"/>
        <c:txPr>
          <a:bodyPr/>
          <a:lstStyle/>
          <a:p>
            <a:pPr>
              <a:defRPr sz="1400" b="1">
                <a:solidFill>
                  <a:schemeClr val="bg1"/>
                </a:solidFill>
                <a:latin typeface="Helvetica"/>
                <a:cs typeface="Helvetica"/>
              </a:defRPr>
            </a:pPr>
            <a:endParaRPr lang="en-US"/>
          </a:p>
        </c:txPr>
        <c:crossAx val="497994616"/>
        <c:crosses val="autoZero"/>
        <c:crossBetween val="between"/>
      </c:valAx>
      <c:spPr>
        <a:solidFill>
          <a:schemeClr val="bg1">
            <a:lumMod val="50000"/>
          </a:schemeClr>
        </a:solidFill>
      </c:spPr>
    </c:plotArea>
    <c:plotVisOnly val="1"/>
    <c:dispBlanksAs val="gap"/>
    <c:showDLblsOverMax val="0"/>
  </c:chart>
  <c:spPr>
    <a:solidFill>
      <a:schemeClr val="tx1"/>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title>
      <c:tx>
        <c:rich>
          <a:bodyPr/>
          <a:lstStyle/>
          <a:p>
            <a:pPr>
              <a:defRPr/>
            </a:pPr>
            <a:r>
              <a:rPr lang="en-US" sz="2400">
                <a:solidFill>
                  <a:srgbClr val="FFFFFF"/>
                </a:solidFill>
                <a:latin typeface="Helvetica"/>
                <a:cs typeface="Helvetica"/>
              </a:rPr>
              <a:t>Surprise</a:t>
            </a:r>
          </a:p>
        </c:rich>
      </c:tx>
      <c:overlay val="0"/>
    </c:title>
    <c:autoTitleDeleted val="0"/>
    <c:plotArea>
      <c:layout>
        <c:manualLayout>
          <c:layoutTarget val="inner"/>
          <c:xMode val="edge"/>
          <c:yMode val="edge"/>
          <c:x val="0.141808129883184"/>
          <c:y val="0.178165692478624"/>
          <c:w val="0.838849510348924"/>
          <c:h val="0.735662529083428"/>
        </c:manualLayout>
      </c:layout>
      <c:barChart>
        <c:barDir val="col"/>
        <c:grouping val="clustered"/>
        <c:varyColors val="0"/>
        <c:ser>
          <c:idx val="0"/>
          <c:order val="0"/>
          <c:tx>
            <c:v>I(TMS,1)</c:v>
          </c:tx>
          <c:spPr>
            <a:solidFill>
              <a:srgbClr val="3366FF"/>
            </a:solidFill>
          </c:spPr>
          <c:invertIfNegative val="0"/>
          <c:val>
            <c:numRef>
              <c:f>Sheet2!$D$2</c:f>
              <c:numCache>
                <c:formatCode>General</c:formatCode>
                <c:ptCount val="1"/>
                <c:pt idx="0">
                  <c:v>0.007</c:v>
                </c:pt>
              </c:numCache>
            </c:numRef>
          </c:val>
        </c:ser>
        <c:ser>
          <c:idx val="1"/>
          <c:order val="1"/>
          <c:tx>
            <c:v>I(TMS,2)</c:v>
          </c:tx>
          <c:spPr>
            <a:solidFill>
              <a:srgbClr val="3366FF"/>
            </a:solidFill>
          </c:spPr>
          <c:invertIfNegative val="0"/>
          <c:val>
            <c:numRef>
              <c:f>Sheet2!$D$3</c:f>
              <c:numCache>
                <c:formatCode>General</c:formatCode>
                <c:ptCount val="1"/>
                <c:pt idx="0">
                  <c:v>-0.061</c:v>
                </c:pt>
              </c:numCache>
            </c:numRef>
          </c:val>
        </c:ser>
        <c:ser>
          <c:idx val="2"/>
          <c:order val="2"/>
          <c:tx>
            <c:v>I(TMS,3)</c:v>
          </c:tx>
          <c:spPr>
            <a:solidFill>
              <a:srgbClr val="FF0000"/>
            </a:solidFill>
          </c:spPr>
          <c:invertIfNegative val="0"/>
          <c:errBars>
            <c:errBarType val="both"/>
            <c:errValType val="cust"/>
            <c:noEndCap val="0"/>
            <c:plus>
              <c:numRef>
                <c:f>Sheet2!$F$4</c:f>
                <c:numCache>
                  <c:formatCode>General</c:formatCode>
                  <c:ptCount val="1"/>
                  <c:pt idx="0">
                    <c:v>0.081</c:v>
                  </c:pt>
                </c:numCache>
              </c:numRef>
            </c:plus>
            <c:minus>
              <c:numRef>
                <c:f>Sheet2!$F$4</c:f>
                <c:numCache>
                  <c:formatCode>General</c:formatCode>
                  <c:ptCount val="1"/>
                  <c:pt idx="0">
                    <c:v>0.081</c:v>
                  </c:pt>
                </c:numCache>
              </c:numRef>
            </c:minus>
          </c:errBars>
          <c:val>
            <c:numRef>
              <c:f>Sheet2!$D$4</c:f>
              <c:numCache>
                <c:formatCode>General</c:formatCode>
                <c:ptCount val="1"/>
                <c:pt idx="0">
                  <c:v>-0.225</c:v>
                </c:pt>
              </c:numCache>
            </c:numRef>
          </c:val>
        </c:ser>
        <c:ser>
          <c:idx val="3"/>
          <c:order val="3"/>
          <c:tx>
            <c:v>I(TMS,4)</c:v>
          </c:tx>
          <c:spPr>
            <a:solidFill>
              <a:srgbClr val="3366FF"/>
            </a:solidFill>
          </c:spPr>
          <c:invertIfNegative val="0"/>
          <c:val>
            <c:numRef>
              <c:f>Sheet2!$D$5</c:f>
              <c:numCache>
                <c:formatCode>General</c:formatCode>
                <c:ptCount val="1"/>
                <c:pt idx="0">
                  <c:v>-0.015</c:v>
                </c:pt>
              </c:numCache>
            </c:numRef>
          </c:val>
        </c:ser>
        <c:ser>
          <c:idx val="4"/>
          <c:order val="4"/>
          <c:tx>
            <c:v>I(TMS,5)</c:v>
          </c:tx>
          <c:spPr>
            <a:solidFill>
              <a:srgbClr val="3366FF"/>
            </a:solidFill>
          </c:spPr>
          <c:invertIfNegative val="0"/>
          <c:val>
            <c:numRef>
              <c:f>Sheet2!$D$6</c:f>
              <c:numCache>
                <c:formatCode>General</c:formatCode>
                <c:ptCount val="1"/>
                <c:pt idx="0">
                  <c:v>-0.016</c:v>
                </c:pt>
              </c:numCache>
            </c:numRef>
          </c:val>
        </c:ser>
        <c:ser>
          <c:idx val="5"/>
          <c:order val="5"/>
          <c:tx>
            <c:v>I(TMS,6)</c:v>
          </c:tx>
          <c:spPr>
            <a:solidFill>
              <a:srgbClr val="FF0000"/>
            </a:solidFill>
          </c:spPr>
          <c:invertIfNegative val="0"/>
          <c:errBars>
            <c:errBarType val="both"/>
            <c:errValType val="cust"/>
            <c:noEndCap val="0"/>
            <c:plus>
              <c:numRef>
                <c:f>Sheet2!$F$7</c:f>
                <c:numCache>
                  <c:formatCode>General</c:formatCode>
                  <c:ptCount val="1"/>
                  <c:pt idx="0">
                    <c:v>0.079</c:v>
                  </c:pt>
                </c:numCache>
              </c:numRef>
            </c:plus>
            <c:minus>
              <c:numRef>
                <c:f>Sheet2!$F$7</c:f>
                <c:numCache>
                  <c:formatCode>General</c:formatCode>
                  <c:ptCount val="1"/>
                  <c:pt idx="0">
                    <c:v>0.079</c:v>
                  </c:pt>
                </c:numCache>
              </c:numRef>
            </c:minus>
          </c:errBars>
          <c:val>
            <c:numRef>
              <c:f>Sheet2!$D$7</c:f>
              <c:numCache>
                <c:formatCode>General</c:formatCode>
                <c:ptCount val="1"/>
                <c:pt idx="0">
                  <c:v>-0.201</c:v>
                </c:pt>
              </c:numCache>
            </c:numRef>
          </c:val>
        </c:ser>
        <c:ser>
          <c:idx val="6"/>
          <c:order val="6"/>
          <c:tx>
            <c:v>I(TMS,7)</c:v>
          </c:tx>
          <c:spPr>
            <a:solidFill>
              <a:srgbClr val="FF0000"/>
            </a:solidFill>
          </c:spPr>
          <c:invertIfNegative val="0"/>
          <c:errBars>
            <c:errBarType val="both"/>
            <c:errValType val="cust"/>
            <c:noEndCap val="0"/>
            <c:plus>
              <c:numRef>
                <c:f>Sheet2!$F$8</c:f>
                <c:numCache>
                  <c:formatCode>General</c:formatCode>
                  <c:ptCount val="1"/>
                  <c:pt idx="0">
                    <c:v>0.09</c:v>
                  </c:pt>
                </c:numCache>
              </c:numRef>
            </c:plus>
            <c:minus>
              <c:numRef>
                <c:f>Sheet2!$F$8</c:f>
                <c:numCache>
                  <c:formatCode>General</c:formatCode>
                  <c:ptCount val="1"/>
                  <c:pt idx="0">
                    <c:v>0.09</c:v>
                  </c:pt>
                </c:numCache>
              </c:numRef>
            </c:minus>
          </c:errBars>
          <c:val>
            <c:numRef>
              <c:f>Sheet2!$D$8</c:f>
              <c:numCache>
                <c:formatCode>General</c:formatCode>
                <c:ptCount val="1"/>
                <c:pt idx="0">
                  <c:v>-0.422</c:v>
                </c:pt>
              </c:numCache>
            </c:numRef>
          </c:val>
        </c:ser>
        <c:dLbls>
          <c:showLegendKey val="0"/>
          <c:showVal val="0"/>
          <c:showCatName val="0"/>
          <c:showSerName val="0"/>
          <c:showPercent val="0"/>
          <c:showBubbleSize val="0"/>
        </c:dLbls>
        <c:gapWidth val="150"/>
        <c:axId val="497912424"/>
        <c:axId val="497918280"/>
      </c:barChart>
      <c:catAx>
        <c:axId val="497912424"/>
        <c:scaling>
          <c:orientation val="minMax"/>
        </c:scaling>
        <c:delete val="1"/>
        <c:axPos val="b"/>
        <c:title>
          <c:tx>
            <c:rich>
              <a:bodyPr/>
              <a:lstStyle/>
              <a:p>
                <a:pPr>
                  <a:defRPr>
                    <a:solidFill>
                      <a:srgbClr val="FFFFFF"/>
                    </a:solidFill>
                  </a:defRPr>
                </a:pPr>
                <a:r>
                  <a:rPr lang="en-US" sz="1800">
                    <a:solidFill>
                      <a:srgbClr val="FFFFFF"/>
                    </a:solidFill>
                    <a:latin typeface="Helvetica"/>
                    <a:cs typeface="Helvetica"/>
                  </a:rPr>
                  <a:t>SOA </a:t>
                </a:r>
                <a:r>
                  <a:rPr lang="en-US" sz="1800" i="1">
                    <a:solidFill>
                      <a:srgbClr val="FFFFFF"/>
                    </a:solidFill>
                    <a:latin typeface="Helvetica"/>
                    <a:cs typeface="Helvetica"/>
                  </a:rPr>
                  <a:t>#</a:t>
                </a:r>
              </a:p>
            </c:rich>
          </c:tx>
          <c:overlay val="0"/>
        </c:title>
        <c:majorTickMark val="none"/>
        <c:minorTickMark val="none"/>
        <c:tickLblPos val="high"/>
        <c:crossAx val="497918280"/>
        <c:crosses val="autoZero"/>
        <c:auto val="1"/>
        <c:lblAlgn val="ctr"/>
        <c:lblOffset val="100"/>
        <c:noMultiLvlLbl val="0"/>
      </c:catAx>
      <c:valAx>
        <c:axId val="497918280"/>
        <c:scaling>
          <c:orientation val="minMax"/>
        </c:scaling>
        <c:delete val="0"/>
        <c:axPos val="l"/>
        <c:title>
          <c:tx>
            <c:rich>
              <a:bodyPr rot="-5400000" vert="horz"/>
              <a:lstStyle/>
              <a:p>
                <a:pPr>
                  <a:defRPr/>
                </a:pPr>
                <a:r>
                  <a:rPr lang="en-US" sz="1800">
                    <a:solidFill>
                      <a:srgbClr val="FFFFFF"/>
                    </a:solidFill>
                    <a:latin typeface="Helvetica"/>
                    <a:cs typeface="Helvetica"/>
                  </a:rPr>
                  <a:t>Surprise (mV / bit)</a:t>
                </a:r>
              </a:p>
            </c:rich>
          </c:tx>
          <c:overlay val="0"/>
        </c:title>
        <c:numFmt formatCode="General" sourceLinked="1"/>
        <c:majorTickMark val="out"/>
        <c:minorTickMark val="none"/>
        <c:tickLblPos val="nextTo"/>
        <c:txPr>
          <a:bodyPr/>
          <a:lstStyle/>
          <a:p>
            <a:pPr>
              <a:defRPr sz="1400" b="1">
                <a:solidFill>
                  <a:schemeClr val="bg1"/>
                </a:solidFill>
                <a:latin typeface="Helvetica"/>
                <a:cs typeface="Helvetica"/>
              </a:defRPr>
            </a:pPr>
            <a:endParaRPr lang="en-US"/>
          </a:p>
        </c:txPr>
        <c:crossAx val="497912424"/>
        <c:crosses val="autoZero"/>
        <c:crossBetween val="between"/>
      </c:valAx>
      <c:spPr>
        <a:solidFill>
          <a:schemeClr val="bg1">
            <a:lumMod val="50000"/>
          </a:schemeClr>
        </a:solidFill>
      </c:spPr>
    </c:plotArea>
    <c:plotVisOnly val="1"/>
    <c:dispBlanksAs val="gap"/>
    <c:showDLblsOverMax val="0"/>
  </c:chart>
  <c:spPr>
    <a:solidFill>
      <a:schemeClr val="tx1"/>
    </a:solidFill>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088837783091"/>
          <c:y val="0.169432085181492"/>
          <c:w val="0.837568802449017"/>
          <c:h val="0.80611399557588"/>
        </c:manualLayout>
      </c:layout>
      <c:lineChart>
        <c:grouping val="standard"/>
        <c:varyColors val="0"/>
        <c:ser>
          <c:idx val="0"/>
          <c:order val="0"/>
          <c:tx>
            <c:v>Likelihood</c:v>
          </c:tx>
          <c:spPr>
            <a:ln>
              <a:solidFill>
                <a:schemeClr val="tx1"/>
              </a:solidFill>
            </a:ln>
          </c:spPr>
          <c:marker>
            <c:symbol val="none"/>
          </c:marker>
          <c:cat>
            <c:numRef>
              <c:f>Sheet2!$A$2:$A$8</c:f>
              <c:numCache>
                <c:formatCode>General</c:formatCode>
                <c:ptCount val="7"/>
                <c:pt idx="0">
                  <c:v>1.0</c:v>
                </c:pt>
                <c:pt idx="1">
                  <c:v>2.0</c:v>
                </c:pt>
                <c:pt idx="2">
                  <c:v>3.0</c:v>
                </c:pt>
                <c:pt idx="3">
                  <c:v>4.0</c:v>
                </c:pt>
                <c:pt idx="4">
                  <c:v>5.0</c:v>
                </c:pt>
                <c:pt idx="5">
                  <c:v>6.0</c:v>
                </c:pt>
                <c:pt idx="6">
                  <c:v>7.0</c:v>
                </c:pt>
              </c:numCache>
            </c:numRef>
          </c:cat>
          <c:val>
            <c:numRef>
              <c:f>Sheet2!$B$2:$B$8</c:f>
              <c:numCache>
                <c:formatCode>General</c:formatCode>
                <c:ptCount val="7"/>
                <c:pt idx="0">
                  <c:v>5.0</c:v>
                </c:pt>
                <c:pt idx="1">
                  <c:v>7.0</c:v>
                </c:pt>
                <c:pt idx="2">
                  <c:v>7.0</c:v>
                </c:pt>
                <c:pt idx="3">
                  <c:v>5.0</c:v>
                </c:pt>
                <c:pt idx="4">
                  <c:v>3.0</c:v>
                </c:pt>
                <c:pt idx="5">
                  <c:v>2.0</c:v>
                </c:pt>
                <c:pt idx="6">
                  <c:v>1.0</c:v>
                </c:pt>
              </c:numCache>
            </c:numRef>
          </c:val>
          <c:smooth val="1"/>
        </c:ser>
        <c:dLbls>
          <c:showLegendKey val="0"/>
          <c:showVal val="0"/>
          <c:showCatName val="0"/>
          <c:showSerName val="0"/>
          <c:showPercent val="0"/>
          <c:showBubbleSize val="0"/>
        </c:dLbls>
        <c:marker val="1"/>
        <c:smooth val="0"/>
        <c:axId val="497944600"/>
        <c:axId val="497948120"/>
      </c:lineChart>
      <c:catAx>
        <c:axId val="497944600"/>
        <c:scaling>
          <c:orientation val="minMax"/>
        </c:scaling>
        <c:delete val="0"/>
        <c:axPos val="b"/>
        <c:numFmt formatCode="General" sourceLinked="1"/>
        <c:majorTickMark val="out"/>
        <c:minorTickMark val="none"/>
        <c:tickLblPos val="low"/>
        <c:spPr>
          <a:solidFill>
            <a:schemeClr val="tx1"/>
          </a:solidFill>
          <a:ln w="38100">
            <a:solidFill>
              <a:schemeClr val="tx1">
                <a:lumMod val="95000"/>
                <a:lumOff val="5000"/>
              </a:schemeClr>
            </a:solidFill>
            <a:prstDash val="dash"/>
          </a:ln>
        </c:spPr>
        <c:txPr>
          <a:bodyPr/>
          <a:lstStyle/>
          <a:p>
            <a:pPr>
              <a:defRPr sz="1800">
                <a:solidFill>
                  <a:srgbClr val="FFFFFF"/>
                </a:solidFill>
              </a:defRPr>
            </a:pPr>
            <a:endParaRPr lang="en-US"/>
          </a:p>
        </c:txPr>
        <c:crossAx val="497948120"/>
        <c:crosses val="autoZero"/>
        <c:auto val="1"/>
        <c:lblAlgn val="ctr"/>
        <c:lblOffset val="100"/>
        <c:noMultiLvlLbl val="0"/>
      </c:catAx>
      <c:valAx>
        <c:axId val="497948120"/>
        <c:scaling>
          <c:orientation val="minMax"/>
        </c:scaling>
        <c:delete val="0"/>
        <c:axPos val="l"/>
        <c:title>
          <c:tx>
            <c:rich>
              <a:bodyPr rot="-5400000" vert="horz"/>
              <a:lstStyle/>
              <a:p>
                <a:pPr>
                  <a:defRPr/>
                </a:pPr>
                <a:r>
                  <a:rPr lang="en-US" sz="1800">
                    <a:solidFill>
                      <a:srgbClr val="FFFFFF"/>
                    </a:solidFill>
                    <a:latin typeface="Helvetica"/>
                    <a:cs typeface="Helvetica"/>
                  </a:rPr>
                  <a:t>Likelihood</a:t>
                </a:r>
              </a:p>
            </c:rich>
          </c:tx>
          <c:overlay val="0"/>
        </c:title>
        <c:numFmt formatCode="General" sourceLinked="1"/>
        <c:majorTickMark val="out"/>
        <c:minorTickMark val="none"/>
        <c:tickLblPos val="nextTo"/>
        <c:txPr>
          <a:bodyPr/>
          <a:lstStyle/>
          <a:p>
            <a:pPr>
              <a:defRPr sz="1400" b="1">
                <a:solidFill>
                  <a:schemeClr val="bg1"/>
                </a:solidFill>
                <a:latin typeface="Helvetica"/>
                <a:cs typeface="Helvetica"/>
              </a:defRPr>
            </a:pPr>
            <a:endParaRPr lang="en-US"/>
          </a:p>
        </c:txPr>
        <c:crossAx val="497944600"/>
        <c:crosses val="autoZero"/>
        <c:crossBetween val="between"/>
      </c:valAx>
      <c:spPr>
        <a:solidFill>
          <a:schemeClr val="bg1">
            <a:lumMod val="50000"/>
          </a:schemeClr>
        </a:solidFill>
      </c:spPr>
    </c:plotArea>
    <c:plotVisOnly val="1"/>
    <c:dispBlanksAs val="gap"/>
    <c:showDLblsOverMax val="0"/>
  </c:chart>
  <c:spPr>
    <a:solidFill>
      <a:schemeClr val="tx1"/>
    </a:solidFill>
  </c:spPr>
  <c:externalData r:id="rId2">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FC86B8-9D34-4146-AB06-9FE66EE76955}" type="datetimeFigureOut">
              <a:rPr lang="en-CA" smtClean="0"/>
              <a:pPr/>
              <a:t>11-12-06</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A03583-7EF5-4D2B-9282-492ED6AF1788}" type="slidenum">
              <a:rPr lang="en-CA" smtClean="0"/>
              <a:pPr/>
              <a:t>‹#›</a:t>
            </a:fld>
            <a:endParaRPr lang="en-CA"/>
          </a:p>
        </p:txBody>
      </p:sp>
    </p:spTree>
    <p:extLst>
      <p:ext uri="{BB962C8B-B14F-4D97-AF65-F5344CB8AC3E}">
        <p14:creationId xmlns:p14="http://schemas.microsoft.com/office/powerpoint/2010/main" val="408523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Going over the fundamentals</a:t>
            </a:r>
            <a:r>
              <a:rPr lang="en-US" baseline="0" dirty="0" smtClean="0"/>
              <a:t> of TMS and outlining its use in cognitive neuroscience</a:t>
            </a:r>
            <a:endParaRPr lang="en-US"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a:t>
            </a:fld>
            <a:endParaRPr lang="en-CA"/>
          </a:p>
        </p:txBody>
      </p:sp>
    </p:spTree>
    <p:extLst>
      <p:ext uri="{BB962C8B-B14F-4D97-AF65-F5344CB8AC3E}">
        <p14:creationId xmlns:p14="http://schemas.microsoft.com/office/powerpoint/2010/main" val="125163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which I will employ</a:t>
            </a:r>
            <a:r>
              <a:rPr lang="en-US" baseline="0" dirty="0" smtClean="0"/>
              <a:t> concepts from information theory (surprise and entropy) to attempt to model some neurophysiological data we’ve obtained using TMS</a:t>
            </a:r>
            <a:endParaRPr lang="en-US"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a:t>
            </a:fld>
            <a:endParaRPr lang="en-CA"/>
          </a:p>
        </p:txBody>
      </p:sp>
    </p:spTree>
    <p:extLst>
      <p:ext uri="{BB962C8B-B14F-4D97-AF65-F5344CB8AC3E}">
        <p14:creationId xmlns:p14="http://schemas.microsoft.com/office/powerpoint/2010/main" val="3670058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which I will try to briefly</a:t>
            </a:r>
            <a:r>
              <a:rPr lang="en-US" baseline="0" dirty="0" smtClean="0"/>
              <a:t> and cohesively summarize my conclusions after attempting to model this data</a:t>
            </a:r>
            <a:endParaRPr lang="en-US"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a:t>
            </a:fld>
            <a:endParaRPr lang="en-CA"/>
          </a:p>
        </p:txBody>
      </p:sp>
    </p:spTree>
    <p:extLst>
      <p:ext uri="{BB962C8B-B14F-4D97-AF65-F5344CB8AC3E}">
        <p14:creationId xmlns:p14="http://schemas.microsoft.com/office/powerpoint/2010/main" val="27005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In order to address this question I first</a:t>
            </a:r>
            <a:r>
              <a:rPr lang="en-CA" baseline="0" dirty="0" smtClean="0"/>
              <a:t> need to make sure that everyone has a general idea of what TMS is, so</a:t>
            </a:r>
            <a:r>
              <a:rPr lang="en-US" baseline="0" dirty="0" smtClean="0"/>
              <a:t>…</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a:t>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To many,</a:t>
            </a:r>
            <a:r>
              <a:rPr lang="en-CA" baseline="0" dirty="0" smtClean="0"/>
              <a:t> the idea of neural stimulation may seem inherently invasive, hence the question: why use TMS in the first place?</a:t>
            </a:r>
          </a:p>
          <a:p>
            <a:r>
              <a:rPr lang="en-CA" baseline="0" dirty="0" smtClean="0"/>
              <a:t>- This question seems especially apt once we consider the plethora of brain imaging tools available to contemporary neuroscientists</a:t>
            </a:r>
            <a:r>
              <a:rPr lang="en-US" baseline="0" dirty="0" smtClean="0"/>
              <a:t>…</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a:t>
            </a:fld>
            <a:endParaRPr lang="en-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smtClean="0"/>
              <a:t>Specifically, fMRI, PET,</a:t>
            </a:r>
            <a:r>
              <a:rPr lang="en-CA" baseline="0" dirty="0" smtClean="0"/>
              <a:t> MEG and ERPs are all hugely illuminating tools, providing us with a means to open the laundry machine without turning it off, and we can now </a:t>
            </a:r>
            <a:r>
              <a:rPr lang="en-CA" b="0" dirty="0" smtClean="0"/>
              <a:t>study the neural substrates of the various</a:t>
            </a:r>
            <a:r>
              <a:rPr lang="en-CA" b="0" baseline="0" dirty="0" smtClean="0"/>
              <a:t> foci of cognitive neuroscience (i.e. Perception, attention, memory, action, imagery, language and consciousness) </a:t>
            </a:r>
            <a:r>
              <a:rPr lang="en-CA" b="0" dirty="0" smtClean="0"/>
              <a:t>in awake, behaving humans</a:t>
            </a:r>
          </a:p>
          <a:p>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a:t>
            </a:fld>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CA" b="0" dirty="0" smtClean="0"/>
              <a:t>For example, this impressive fMRI</a:t>
            </a:r>
            <a:r>
              <a:rPr lang="en-CA" b="0" baseline="0" dirty="0" smtClean="0"/>
              <a:t> image has localized, within object-processing areas of the human ventral stream, </a:t>
            </a:r>
            <a:r>
              <a:rPr lang="en-CA" b="0" baseline="0" dirty="0" err="1" smtClean="0"/>
              <a:t>subregions</a:t>
            </a:r>
            <a:r>
              <a:rPr lang="en-CA" b="0" baseline="0" dirty="0" smtClean="0"/>
              <a:t> that are selectively engaged during the perception of buildings, or faces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CA" b="0" baseline="0" dirty="0" smtClean="0"/>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CA" b="0" baseline="0" dirty="0" smtClean="0"/>
              <a:t>Therefore, this study showed that discrete neuronal substrates underlie these two different object classes in the lateral occipital complex</a:t>
            </a:r>
            <a:r>
              <a:rPr lang="en-US" b="0" baseline="0" dirty="0" smtClean="0"/>
              <a:t>… </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a:t>
            </a:fld>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In</a:t>
            </a:r>
            <a:r>
              <a:rPr lang="en-CA" baseline="0" dirty="0" smtClean="0"/>
              <a:t> this image, we </a:t>
            </a:r>
            <a:r>
              <a:rPr lang="en-CA" b="1" baseline="0" dirty="0" smtClean="0"/>
              <a:t>can</a:t>
            </a:r>
            <a:r>
              <a:rPr lang="en-CA" baseline="0" dirty="0" smtClean="0"/>
              <a:t> say that regional </a:t>
            </a:r>
            <a:r>
              <a:rPr lang="en-CA" baseline="0" dirty="0" err="1" smtClean="0"/>
              <a:t>cebebral</a:t>
            </a:r>
            <a:r>
              <a:rPr lang="en-CA" baseline="0" dirty="0" smtClean="0"/>
              <a:t> blood flow (strongly associated with neural activity) has increased in these discrete </a:t>
            </a:r>
            <a:r>
              <a:rPr lang="en-CA" baseline="0" dirty="0" err="1" smtClean="0"/>
              <a:t>subregions</a:t>
            </a:r>
            <a:r>
              <a:rPr lang="en-CA" baseline="0" dirty="0" smtClean="0"/>
              <a:t> when subjects are perceiving faces or buildings</a:t>
            </a:r>
          </a:p>
          <a:p>
            <a:pPr lvl="1">
              <a:buFont typeface="Arial" pitchFamily="34" charset="0"/>
              <a:buChar char="•"/>
            </a:pPr>
            <a:r>
              <a:rPr lang="en-CA" baseline="0" dirty="0" smtClean="0"/>
              <a:t> But, we</a:t>
            </a:r>
            <a:r>
              <a:rPr lang="en-CA" b="1" baseline="0" dirty="0" smtClean="0"/>
              <a:t> cannot </a:t>
            </a:r>
            <a:r>
              <a:rPr lang="en-CA" baseline="0" dirty="0" smtClean="0"/>
              <a:t>say that these region are essential for the perception of faces and buildings</a:t>
            </a:r>
          </a:p>
          <a:p>
            <a:pPr lvl="1">
              <a:buFont typeface="Arial" pitchFamily="34" charset="0"/>
              <a:buChar char="•"/>
            </a:pPr>
            <a:r>
              <a:rPr lang="en-CA" baseline="0" dirty="0" smtClean="0"/>
              <a:t>It could be that these regions are associated with a particular task adopted by participants, or that those regions are involved in the inhibition of peripheral information, </a:t>
            </a:r>
          </a:p>
          <a:p>
            <a:pPr lvl="1">
              <a:buFont typeface="Arial" pitchFamily="34" charset="0"/>
              <a:buChar char="•"/>
            </a:pPr>
            <a:r>
              <a:rPr lang="en-CA" baseline="0" dirty="0" smtClean="0"/>
              <a:t>Essentially, we need to triangulate multiple methods to establish a clearer causal relationship between a particular neuronal substrate and experimental condition</a:t>
            </a:r>
            <a:r>
              <a:rPr lang="en-US" baseline="0" dirty="0" smtClean="0"/>
              <a:t>…</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9</a:t>
            </a:fld>
            <a:endParaRPr lang="en-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(let</a:t>
            </a:r>
            <a:r>
              <a:rPr lang="en-CA" baseline="0" dirty="0" smtClean="0"/>
              <a:t> me restate that I am not saying one or the other between neuroimaging or stimulation, simply that a triangulation of multiple methodologies is essential)</a:t>
            </a:r>
          </a:p>
          <a:p>
            <a:endParaRPr lang="en-CA" baseline="0" dirty="0" smtClean="0"/>
          </a:p>
          <a:p>
            <a:r>
              <a:rPr lang="en-CA" dirty="0" smtClean="0"/>
              <a:t>Next, I will get into the nuts and bolts of TMS for those of you who are unfamiliar</a:t>
            </a:r>
            <a:r>
              <a:rPr lang="en-CA" baseline="0" dirty="0" smtClean="0"/>
              <a:t> with it, and then how exactly it allows us to expand upon neuroimaging data to infer causal brain-behaviour relationships </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10</a:t>
            </a:fld>
            <a:endParaRPr lang="en-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11</a:t>
            </a:fld>
            <a:endParaRPr lang="en-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12</a:t>
            </a:fld>
            <a:endParaRPr lang="en-C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In the</a:t>
            </a:r>
            <a:r>
              <a:rPr lang="en-CA" baseline="0" dirty="0" smtClean="0"/>
              <a:t> case of TMS....</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13</a:t>
            </a:fld>
            <a:endParaRPr lang="en-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The coil through which current is running is the stimulator, which is...</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14</a:t>
            </a:fld>
            <a:endParaRPr lang="en-CA"/>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...held against a participant’s</a:t>
            </a:r>
            <a:r>
              <a:rPr lang="en-CA" baseline="0" dirty="0" smtClean="0"/>
              <a:t> head and...</a:t>
            </a:r>
          </a:p>
        </p:txBody>
      </p:sp>
      <p:sp>
        <p:nvSpPr>
          <p:cNvPr id="4" name="Slide Number Placeholder 3"/>
          <p:cNvSpPr>
            <a:spLocks noGrp="1"/>
          </p:cNvSpPr>
          <p:nvPr>
            <p:ph type="sldNum" sz="quarter" idx="10"/>
          </p:nvPr>
        </p:nvSpPr>
        <p:spPr/>
        <p:txBody>
          <a:bodyPr/>
          <a:lstStyle/>
          <a:p>
            <a:fld id="{FCA03583-7EF5-4D2B-9282-492ED6AF1788}" type="slidenum">
              <a:rPr lang="en-CA" smtClean="0"/>
              <a:pPr/>
              <a:t>15</a:t>
            </a:fld>
            <a:endParaRPr lang="en-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...as a brief pulse of current passes through it, a magnetic field is generated that passes through the</a:t>
            </a:r>
            <a:r>
              <a:rPr lang="en-CA" baseline="0" dirty="0" smtClean="0"/>
              <a:t> participants’ scalp and skull with negligible attenuation</a:t>
            </a:r>
          </a:p>
          <a:p>
            <a:r>
              <a:rPr lang="en-CA" baseline="0" dirty="0" smtClean="0"/>
              <a:t>	- This induces a current in the subject’s brain, and this stimulates neural tissue</a:t>
            </a:r>
          </a:p>
          <a:p>
            <a:endParaRPr lang="en-CA" baseline="0" dirty="0" smtClean="0"/>
          </a:p>
          <a:p>
            <a:r>
              <a:rPr lang="en-CA" baseline="0" dirty="0" smtClean="0"/>
              <a:t>- What possible uses can this have for cognitive neuroscientists??</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16</a:t>
            </a:fld>
            <a:endParaRPr lang="en-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One</a:t>
            </a:r>
            <a:r>
              <a:rPr lang="en-CA" baseline="0" dirty="0" smtClean="0"/>
              <a:t> possible use is neural intervention, and to illustrate what this means, lets reconsider the occipital face area that was previously shown...</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17</a:t>
            </a:fld>
            <a:endParaRPr lang="en-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Using </a:t>
            </a:r>
            <a:r>
              <a:rPr lang="en-CA" dirty="0" err="1" smtClean="0"/>
              <a:t>fMRI</a:t>
            </a:r>
            <a:r>
              <a:rPr lang="en-CA" dirty="0" smtClean="0"/>
              <a:t>,</a:t>
            </a:r>
            <a:r>
              <a:rPr lang="en-CA" baseline="0" dirty="0" smtClean="0"/>
              <a:t> remember there were specific </a:t>
            </a:r>
            <a:r>
              <a:rPr lang="en-CA" baseline="0" dirty="0" err="1" smtClean="0"/>
              <a:t>subregions</a:t>
            </a:r>
            <a:r>
              <a:rPr lang="en-CA" baseline="0" dirty="0" smtClean="0"/>
              <a:t> displaying increased regional cerebral blood flow when people observed houses or faces...</a:t>
            </a:r>
          </a:p>
          <a:p>
            <a:endParaRPr lang="en-CA" baseline="0" dirty="0" smtClean="0"/>
          </a:p>
          <a:p>
            <a:r>
              <a:rPr lang="en-CA" baseline="0" dirty="0" smtClean="0"/>
              <a:t>- Using a neural intervention paradigm...</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18</a:t>
            </a:fld>
            <a:endParaRPr lang="en-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a:t>
            </a:r>
            <a:r>
              <a:rPr lang="en-CA" baseline="0" dirty="0" smtClean="0"/>
              <a:t> Pitcher and colleagues targeted the occipital face area before participants observed faces and houses, and had them perform a delayed match-to-sample task</a:t>
            </a:r>
          </a:p>
          <a:p>
            <a:r>
              <a:rPr lang="en-CA" baseline="0" dirty="0" smtClean="0"/>
              <a:t>	- Specifically, they used a repetitive TMS paradigm, in which a train of TMS pulses are delivered and ongoing neuronal processing in the target region is disrupted</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19</a:t>
            </a:fld>
            <a:endParaRPr lang="en-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a:t>
            </a:r>
            <a:r>
              <a:rPr lang="en-CA" baseline="0" dirty="0" smtClean="0"/>
              <a:t> Showed that TMS to a right occipital face area disrupted accurate perception of aspects of the face stimuli, but had no effect on accurate perception of the house stimulus</a:t>
            </a:r>
          </a:p>
          <a:p>
            <a:endParaRPr lang="en-CA" baseline="0" dirty="0" smtClean="0"/>
          </a:p>
          <a:p>
            <a:r>
              <a:rPr lang="en-CA" baseline="0" dirty="0" smtClean="0"/>
              <a:t>- Here, TMS is disorganizing ongoing processing related to the features of the observed face, which is strong evidence that activity in this occipital face area is causally-related to accurate face perception</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20</a:t>
            </a:fld>
            <a:endParaRPr lang="en-CA"/>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This type of</a:t>
            </a:r>
            <a:r>
              <a:rPr lang="en-CA" baseline="0" dirty="0" smtClean="0"/>
              <a:t> study typifies the use of TMS as a neural intervention, or virtual lesion, technique, but this is not what we will be discussing for the remainder of the talk,, instead we will be focussing on...</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21</a:t>
            </a:fld>
            <a:endParaRPr lang="en-CA"/>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 The use of TMS to measure event-related changes in motor-</a:t>
            </a:r>
            <a:r>
              <a:rPr lang="en-CA" dirty="0" err="1" smtClean="0"/>
              <a:t>corticospinal</a:t>
            </a:r>
            <a:r>
              <a:rPr lang="en-CA" dirty="0" smtClean="0"/>
              <a:t> excitability,</a:t>
            </a:r>
            <a:r>
              <a:rPr lang="en-CA" baseline="0" dirty="0" smtClean="0"/>
              <a:t> most of you should know a little about the motor </a:t>
            </a:r>
            <a:r>
              <a:rPr lang="en-CA" baseline="0" dirty="0" err="1" smtClean="0"/>
              <a:t>homonculus</a:t>
            </a:r>
            <a:endParaRPr lang="en-CA" baseline="0" dirty="0" smtClean="0"/>
          </a:p>
          <a:p>
            <a:pPr lvl="1">
              <a:buFont typeface="Arial" pitchFamily="34" charset="0"/>
              <a:buChar char="•"/>
            </a:pPr>
            <a:r>
              <a:rPr lang="en-CA" baseline="0" dirty="0" smtClean="0"/>
              <a:t>Basically the human primary motor cortex is organized as a map of the </a:t>
            </a:r>
            <a:r>
              <a:rPr lang="en-CA" baseline="0" dirty="0" err="1" smtClean="0"/>
              <a:t>contralateral</a:t>
            </a:r>
            <a:r>
              <a:rPr lang="en-CA" baseline="0" dirty="0" smtClean="0"/>
              <a:t> side of the body, and when we execute a voluntary action with a particular part of our body, a corresponding section of this “map” or </a:t>
            </a:r>
            <a:r>
              <a:rPr lang="en-CA" baseline="0" dirty="0" err="1" smtClean="0"/>
              <a:t>homonculus</a:t>
            </a:r>
            <a:r>
              <a:rPr lang="en-CA" baseline="0" dirty="0" smtClean="0"/>
              <a:t> underlies that movement</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22</a:t>
            </a:fld>
            <a:endParaRPr lang="en-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 In</a:t>
            </a:r>
            <a:r>
              <a:rPr lang="en-CA" baseline="0" dirty="0" smtClean="0"/>
              <a:t> our experiments, we place the coil over the hand representation of M1...</a:t>
            </a:r>
          </a:p>
          <a:p>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23</a:t>
            </a:fld>
            <a:endParaRPr lang="en-CA"/>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CA" dirty="0" smtClean="0"/>
              <a:t>A</a:t>
            </a:r>
            <a:r>
              <a:rPr lang="en-US" dirty="0" err="1" smtClean="0"/>
              <a:t>nd</a:t>
            </a:r>
            <a:r>
              <a:rPr lang="en-US" baseline="0" dirty="0" smtClean="0"/>
              <a:t> record </a:t>
            </a:r>
            <a:r>
              <a:rPr lang="en-US" baseline="0" dirty="0" err="1" smtClean="0"/>
              <a:t>electromyographic</a:t>
            </a:r>
            <a:r>
              <a:rPr lang="en-US" baseline="0" dirty="0" smtClean="0"/>
              <a:t> activity by placing electrodes on a muscle in their hand (that is not her hand btw)</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24</a:t>
            </a:fld>
            <a:endParaRPr lang="en-CA"/>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CA" dirty="0" smtClean="0"/>
              <a:t>And deliver single TMS pulses, inducing</a:t>
            </a:r>
            <a:r>
              <a:rPr lang="en-CA" baseline="0" dirty="0" smtClean="0"/>
              <a:t> a slight muscle contraction in their hand, which we record using electromyography (mention that the hand is passive)</a:t>
            </a:r>
          </a:p>
          <a:p>
            <a:pPr lvl="1">
              <a:buFontTx/>
              <a:buChar char="-"/>
            </a:pPr>
            <a:r>
              <a:rPr lang="en-CA" baseline="0" dirty="0" smtClean="0"/>
              <a:t>In this depiction, the computer screen in front of participants displays an innocuous fixation cross, and the amplitude of the muscle contractions in this condition would give us a baseline measure of </a:t>
            </a:r>
            <a:r>
              <a:rPr lang="en-CA" baseline="0" dirty="0" err="1" smtClean="0"/>
              <a:t>corticospinal</a:t>
            </a:r>
            <a:r>
              <a:rPr lang="en-CA" baseline="0" dirty="0" smtClean="0"/>
              <a:t> excitability, however...</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25</a:t>
            </a:fld>
            <a:endParaRPr lang="en-CA"/>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CA" dirty="0" smtClean="0"/>
              <a:t>I should note that</a:t>
            </a:r>
            <a:r>
              <a:rPr lang="en-CA" baseline="0" dirty="0" smtClean="0"/>
              <a:t> I will likely be switching between motor evoked potential (or MEP) and </a:t>
            </a:r>
            <a:r>
              <a:rPr lang="en-CA" baseline="0" dirty="0" err="1" smtClean="0"/>
              <a:t>corticospinal</a:t>
            </a:r>
            <a:r>
              <a:rPr lang="en-CA" baseline="0" dirty="0" smtClean="0"/>
              <a:t> excitability in this talk</a:t>
            </a:r>
            <a:r>
              <a:rPr lang="en-US" baseline="0" dirty="0" smtClean="0"/>
              <a:t>… the MEP is simply our dependent measure to operationalize CSE, they are fairly interchangeable…</a:t>
            </a:r>
            <a:endParaRPr lang="en-CA"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26</a:t>
            </a:fld>
            <a:endParaRPr lang="en-CA"/>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CA" dirty="0" smtClean="0"/>
              <a:t>If we were to perform</a:t>
            </a:r>
            <a:r>
              <a:rPr lang="en-CA" baseline="0" dirty="0" smtClean="0"/>
              <a:t> the same stimulation procedures whilst participants’ observe an event of interest (in this case another person executing a movement), then an increase in the average amplitude of those muscle contractions suggests that there is </a:t>
            </a:r>
            <a:r>
              <a:rPr lang="en-CA" baseline="0" dirty="0" err="1" smtClean="0"/>
              <a:t>phasic</a:t>
            </a:r>
            <a:r>
              <a:rPr lang="en-CA" baseline="0" dirty="0" smtClean="0"/>
              <a:t> motor </a:t>
            </a:r>
            <a:r>
              <a:rPr lang="en-CA" baseline="0" dirty="0" err="1" smtClean="0"/>
              <a:t>corticospinal</a:t>
            </a:r>
            <a:r>
              <a:rPr lang="en-CA" baseline="0" dirty="0" smtClean="0"/>
              <a:t> excitability that is caused by the on-screen event </a:t>
            </a:r>
          </a:p>
          <a:p>
            <a:pPr lvl="1">
              <a:buFontTx/>
              <a:buChar char="-"/>
            </a:pPr>
            <a:r>
              <a:rPr lang="en-CA" baseline="0" dirty="0" smtClean="0"/>
              <a:t>In future slides, this muscle contraction will be referred to as a motor-evoked potential (MEP)</a:t>
            </a:r>
          </a:p>
          <a:p>
            <a:pPr lvl="1">
              <a:buFontTx/>
              <a:buChar char="-"/>
            </a:pPr>
            <a:endParaRPr lang="en-CA" baseline="0"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27</a:t>
            </a:fld>
            <a:endParaRPr lang="en-CA"/>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baseline="0" dirty="0" smtClean="0"/>
              <a:t>This enhanced CSE is muscle-specific, meaning that if we observed a foot performing the same action, MEPs recorded from a hand muscle would not be enhanced in the same fashion</a:t>
            </a:r>
          </a:p>
          <a:p>
            <a:pPr lvl="1">
              <a:buFontTx/>
              <a:buChar char="-"/>
            </a:pPr>
            <a:endParaRPr lang="en-CA" b="1" i="1" baseline="0"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28</a:t>
            </a:fld>
            <a:endParaRPr lang="en-CA"/>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baseline="0" dirty="0" smtClean="0"/>
              <a:t>People have argued that motor resonance, or the mirroring of others’ actions in an observer’s motor system, is the cortical mechanism underlying imitation</a:t>
            </a:r>
          </a:p>
          <a:p>
            <a:pPr lvl="1">
              <a:buFontTx/>
              <a:buChar char="-"/>
            </a:pPr>
            <a:endParaRPr lang="en-CA" b="1" i="1" baseline="0" dirty="0" smtClean="0"/>
          </a:p>
          <a:p>
            <a:pPr lvl="2">
              <a:buFontTx/>
              <a:buChar char="-"/>
            </a:pPr>
            <a:r>
              <a:rPr lang="en-CA" b="1" i="1" baseline="0" smtClean="0"/>
              <a:t>This </a:t>
            </a:r>
            <a:r>
              <a:rPr lang="en-CA" b="1" i="1" baseline="0" dirty="0" smtClean="0"/>
              <a:t>type of motor-evoked potential data shows that motor cortical activity during action observation is muscle-specific, improving our ability to assert that covert motor resonance during passive action observation is substrate to overt motor replication during imitation</a:t>
            </a:r>
          </a:p>
          <a:p>
            <a:pPr lvl="2">
              <a:buFontTx/>
              <a:buNone/>
            </a:pPr>
            <a:endParaRPr lang="en-CA" b="1" i="1" baseline="0" dirty="0" smtClean="0"/>
          </a:p>
          <a:p>
            <a:pPr lvl="2">
              <a:buFontTx/>
              <a:buChar char="-"/>
            </a:pPr>
            <a:r>
              <a:rPr lang="en-CA" b="1" i="1" baseline="0" dirty="0" smtClean="0"/>
              <a:t>This intro was just to give you an idea of what we’ll be looking at, specifically motor-evoked potentials, now lets move on to how exactly we typically analyze motor-evoked potential datasets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29</a:t>
            </a:fld>
            <a:endParaRPr lang="en-CA"/>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30</a:t>
            </a:fld>
            <a:endParaRPr lang="en-CA"/>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Average of all observations during the baseline phase</a:t>
            </a:r>
            <a:r>
              <a:rPr lang="en-CA" b="1" i="1" baseline="0" dirty="0" smtClean="0"/>
              <a:t> would give us one measure of baseline CSE (outliers removed from image and analysis)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31</a:t>
            </a:fld>
            <a:endParaRPr lang="en-CA"/>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dirty="0" smtClean="0"/>
              <a:t>Average of all observations during the experimental block </a:t>
            </a:r>
            <a:r>
              <a:rPr lang="en-CA" b="1" i="1" baseline="0" dirty="0" smtClean="0"/>
              <a:t>would give us one measure of event-related CSE (outliers removed from image and analysis)</a:t>
            </a:r>
            <a:endParaRPr lang="en-CA" b="1" i="1" dirty="0" smtClean="0"/>
          </a:p>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32</a:t>
            </a:fld>
            <a:endParaRPr lang="en-CA"/>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MEP facilitation ratios calculated</a:t>
            </a:r>
            <a:r>
              <a:rPr lang="en-CA" b="1" i="1" baseline="0" dirty="0" smtClean="0"/>
              <a:t> for participants with the average P-P amplitude in the experimental phase divided by that of the baseline phase</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33</a:t>
            </a:fld>
            <a:endParaRPr lang="en-CA"/>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We can then compare these MEP facilitation ratios</a:t>
            </a:r>
            <a:r>
              <a:rPr lang="en-CA" b="1" i="1" baseline="0" dirty="0" smtClean="0"/>
              <a:t> between different experimental stimuli, and test them using traditional mean comparison techniques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34</a:t>
            </a:fld>
            <a:endParaRPr lang="en-CA"/>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Participant’s MEPs during the observation</a:t>
            </a:r>
            <a:r>
              <a:rPr lang="en-CA" b="1" i="1" baseline="0" dirty="0" smtClean="0"/>
              <a:t> of the same stimulus over the course of a block display a lot of variability</a:t>
            </a:r>
          </a:p>
          <a:p>
            <a:pPr lvl="2">
              <a:buFontTx/>
              <a:buChar char="-"/>
            </a:pPr>
            <a:r>
              <a:rPr lang="en-CA" b="1" i="1" baseline="0" dirty="0" smtClean="0"/>
              <a:t>Although we get rid of extreme values and test our hypotheses at the trial level to make sure that this variability does not wreck our traditional analysis, the reasons for this variability are quite poorly understood, and I decided to take this assignment as an excuse to try to figure out why that it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35</a:t>
            </a:fld>
            <a:endParaRPr lang="en-CA"/>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 recent paper by Mars and colleagues</a:t>
            </a:r>
            <a:r>
              <a:rPr lang="en-CA" b="1" i="1" baseline="0" dirty="0" smtClean="0"/>
              <a:t> points to a potential solution to this problem</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36</a:t>
            </a:fld>
            <a:endParaRPr lang="en-CA"/>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Concluded that, computationally speaking, it may be efficient to focus processing resources on such surprising events, because</a:t>
            </a:r>
            <a:r>
              <a:rPr lang="en-CA" b="1" i="1" baseline="0" dirty="0" smtClean="0"/>
              <a:t> these contain the most information to an observer</a:t>
            </a:r>
            <a:endParaRPr lang="en-US"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endParaRPr lang="en-CA" b="1" i="1" dirty="0" smtClean="0"/>
          </a:p>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37</a:t>
            </a:fld>
            <a:endParaRPr lang="en-CA"/>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dirty="0" smtClean="0"/>
              <a:t>So,</a:t>
            </a:r>
            <a:r>
              <a:rPr lang="en-CA" b="1" i="1" baseline="0" dirty="0" smtClean="0"/>
              <a:t> I decided to use the same mathematical principles to model surprise associated with the delivery of TMS pulses in an old dataset from our lab</a:t>
            </a:r>
          </a:p>
        </p:txBody>
      </p:sp>
      <p:sp>
        <p:nvSpPr>
          <p:cNvPr id="4" name="Slide Number Placeholder 3"/>
          <p:cNvSpPr>
            <a:spLocks noGrp="1"/>
          </p:cNvSpPr>
          <p:nvPr>
            <p:ph type="sldNum" sz="quarter" idx="10"/>
          </p:nvPr>
        </p:nvSpPr>
        <p:spPr/>
        <p:txBody>
          <a:bodyPr/>
          <a:lstStyle/>
          <a:p>
            <a:fld id="{FCA03583-7EF5-4D2B-9282-492ED6AF1788}" type="slidenum">
              <a:rPr lang="en-CA" smtClean="0"/>
              <a:pPr/>
              <a:t>38</a:t>
            </a:fld>
            <a:endParaRPr lang="en-CA"/>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dirty="0" smtClean="0"/>
              <a:t>Figure depicts the entire block containing the variable</a:t>
            </a:r>
            <a:r>
              <a:rPr lang="en-CA" b="1" i="1" baseline="0" dirty="0" smtClean="0"/>
              <a:t> MEPs I displayed previously</a:t>
            </a:r>
            <a:r>
              <a:rPr lang="en-US" b="1" i="1" baseline="0" dirty="0" smtClean="0"/>
              <a:t>…</a:t>
            </a:r>
            <a:endParaRPr lang="en-CA"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endParaRPr lang="en-CA" b="1" i="1" baseline="0" dirty="0" smtClean="0"/>
          </a:p>
          <a:p>
            <a:pPr lvl="1">
              <a:buFontTx/>
              <a:buChar char="-"/>
            </a:pPr>
            <a:r>
              <a:rPr lang="en-CA" b="1" i="1" baseline="0" dirty="0" smtClean="0"/>
              <a:t>In order to reduce anticipation effects, we follow a convention from the literature whereby TMS pulses are delivered on only a small number of the total trials in a block (in this case there are 30 TMS pulses in a block of 75 trials, or 40% of total trials </a:t>
            </a:r>
            <a:r>
              <a:rPr lang="en-US" b="1" i="1" baseline="0" dirty="0" smtClean="0"/>
              <a:t>–</a:t>
            </a:r>
            <a:r>
              <a:rPr lang="en-CA" b="1" i="1" baseline="0" dirty="0" smtClean="0"/>
              <a:t> i.e. when the line touches zero, there is no TMS delivered on that trial)</a:t>
            </a:r>
          </a:p>
          <a:p>
            <a:pPr lvl="1">
              <a:buFontTx/>
              <a:buChar char="-"/>
            </a:pPr>
            <a:endParaRPr lang="en-CA" b="1" i="1" baseline="0" dirty="0" smtClean="0"/>
          </a:p>
          <a:p>
            <a:pPr lvl="2">
              <a:buFontTx/>
              <a:buChar char="-"/>
            </a:pPr>
            <a:r>
              <a:rPr lang="en-CA" b="1" i="1" baseline="0" dirty="0" smtClean="0"/>
              <a:t>Therefore, there may be a high degree of surprise associated with MEP delivery, and this may help to account for some of the trial-by-trial fluctuations in MEP amplitudes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39</a:t>
            </a:fld>
            <a:endParaRPr lang="en-CA"/>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So</a:t>
            </a:r>
            <a:r>
              <a:rPr lang="en-CA" b="1" i="1" baseline="0" dirty="0" smtClean="0"/>
              <a:t> how do we quantify surprise?</a:t>
            </a:r>
          </a:p>
          <a:p>
            <a:pPr lvl="1">
              <a:buFontTx/>
              <a:buChar char="-"/>
            </a:pPr>
            <a:endParaRPr lang="en-CA" b="1" i="1" baseline="0" dirty="0" smtClean="0"/>
          </a:p>
          <a:p>
            <a:pPr lvl="2">
              <a:buFontTx/>
              <a:buChar char="-"/>
            </a:pPr>
            <a:r>
              <a:rPr lang="en-CA" b="1" i="1" baseline="0" dirty="0" smtClean="0"/>
              <a:t>The mars and colleagues paper, along with several other recent computational neuroscience papers, uses equations derived from Shannon’s Information Theory,  originally devised to answer problems in signal processing, data compression and communication</a:t>
            </a:r>
            <a:r>
              <a:rPr lang="en-US" b="1" i="1" baseline="0" dirty="0" smtClean="0"/>
              <a:t>…</a:t>
            </a:r>
            <a:endParaRPr lang="en-CA" b="1" i="1"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40</a:t>
            </a:fld>
            <a:endParaRPr lang="en-CA"/>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Information</a:t>
            </a:r>
            <a:r>
              <a:rPr lang="en-CA" b="1" i="1" baseline="0" dirty="0" smtClean="0"/>
              <a:t> Theory</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41</a:t>
            </a:fld>
            <a:endParaRPr lang="en-CA"/>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For</a:t>
            </a:r>
            <a:r>
              <a:rPr lang="en-CA" b="1" i="1" baseline="0" dirty="0" smtClean="0"/>
              <a:t> </a:t>
            </a:r>
            <a:r>
              <a:rPr lang="en-CA" b="1" i="1" baseline="0" dirty="0" err="1" smtClean="0"/>
              <a:t>neuroscientsts</a:t>
            </a:r>
            <a:r>
              <a:rPr lang="en-CA" b="1" i="1" baseline="0" dirty="0" smtClean="0"/>
              <a:t>, the computations from information theory can be used to formally</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42</a:t>
            </a:fld>
            <a:endParaRPr lang="en-CA"/>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Relevant to the present</a:t>
            </a:r>
            <a:r>
              <a:rPr lang="en-CA" b="1" i="1" baseline="0" dirty="0" smtClean="0"/>
              <a:t> </a:t>
            </a:r>
            <a:r>
              <a:rPr lang="en-CA" b="1" i="1" dirty="0" smtClean="0"/>
              <a:t>model are the information quantities of surprise and entropy</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43</a:t>
            </a:fld>
            <a:endParaRPr lang="en-CA"/>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44</a:t>
            </a:fld>
            <a:endParaRPr lang="en-CA"/>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 The expression for this would</a:t>
            </a:r>
            <a:r>
              <a:rPr lang="en-CA" b="1" i="1" baseline="0" dirty="0" smtClean="0"/>
              <a:t> be…</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45</a:t>
            </a:fld>
            <a:endParaRPr lang="en-CA"/>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None/>
            </a:pPr>
            <a:endParaRPr lang="en-CA" b="1" i="1" dirty="0" smtClean="0"/>
          </a:p>
          <a:p>
            <a:pPr lvl="2">
              <a:buFontTx/>
              <a:buChar char="-"/>
            </a:pPr>
            <a:r>
              <a:rPr lang="en-CA" b="1" i="1" dirty="0" smtClean="0"/>
              <a:t> Where</a:t>
            </a:r>
            <a:r>
              <a:rPr lang="en-CA" b="1" i="1" baseline="0" dirty="0" smtClean="0"/>
              <a:t> the little k is for a particular outcome, say the occur</a:t>
            </a:r>
            <a:r>
              <a:rPr lang="en-US" b="1" i="1" baseline="0" dirty="0" smtClean="0"/>
              <a:t>r</a:t>
            </a:r>
            <a:r>
              <a:rPr lang="en-CA" b="1" i="1" baseline="0" dirty="0" err="1" smtClean="0"/>
              <a:t>ence</a:t>
            </a:r>
            <a:r>
              <a:rPr lang="en-CA" b="1" i="1" baseline="0" dirty="0" smtClean="0"/>
              <a:t> of TMS, and the large K is thus a vector at two levels of k (i.e. TMS or non-TMS)</a:t>
            </a:r>
            <a:endParaRPr lang="en-CA" b="1" i="1" dirty="0" smtClean="0"/>
          </a:p>
          <a:p>
            <a:pPr lvl="2">
              <a:buFontTx/>
              <a:buChar char="-"/>
            </a:pPr>
            <a:r>
              <a:rPr lang="en-CA" b="1" i="1" dirty="0" smtClean="0"/>
              <a:t>The prior distribution before any outcomes have been observed assumes knowledge</a:t>
            </a:r>
            <a:r>
              <a:rPr lang="en-CA" b="1" i="1" baseline="0" dirty="0" smtClean="0"/>
              <a:t> of TMS or no TMS trials </a:t>
            </a:r>
          </a:p>
          <a:p>
            <a:pPr lvl="3">
              <a:buFontTx/>
              <a:buChar char="-"/>
            </a:pPr>
            <a:r>
              <a:rPr lang="en-CA" b="1" i="1" baseline="0" dirty="0" smtClean="0"/>
              <a:t>Therefore 1 in the numerator represents the prior knowledge of the occur</a:t>
            </a:r>
            <a:r>
              <a:rPr lang="en-US" b="1" i="1" baseline="0" dirty="0" smtClean="0"/>
              <a:t>r</a:t>
            </a:r>
            <a:r>
              <a:rPr lang="en-CA" b="1" i="1" baseline="0" dirty="0" err="1" smtClean="0"/>
              <a:t>ence</a:t>
            </a:r>
            <a:r>
              <a:rPr lang="en-CA" b="1" i="1" baseline="0" dirty="0" smtClean="0"/>
              <a:t> of TMS</a:t>
            </a:r>
          </a:p>
          <a:p>
            <a:pPr lvl="3">
              <a:buFontTx/>
              <a:buChar char="-"/>
            </a:pPr>
            <a:r>
              <a:rPr lang="en-CA" b="1" i="1" baseline="0" dirty="0" smtClean="0"/>
              <a:t>And K in the denominator represents the prior knowledge of both possible outcomes (i.e. TMS or no TMS)</a:t>
            </a:r>
          </a:p>
          <a:p>
            <a:pPr lvl="2">
              <a:buFontTx/>
              <a:buChar char="-"/>
            </a:pPr>
            <a:r>
              <a:rPr lang="en-US" b="1" i="1" baseline="0" dirty="0" smtClean="0"/>
              <a:t>N</a:t>
            </a:r>
            <a:r>
              <a:rPr lang="en-CA" b="1" i="1" baseline="0" dirty="0" smtClean="0"/>
              <a:t>i-1k in the numerator refers to the number of exposures to TMS at trial </a:t>
            </a:r>
            <a:r>
              <a:rPr lang="en-US" b="1" i="1" baseline="0" dirty="0" smtClean="0"/>
              <a:t>i-1</a:t>
            </a:r>
            <a:endParaRPr lang="en-CA" b="1" i="1" baseline="0" dirty="0" smtClean="0"/>
          </a:p>
          <a:p>
            <a:pPr lvl="2">
              <a:buFontTx/>
              <a:buChar char="-"/>
            </a:pPr>
            <a:r>
              <a:rPr lang="en-CA" b="1" i="1" baseline="0" dirty="0" smtClean="0"/>
              <a:t>N in the denominator refers to the total number of trials experienced at trial i-1</a:t>
            </a:r>
          </a:p>
          <a:p>
            <a:pPr lvl="2">
              <a:buFontTx/>
              <a:buChar char="-"/>
            </a:pPr>
            <a:endParaRPr lang="en-CA" b="1" i="1" baseline="0" dirty="0" smtClean="0"/>
          </a:p>
          <a:p>
            <a:pPr lvl="2">
              <a:buFontTx/>
              <a:buChar char="-"/>
            </a:pPr>
            <a:r>
              <a:rPr lang="en-CA" b="1" i="1" baseline="0" dirty="0" smtClean="0"/>
              <a:t>Overall, we have the total number of occurrences of a TMS event, plus </a:t>
            </a:r>
            <a:r>
              <a:rPr lang="en-CA" b="1" i="1" baseline="0" dirty="0" err="1" smtClean="0"/>
              <a:t>theTMS</a:t>
            </a:r>
            <a:r>
              <a:rPr lang="en-CA" b="1" i="1" baseline="0" dirty="0" smtClean="0"/>
              <a:t> prior, in the numerator, divided by the total number of trials, plus the total prior, in the denominator</a:t>
            </a:r>
          </a:p>
          <a:p>
            <a:pPr lvl="2">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46</a:t>
            </a:fld>
            <a:endParaRPr lang="en-CA"/>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Tx/>
              <a:buChar char="-"/>
            </a:pPr>
            <a:r>
              <a:rPr lang="en-CA" b="1" i="1" dirty="0" smtClean="0"/>
              <a:t>Therefore,</a:t>
            </a:r>
            <a:r>
              <a:rPr lang="en-CA" b="1" i="1" baseline="0" dirty="0" smtClean="0"/>
              <a:t> surprise represents the improbability (or negative log) of event xi at trial </a:t>
            </a:r>
            <a:r>
              <a:rPr lang="en-US" b="1" i="1" baseline="0" dirty="0" smtClean="0"/>
              <a:t>I</a:t>
            </a:r>
            <a:r>
              <a:rPr lang="en-CA" b="1" i="1" baseline="0" dirty="0" smtClean="0"/>
              <a:t> and varies as a function of the computed probability from trial i-1</a:t>
            </a:r>
          </a:p>
        </p:txBody>
      </p:sp>
      <p:sp>
        <p:nvSpPr>
          <p:cNvPr id="4" name="Slide Number Placeholder 3"/>
          <p:cNvSpPr>
            <a:spLocks noGrp="1"/>
          </p:cNvSpPr>
          <p:nvPr>
            <p:ph type="sldNum" sz="quarter" idx="10"/>
          </p:nvPr>
        </p:nvSpPr>
        <p:spPr/>
        <p:txBody>
          <a:bodyPr/>
          <a:lstStyle/>
          <a:p>
            <a:fld id="{FCA03583-7EF5-4D2B-9282-492ED6AF1788}" type="slidenum">
              <a:rPr lang="en-CA" smtClean="0"/>
              <a:pPr/>
              <a:t>47</a:t>
            </a:fld>
            <a:endParaRPr lang="en-CA"/>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Here,</a:t>
            </a:r>
            <a:r>
              <a:rPr lang="en-CA" b="1" i="1" baseline="0" dirty="0" smtClean="0"/>
              <a:t> s</a:t>
            </a:r>
            <a:r>
              <a:rPr lang="en-CA" b="1" i="1" dirty="0" smtClean="0"/>
              <a:t>urprise</a:t>
            </a:r>
            <a:r>
              <a:rPr lang="en-CA" b="1" i="1" baseline="0" dirty="0" smtClean="0"/>
              <a:t> to TMS is plotted for a sample participant block..</a:t>
            </a:r>
            <a:r>
              <a:rPr lang="en-CA" b="1" i="1" dirty="0" smtClean="0"/>
              <a:t> </a:t>
            </a:r>
          </a:p>
          <a:p>
            <a:pPr lvl="1">
              <a:buFontTx/>
              <a:buChar char="-"/>
            </a:pPr>
            <a:endParaRPr lang="en-CA" b="1" i="1" dirty="0" smtClean="0"/>
          </a:p>
          <a:p>
            <a:pPr lvl="2">
              <a:buFontTx/>
              <a:buChar char="-"/>
            </a:pPr>
            <a:r>
              <a:rPr lang="en-CA" b="1" i="1" dirty="0" smtClean="0"/>
              <a:t>Initially surprise</a:t>
            </a:r>
            <a:r>
              <a:rPr lang="en-CA" b="1" i="1" baseline="0" dirty="0" smtClean="0"/>
              <a:t> is quite variable, but become m</a:t>
            </a:r>
            <a:r>
              <a:rPr lang="en-US" b="1" i="1" baseline="0" dirty="0" smtClean="0"/>
              <a:t>or</a:t>
            </a:r>
            <a:r>
              <a:rPr lang="en-CA" b="1" i="1" baseline="0" dirty="0" smtClean="0"/>
              <a:t>e stable as the ideal observer learns</a:t>
            </a:r>
            <a:r>
              <a:rPr lang="en-CA" b="1" i="1" dirty="0" smtClean="0"/>
              <a:t> the block-wise probabilities</a:t>
            </a:r>
            <a:r>
              <a:rPr lang="en-CA" b="1" i="1" baseline="0" dirty="0" smtClean="0"/>
              <a:t> associated with TMS or non TMS trials</a:t>
            </a:r>
          </a:p>
        </p:txBody>
      </p:sp>
      <p:sp>
        <p:nvSpPr>
          <p:cNvPr id="4" name="Slide Number Placeholder 3"/>
          <p:cNvSpPr>
            <a:spLocks noGrp="1"/>
          </p:cNvSpPr>
          <p:nvPr>
            <p:ph type="sldNum" sz="quarter" idx="10"/>
          </p:nvPr>
        </p:nvSpPr>
        <p:spPr/>
        <p:txBody>
          <a:bodyPr/>
          <a:lstStyle/>
          <a:p>
            <a:fld id="{FCA03583-7EF5-4D2B-9282-492ED6AF1788}" type="slidenum">
              <a:rPr lang="en-CA" smtClean="0"/>
              <a:pPr/>
              <a:t>48</a:t>
            </a:fld>
            <a:endParaRPr lang="en-CA"/>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49</a:t>
            </a:fld>
            <a:endParaRPr lang="en-CA"/>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Notice that probabilities are updated</a:t>
            </a:r>
            <a:r>
              <a:rPr lang="en-CA" b="1" i="1" baseline="0" dirty="0" smtClean="0"/>
              <a:t> as a function of the event at time </a:t>
            </a:r>
            <a:r>
              <a:rPr lang="en-US" b="1" i="1" baseline="0" dirty="0" smtClean="0"/>
              <a:t>I</a:t>
            </a:r>
            <a:r>
              <a:rPr lang="en-CA" b="1" i="1" baseline="0" dirty="0" smtClean="0"/>
              <a:t> instead of i-1</a:t>
            </a:r>
            <a:r>
              <a:rPr lang="en-CA" b="1" i="1" dirty="0" smtClean="0"/>
              <a:t>,</a:t>
            </a:r>
            <a:endParaRPr lang="en-CA" b="1" i="1" baseline="0" dirty="0" smtClean="0"/>
          </a:p>
          <a:p>
            <a:pPr lvl="2">
              <a:buFontTx/>
              <a:buChar char="-"/>
            </a:pPr>
            <a:r>
              <a:rPr lang="en-CA" b="1" i="1" baseline="0" dirty="0" smtClean="0"/>
              <a:t>This is because, rather than representing an updated quantity of information after trial i-1, entropy reflects the average quantity of information before a trial occurs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50</a:t>
            </a:fld>
            <a:endParaRPr lang="en-CA"/>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Thus, entropy quantifies</a:t>
            </a:r>
            <a:r>
              <a:rPr lang="en-CA" b="1" i="1" baseline="0" dirty="0" smtClean="0"/>
              <a:t> the expected or average surprise over all events up to, and including, trial </a:t>
            </a:r>
            <a:r>
              <a:rPr lang="en-US" b="1" i="1" baseline="0" dirty="0" smtClean="0"/>
              <a:t>I</a:t>
            </a:r>
            <a:endParaRPr lang="en-CA" b="1" i="1" baseline="0" dirty="0" smtClean="0"/>
          </a:p>
          <a:p>
            <a:pPr lvl="2">
              <a:buFontTx/>
              <a:buChar char="-"/>
            </a:pPr>
            <a:r>
              <a:rPr lang="en-CA" b="1" i="1" baseline="0" dirty="0" smtClean="0"/>
              <a:t>Reflects the predictability of an outcome before it occurs </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51</a:t>
            </a:fld>
            <a:endParaRPr lang="en-CA"/>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As would be predicted from</a:t>
            </a:r>
            <a:r>
              <a:rPr lang="en-CA" b="1" i="1" baseline="0" dirty="0" smtClean="0"/>
              <a:t> the formula, entropy is much more stable than surprise, although it is generally high in the present data, since the overall uncertainty associated with a 60-40 TMS vs. non-TMS breakdown is large</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52</a:t>
            </a:fld>
            <a:endParaRPr lang="en-CA"/>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To reiterate,</a:t>
            </a:r>
            <a:r>
              <a:rPr lang="en-CA" b="1" i="1" baseline="0" dirty="0" smtClean="0"/>
              <a:t> We’re trying to see whether those random variations in MEP amplitudes are more likely the result of random noise, or..</a:t>
            </a:r>
          </a:p>
          <a:p>
            <a:pPr lvl="2">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53</a:t>
            </a:fld>
            <a:endParaRPr lang="en-CA"/>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As reflected in </a:t>
            </a:r>
            <a:r>
              <a:rPr lang="en-CA" b="1" i="1" dirty="0" err="1" smtClean="0"/>
              <a:t>blockwise</a:t>
            </a:r>
            <a:r>
              <a:rPr lang="en-CA" b="1" i="1" dirty="0" smtClean="0"/>
              <a:t> uncertainty, or entropy, and trial-by-trial improbability,</a:t>
            </a:r>
            <a:r>
              <a:rPr lang="en-CA" b="1" i="1" baseline="0" dirty="0" smtClean="0"/>
              <a:t> or surprise</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54</a:t>
            </a:fld>
            <a:endParaRPr lang="en-CA"/>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If we imagine this circle representing</a:t>
            </a:r>
            <a:r>
              <a:rPr lang="en-CA" b="1" i="1" baseline="0" dirty="0" smtClean="0"/>
              <a:t> ALL MEP VARIANCE, which </a:t>
            </a:r>
            <a:r>
              <a:rPr lang="en-US" b="1" i="1" baseline="0" dirty="0" smtClean="0"/>
              <a:t>is adequately modeled by x1 (participant) and x2 (experimental condition)</a:t>
            </a:r>
          </a:p>
          <a:p>
            <a:pPr lvl="1">
              <a:buFontTx/>
              <a:buChar char="-"/>
            </a:pPr>
            <a:endParaRPr lang="en-US" b="1" i="1" baseline="0"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55</a:t>
            </a:fld>
            <a:endParaRPr lang="en-CA"/>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Then, we add surprise</a:t>
            </a:r>
            <a:r>
              <a:rPr lang="en-CA" b="1" i="1" baseline="0" dirty="0" smtClean="0"/>
              <a:t> and entropy as parameters in the model</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56</a:t>
            </a:fld>
            <a:endParaRPr lang="en-CA"/>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Then, we take the sum of squares </a:t>
            </a:r>
            <a:r>
              <a:rPr lang="en-CA" b="1" i="1" baseline="0" dirty="0" smtClean="0"/>
              <a:t>for by the complete model, and</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57</a:t>
            </a:fld>
            <a:endParaRPr lang="en-CA"/>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Subtract the new parameters,</a:t>
            </a:r>
            <a:r>
              <a:rPr lang="en-CA" b="1" i="1" baseline="0" dirty="0" smtClean="0"/>
              <a:t> therefore testing whether or not surprise and entropy contribute significantly to the model</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58</a:t>
            </a:fld>
            <a:endParaRPr lang="en-CA"/>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If we look</a:t>
            </a:r>
            <a:r>
              <a:rPr lang="en-CA" b="1" i="1" baseline="0" dirty="0" smtClean="0"/>
              <a:t> at the light grey row here, the difference between the two models accounted for a significant amount of the variance in MEPs, however, only the surprise measure had a significant effect</a:t>
            </a:r>
            <a:r>
              <a:rPr lang="en-US" b="1" i="1" baseline="0" dirty="0" smtClean="0"/>
              <a:t>… So, lets take a look at the actual data …</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59</a:t>
            </a:fld>
            <a:endParaRPr lang="en-CA"/>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First let me point out that, In the Mars et al</a:t>
            </a:r>
            <a:r>
              <a:rPr lang="en-CA" b="1" i="1" baseline="0" dirty="0" smtClean="0"/>
              <a:t> paper that I used as inspiration, there was a significant positive relationship between the P300 ERP component and surprise</a:t>
            </a:r>
          </a:p>
          <a:p>
            <a:pPr lvl="2">
              <a:buFontTx/>
              <a:buChar char="-"/>
            </a:pPr>
            <a:r>
              <a:rPr lang="en-CA" b="1" i="1" baseline="0" dirty="0" smtClean="0"/>
              <a:t>Therefore, I did predict a positive relationship between CSE and surprise</a:t>
            </a:r>
            <a:endParaRPr lang="en-CA" b="1" i="1"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60</a:t>
            </a:fld>
            <a:endParaRPr lang="en-CA"/>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Here we have a similar figure constructed from the present</a:t>
            </a:r>
            <a:r>
              <a:rPr lang="en-CA" b="1" i="1" baseline="0" dirty="0" smtClean="0"/>
              <a:t> data, with standardized MEP amplitudes plotted against standardized Surprise to a TMS event</a:t>
            </a:r>
            <a:endParaRPr lang="en-CA" b="1" i="1" dirty="0" smtClean="0"/>
          </a:p>
          <a:p>
            <a:pPr lvl="2">
              <a:buFontTx/>
              <a:buChar char="-"/>
            </a:pPr>
            <a:r>
              <a:rPr lang="en-CA" b="1" i="1" dirty="0" smtClean="0"/>
              <a:t>However, CSE was generally lower when trials were preceded</a:t>
            </a:r>
            <a:r>
              <a:rPr lang="en-CA" b="1" i="1" baseline="0" dirty="0" smtClean="0"/>
              <a:t> by surprising events, in fact</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61</a:t>
            </a:fld>
            <a:endParaRPr lang="en-CA"/>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On</a:t>
            </a:r>
            <a:r>
              <a:rPr lang="en-CA" b="1" i="1" baseline="0" dirty="0" smtClean="0"/>
              <a:t> average, </a:t>
            </a:r>
            <a:r>
              <a:rPr lang="en-CA" b="1" i="1" dirty="0" smtClean="0"/>
              <a:t>there’s a .382</a:t>
            </a:r>
            <a:r>
              <a:rPr lang="en-CA" b="1" i="1" baseline="0" dirty="0" smtClean="0"/>
              <a:t> mV decrease in MEP amplitudes predicted for every one bit increase in surprise</a:t>
            </a:r>
          </a:p>
          <a:p>
            <a:pPr lvl="1">
              <a:buFontTx/>
              <a:buChar char="-"/>
            </a:pPr>
            <a:endParaRPr lang="en-CA" b="1" i="1" baseline="0" dirty="0" smtClean="0"/>
          </a:p>
          <a:p>
            <a:pPr lvl="2">
              <a:buFontTx/>
              <a:buChar char="-"/>
            </a:pPr>
            <a:r>
              <a:rPr lang="en-CA" b="1" i="1" baseline="0" dirty="0" smtClean="0"/>
              <a:t>In clearer terms, trials preceded by a surprising TMS event are associated with a decrease in subsequent </a:t>
            </a:r>
            <a:r>
              <a:rPr lang="en-CA" b="1" i="1" baseline="0" dirty="0" err="1" smtClean="0"/>
              <a:t>corticospinal</a:t>
            </a:r>
            <a:r>
              <a:rPr lang="en-CA" b="1" i="1" baseline="0" dirty="0" smtClean="0"/>
              <a:t> excitability</a:t>
            </a:r>
          </a:p>
          <a:p>
            <a:pPr lvl="1">
              <a:buFontTx/>
              <a:buChar char="-"/>
            </a:pPr>
            <a:endParaRPr lang="en-CA" b="1" i="1" baseline="0" dirty="0" smtClean="0"/>
          </a:p>
          <a:p>
            <a:pPr lvl="2">
              <a:buFontTx/>
              <a:buChar char="-"/>
            </a:pPr>
            <a:r>
              <a:rPr lang="en-CA" b="1" i="1" baseline="0" dirty="0" smtClean="0"/>
              <a:t>I’ll return to what exactly I think this might mean in a few slides, but first let me ask another question</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62</a:t>
            </a:fld>
            <a:endParaRPr lang="en-CA"/>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 second question I wanted to look @ was whether</a:t>
            </a:r>
            <a:r>
              <a:rPr lang="en-CA" b="1" i="1" baseline="0" dirty="0" smtClean="0"/>
              <a:t> participants update probabilities in an optimal fashion, or whether they are fast forgetters</a:t>
            </a:r>
            <a:endParaRPr lang="en-CA" b="1" i="1" dirty="0" smtClean="0"/>
          </a:p>
          <a:p>
            <a:pPr lvl="1">
              <a:buFontTx/>
              <a:buChar char="-"/>
            </a:pPr>
            <a:endParaRPr lang="en-CA" b="1" i="1"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63</a:t>
            </a:fld>
            <a:endParaRPr lang="en-CA"/>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To test this,</a:t>
            </a:r>
            <a:r>
              <a:rPr lang="en-CA" b="1" i="1" baseline="0" dirty="0" smtClean="0"/>
              <a:t> I performed the same iterative surprise and entropy calculations, based on a probability distribution that only reflected the previous four trials (the denominator in our probability calculation simply reflects the sum of the previous four events)</a:t>
            </a:r>
          </a:p>
          <a:p>
            <a:pPr lvl="1">
              <a:buFontTx/>
              <a:buChar char="-"/>
            </a:pPr>
            <a:endParaRPr lang="en-CA"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sz="1200" b="1" i="1" dirty="0" smtClean="0">
                <a:solidFill>
                  <a:schemeClr val="bg1"/>
                </a:solidFill>
                <a:latin typeface="Helvetica" pitchFamily="34" charset="0"/>
                <a:cs typeface="Helvetica" pitchFamily="34" charset="0"/>
              </a:rPr>
              <a:t>This updating</a:t>
            </a:r>
            <a:r>
              <a:rPr lang="en-CA" sz="1200" b="1" i="1" baseline="0" dirty="0" smtClean="0">
                <a:solidFill>
                  <a:schemeClr val="bg1"/>
                </a:solidFill>
                <a:latin typeface="Helvetica" pitchFamily="34" charset="0"/>
                <a:cs typeface="Helvetica" pitchFamily="34" charset="0"/>
              </a:rPr>
              <a:t> rule would be s</a:t>
            </a:r>
            <a:r>
              <a:rPr lang="en-CA" sz="1200" b="1" i="1" dirty="0" smtClean="0">
                <a:solidFill>
                  <a:schemeClr val="bg1"/>
                </a:solidFill>
                <a:latin typeface="Helvetica" pitchFamily="34" charset="0"/>
                <a:cs typeface="Helvetica" pitchFamily="34" charset="0"/>
              </a:rPr>
              <a:t>uboptimal in theory, because actual TMS probability is constant throughout the experimental block</a:t>
            </a:r>
          </a:p>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64</a:t>
            </a:fld>
            <a:endParaRPr lang="en-CA"/>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Again, we have our</a:t>
            </a:r>
            <a:r>
              <a:rPr lang="en-CA" b="1" i="1" baseline="0" dirty="0" smtClean="0"/>
              <a:t> original model with Participant and condition as factors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65</a:t>
            </a:fld>
            <a:endParaRPr lang="en-CA"/>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US" b="1" i="1" dirty="0" smtClean="0"/>
              <a:t>T</a:t>
            </a:r>
            <a:r>
              <a:rPr lang="en-CA" b="1" i="1" dirty="0" smtClean="0"/>
              <a:t>hen,</a:t>
            </a:r>
            <a:r>
              <a:rPr lang="en-CA" b="1" i="1" baseline="0" dirty="0" smtClean="0"/>
              <a:t> we add </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66</a:t>
            </a:fld>
            <a:endParaRPr lang="en-CA"/>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Again, we subtract the new parameters</a:t>
            </a:r>
            <a:r>
              <a:rPr lang="en-CA" b="1" i="1" baseline="0" dirty="0" smtClean="0"/>
              <a:t> from the complete model</a:t>
            </a:r>
            <a:r>
              <a:rPr lang="en-CA" b="1" i="1" dirty="0" smtClean="0"/>
              <a:t>,</a:t>
            </a:r>
            <a:r>
              <a:rPr lang="en-CA" b="1" i="1" baseline="0" dirty="0" smtClean="0"/>
              <a:t> and assess whether or not these fast forgetting surprise and entropic measures add anything to the model</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67</a:t>
            </a:fld>
            <a:endParaRPr lang="en-CA"/>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Very low significance</a:t>
            </a:r>
            <a:r>
              <a:rPr lang="en-CA" b="1" i="1" baseline="0" dirty="0" smtClean="0"/>
              <a:t> level given the massive DF, </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68</a:t>
            </a:fld>
            <a:endParaRPr lang="en-CA"/>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And if we look at the coefficient for predicting</a:t>
            </a:r>
            <a:r>
              <a:rPr lang="en-CA" b="1" i="1" baseline="0" dirty="0" smtClean="0"/>
              <a:t> MEPs based on the maximal forgetting model, we see a smaller and less consistent effect than the ideal observer model…</a:t>
            </a:r>
          </a:p>
          <a:p>
            <a:pPr lvl="2">
              <a:buFontTx/>
              <a:buChar char="-"/>
            </a:pPr>
            <a:r>
              <a:rPr lang="en-CA" b="1" i="1" baseline="0" dirty="0" smtClean="0"/>
              <a:t>therefore we can fairly certainly say that actual participants perform closer to ideal observer model than the maximal forgetting model</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69</a:t>
            </a:fld>
            <a:endParaRPr lang="en-CA"/>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 Interestingly,</a:t>
            </a:r>
            <a:r>
              <a:rPr lang="en-CA" b="1" i="1" baseline="0" dirty="0" smtClean="0"/>
              <a:t> there is a counterintuitive relationship between CSE and surprise, with increased surprise on t</a:t>
            </a:r>
            <a:r>
              <a:rPr lang="en-US" b="1" i="1" baseline="0" dirty="0" smtClean="0"/>
              <a:t>he</a:t>
            </a:r>
            <a:r>
              <a:rPr lang="en-CA" b="1" i="1" baseline="0" dirty="0" smtClean="0"/>
              <a:t> previous trial being associated with a decrease in CSE on t</a:t>
            </a:r>
            <a:r>
              <a:rPr lang="en-US" b="1" i="1" baseline="0" dirty="0" smtClean="0"/>
              <a:t>he</a:t>
            </a:r>
            <a:r>
              <a:rPr lang="en-CA" b="1" i="1" baseline="0" dirty="0" smtClean="0"/>
              <a:t> subsequent trial, whereas the ERP literature provided me with the opposing prediction</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70</a:t>
            </a:fld>
            <a:endParaRPr lang="en-CA"/>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Participants seem</a:t>
            </a:r>
            <a:r>
              <a:rPr lang="en-CA" b="1" i="1" baseline="0" dirty="0" smtClean="0"/>
              <a:t> to learn the probability of TMS vs. non-TMS to some degree over the course of a block, which is evidence that</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71</a:t>
            </a:fld>
            <a:endParaRPr lang="en-CA"/>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72</a:t>
            </a:fld>
            <a:endParaRPr lang="en-CA"/>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TMS pulses were delivered at points</a:t>
            </a:r>
            <a:r>
              <a:rPr lang="en-CA" b="1" i="1" baseline="0" dirty="0" smtClean="0"/>
              <a:t> of maximum flexion during any one of these movements…</a:t>
            </a:r>
            <a:endParaRPr lang="en-US" b="1" i="1" baseline="0" dirty="0" smtClean="0"/>
          </a:p>
          <a:p>
            <a:pPr lvl="1">
              <a:buFontTx/>
              <a:buChar char="-"/>
            </a:pPr>
            <a:endParaRPr lang="en-US"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baseline="0" dirty="0" smtClean="0"/>
              <a:t>Therefore, perhaps a computation of surprise associated with the probability of TMS at a specific onset would better accommodate MEP variability</a:t>
            </a:r>
            <a:endParaRPr lang="en-CA" b="1" i="1" dirty="0" smtClean="0"/>
          </a:p>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73</a:t>
            </a:fld>
            <a:endParaRPr lang="en-CA"/>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This</a:t>
            </a:r>
            <a:r>
              <a:rPr lang="en-CA" b="1" i="1" baseline="0" dirty="0" smtClean="0"/>
              <a:t> distribution reflects the number of presentations of each video length</a:t>
            </a:r>
          </a:p>
          <a:p>
            <a:pPr lvl="1">
              <a:buFontTx/>
              <a:buChar char="-"/>
            </a:pPr>
            <a:endParaRPr lang="en-CA" b="1" i="1" baseline="0"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74</a:t>
            </a:fld>
            <a:endParaRPr lang="en-CA"/>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We</a:t>
            </a:r>
            <a:r>
              <a:rPr lang="en-CA" b="1" i="1" baseline="0" dirty="0" smtClean="0"/>
              <a:t> then compute surprise using the same formula…</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75</a:t>
            </a:fld>
            <a:endParaRPr lang="en-CA"/>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None/>
            </a:pPr>
            <a:r>
              <a:rPr lang="en-CA" b="1" i="1" baseline="0" dirty="0" smtClean="0"/>
              <a:t>- </a:t>
            </a:r>
            <a:r>
              <a:rPr lang="en-US" b="1" i="1" baseline="0" dirty="0" smtClean="0"/>
              <a:t>T</a:t>
            </a:r>
            <a:r>
              <a:rPr lang="en-CA" b="1" i="1" baseline="0" dirty="0" smtClean="0"/>
              <a:t>hen use the probability of each TMS by SOA combination at time i-1 to model surprise at time </a:t>
            </a:r>
            <a:r>
              <a:rPr lang="en-CA" b="1" i="1" baseline="0" dirty="0" err="1" smtClean="0"/>
              <a:t>i</a:t>
            </a:r>
            <a:r>
              <a:rPr lang="en-US" b="1" i="1" baseline="0" dirty="0" smtClean="0"/>
              <a:t>…</a:t>
            </a:r>
          </a:p>
        </p:txBody>
      </p:sp>
      <p:sp>
        <p:nvSpPr>
          <p:cNvPr id="4" name="Slide Number Placeholder 3"/>
          <p:cNvSpPr>
            <a:spLocks noGrp="1"/>
          </p:cNvSpPr>
          <p:nvPr>
            <p:ph type="sldNum" sz="quarter" idx="10"/>
          </p:nvPr>
        </p:nvSpPr>
        <p:spPr/>
        <p:txBody>
          <a:bodyPr/>
          <a:lstStyle/>
          <a:p>
            <a:fld id="{FCA03583-7EF5-4D2B-9282-492ED6AF1788}" type="slidenum">
              <a:rPr lang="en-CA" smtClean="0"/>
              <a:pPr/>
              <a:t>76</a:t>
            </a:fld>
            <a:endParaRPr lang="en-CA"/>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Here, blue represents SOA 6, and</a:t>
            </a:r>
            <a:r>
              <a:rPr lang="en-CA" b="1" i="1" baseline="0" dirty="0" smtClean="0"/>
              <a:t> the black line represents SOA 3,</a:t>
            </a:r>
          </a:p>
          <a:p>
            <a:pPr lvl="2">
              <a:buFontTx/>
              <a:buChar char="-"/>
            </a:pPr>
            <a:r>
              <a:rPr lang="en-CA" b="1" i="1" baseline="0" dirty="0" smtClean="0"/>
              <a:t>TMS @ SOA 6 is much more surprising than TMS at SOA 3, therefore, based on the previous model, we may predict an increased effect on MEPs at these SOA’s..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77</a:t>
            </a:fld>
            <a:endParaRPr lang="en-CA"/>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We perform</a:t>
            </a:r>
            <a:r>
              <a:rPr lang="en-CA" b="1" i="1" baseline="0" dirty="0" smtClean="0"/>
              <a:t> the same model comparison technique, this time assessing whether or not the parameters B3 </a:t>
            </a:r>
            <a:r>
              <a:rPr lang="en-US" b="1" i="1" baseline="0" dirty="0" smtClean="0"/>
              <a:t>… </a:t>
            </a:r>
            <a:r>
              <a:rPr lang="en-US" b="1" i="1" baseline="0" dirty="0" err="1" smtClean="0"/>
              <a:t>Bk,j</a:t>
            </a:r>
            <a:r>
              <a:rPr lang="en-US" b="1" i="1" baseline="0" dirty="0" smtClean="0"/>
              <a:t> (aka the surprise associated with each TMS by SOA combination)</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78</a:t>
            </a:fld>
            <a:endParaRPr lang="en-CA"/>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I believe the sum of squares from the original</a:t>
            </a:r>
            <a:r>
              <a:rPr lang="en-CA" b="1" i="1" baseline="0" dirty="0" smtClean="0"/>
              <a:t> ideal observer model comparison was around 14, so therefore this SOA by TMS combined surprise model is accommodating a MUCH larger amount of MEP variation than our previous ideal observer model,</a:t>
            </a:r>
          </a:p>
          <a:p>
            <a:pPr lvl="2">
              <a:buFontTx/>
              <a:buChar char="-"/>
            </a:pPr>
            <a:r>
              <a:rPr lang="en-CA" b="1" i="1" baseline="0" dirty="0" smtClean="0"/>
              <a:t>Now, to take a look at the results,,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79</a:t>
            </a:fld>
            <a:endParaRPr lang="en-CA"/>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First, recall the breakdown of TMS onset asynchronies,</a:t>
            </a:r>
            <a:r>
              <a:rPr lang="en-CA" b="1" i="1" baseline="0" dirty="0" smtClean="0"/>
              <a:t> and the prediction that more unlikely TMS onset times should be associated with larger decreases in MEP amplitude…</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80</a:t>
            </a:fld>
            <a:endParaRPr lang="en-CA"/>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There was</a:t>
            </a:r>
            <a:r>
              <a:rPr lang="en-CA" b="1" i="1" baseline="0" dirty="0" smtClean="0"/>
              <a:t> a trend in that direction, with the betas corresponding to the latest TMS delivery times associated with the largest decrease in CSE</a:t>
            </a:r>
          </a:p>
          <a:p>
            <a:pPr lvl="1">
              <a:buFontTx/>
              <a:buChar char="-"/>
            </a:pPr>
            <a:endParaRPr lang="en-CA" b="1" i="1" baseline="0" dirty="0" smtClean="0"/>
          </a:p>
          <a:p>
            <a:pPr lvl="2">
              <a:buFontTx/>
              <a:buNone/>
            </a:pPr>
            <a:r>
              <a:rPr lang="en-CA" b="1" i="1" baseline="0" dirty="0" smtClean="0"/>
              <a:t>Although the significance at one of the most common SOA’s (3) kind of ruined my day</a:t>
            </a:r>
            <a:r>
              <a:rPr lang="en-US" b="1" i="1" baseline="0" dirty="0" smtClean="0"/>
              <a:t>…</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81</a:t>
            </a:fld>
            <a:endParaRPr lang="en-CA"/>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In fact, the time of</a:t>
            </a:r>
            <a:r>
              <a:rPr lang="en-CA" b="1" i="1" baseline="0" dirty="0" smtClean="0"/>
              <a:t> onset seems to model the dataset better than surprise as a basic function of the presence or absence of a TMS pulse</a:t>
            </a:r>
          </a:p>
          <a:p>
            <a:pPr lvl="1">
              <a:buFontTx/>
              <a:buChar char="-"/>
            </a:pPr>
            <a:endParaRPr lang="en-CA" b="1" i="1" baseline="0" dirty="0" smtClean="0"/>
          </a:p>
        </p:txBody>
      </p:sp>
      <p:sp>
        <p:nvSpPr>
          <p:cNvPr id="4" name="Slide Number Placeholder 3"/>
          <p:cNvSpPr>
            <a:spLocks noGrp="1"/>
          </p:cNvSpPr>
          <p:nvPr>
            <p:ph type="sldNum" sz="quarter" idx="10"/>
          </p:nvPr>
        </p:nvSpPr>
        <p:spPr/>
        <p:txBody>
          <a:bodyPr/>
          <a:lstStyle/>
          <a:p>
            <a:fld id="{FCA03583-7EF5-4D2B-9282-492ED6AF1788}" type="slidenum">
              <a:rPr lang="en-CA" smtClean="0"/>
              <a:pPr/>
              <a:t>82</a:t>
            </a:fld>
            <a:endParaRPr lang="en-CA"/>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83</a:t>
            </a:fld>
            <a:endParaRPr lang="en-CA"/>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baseline="0" dirty="0" smtClean="0"/>
              <a:t>As a precaution, previous experiments we have carried out have matched TMS onset asynchrony and frequency between baseline and experimental conditions, </a:t>
            </a:r>
          </a:p>
          <a:p>
            <a:pPr marL="457200" marR="0" lvl="1" indent="0" algn="l" defTabSz="914400" rtl="0" eaLnBrk="1" fontAlgn="auto" latinLnBrk="0" hangingPunct="1">
              <a:lnSpc>
                <a:spcPct val="100000"/>
              </a:lnSpc>
              <a:spcBef>
                <a:spcPts val="0"/>
              </a:spcBef>
              <a:spcAft>
                <a:spcPts val="0"/>
              </a:spcAft>
              <a:buClrTx/>
              <a:buSzTx/>
              <a:buFontTx/>
              <a:buChar char="-"/>
              <a:tabLst/>
              <a:defRPr/>
            </a:pPr>
            <a:endParaRPr lang="en-CA"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baseline="0" dirty="0" smtClean="0"/>
              <a:t>So, at a methodological level, this result justifies that caution</a:t>
            </a:r>
          </a:p>
          <a:p>
            <a:pPr marL="457200" marR="0" lvl="1" indent="0" algn="l" defTabSz="914400" rtl="0" eaLnBrk="1" fontAlgn="auto" latinLnBrk="0" hangingPunct="1">
              <a:lnSpc>
                <a:spcPct val="100000"/>
              </a:lnSpc>
              <a:spcBef>
                <a:spcPts val="0"/>
              </a:spcBef>
              <a:spcAft>
                <a:spcPts val="0"/>
              </a:spcAft>
              <a:buClrTx/>
              <a:buSzTx/>
              <a:buFontTx/>
              <a:buChar char="-"/>
              <a:tabLst/>
              <a:defRPr/>
            </a:pPr>
            <a:endParaRPr lang="en-CA" b="1" i="1" baseline="0" dirty="0" smtClean="0"/>
          </a:p>
          <a:p>
            <a:pPr marL="457200" marR="0" lvl="1" indent="0" algn="l" defTabSz="914400" rtl="0" eaLnBrk="1" fontAlgn="auto" latinLnBrk="0" hangingPunct="1">
              <a:lnSpc>
                <a:spcPct val="100000"/>
              </a:lnSpc>
              <a:spcBef>
                <a:spcPts val="0"/>
              </a:spcBef>
              <a:spcAft>
                <a:spcPts val="0"/>
              </a:spcAft>
              <a:buClrTx/>
              <a:buSzTx/>
              <a:buFontTx/>
              <a:buChar char="-"/>
              <a:tabLst/>
              <a:defRPr/>
            </a:pPr>
            <a:r>
              <a:rPr lang="en-CA" b="1" i="1" baseline="0" dirty="0" smtClean="0"/>
              <a:t>At a fundamental level, though, what does the decrease in CSE after a surprising event tell us about motor </a:t>
            </a:r>
            <a:r>
              <a:rPr lang="en-CA" b="1" i="1" baseline="0" dirty="0" err="1" smtClean="0"/>
              <a:t>corticospinal</a:t>
            </a:r>
            <a:r>
              <a:rPr lang="en-CA" b="1" i="1" baseline="0" dirty="0" smtClean="0"/>
              <a:t> excitability???</a:t>
            </a:r>
          </a:p>
        </p:txBody>
      </p:sp>
      <p:sp>
        <p:nvSpPr>
          <p:cNvPr id="4" name="Slide Number Placeholder 3"/>
          <p:cNvSpPr>
            <a:spLocks noGrp="1"/>
          </p:cNvSpPr>
          <p:nvPr>
            <p:ph type="sldNum" sz="quarter" idx="10"/>
          </p:nvPr>
        </p:nvSpPr>
        <p:spPr/>
        <p:txBody>
          <a:bodyPr/>
          <a:lstStyle/>
          <a:p>
            <a:fld id="{FCA03583-7EF5-4D2B-9282-492ED6AF1788}" type="slidenum">
              <a:rPr lang="en-CA" smtClean="0"/>
              <a:pPr/>
              <a:t>84</a:t>
            </a:fld>
            <a:endParaRPr lang="en-CA"/>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One possibility is that…</a:t>
            </a:r>
            <a:endParaRPr lang="en-US" b="1" i="1" baseline="0" dirty="0" smtClean="0"/>
          </a:p>
          <a:p>
            <a:pPr lvl="2">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85</a:t>
            </a:fld>
            <a:endParaRPr lang="en-CA"/>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There is a period of CS</a:t>
            </a:r>
            <a:r>
              <a:rPr lang="en-CA" b="1" i="1" baseline="0" dirty="0" smtClean="0"/>
              <a:t> inhibition immediately prior to action execution that has been shown to vary as a function of surprise present in a preceding stimulus event..</a:t>
            </a:r>
          </a:p>
          <a:p>
            <a:pPr lvl="1">
              <a:buFontTx/>
              <a:buChar char="-"/>
            </a:pPr>
            <a:endParaRPr lang="en-CA" b="1" i="1" baseline="0" dirty="0" smtClean="0"/>
          </a:p>
          <a:p>
            <a:pPr lvl="2">
              <a:buFontTx/>
              <a:buChar char="-"/>
            </a:pPr>
            <a:r>
              <a:rPr lang="en-CA" b="1" i="1" baseline="0" dirty="0" smtClean="0"/>
              <a:t>This figure displays a similar relationship between surprise and subsequent CSE during motor preparation that the present data shows during a passive task</a:t>
            </a:r>
            <a:endParaRPr lang="en-US" b="1" i="1" baseline="0" dirty="0" smtClean="0"/>
          </a:p>
          <a:p>
            <a:pPr lvl="2">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86</a:t>
            </a:fld>
            <a:endParaRPr lang="en-CA"/>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Perhaps there</a:t>
            </a:r>
            <a:r>
              <a:rPr lang="en-CA" b="1" i="1" baseline="0" dirty="0" smtClean="0"/>
              <a:t> is a general resource depletion that follows the occur</a:t>
            </a:r>
            <a:r>
              <a:rPr lang="en-US" b="1" i="1" baseline="0" dirty="0" smtClean="0"/>
              <a:t>r</a:t>
            </a:r>
            <a:r>
              <a:rPr lang="en-CA" b="1" i="1" baseline="0" dirty="0" err="1" smtClean="0"/>
              <a:t>ence</a:t>
            </a:r>
            <a:r>
              <a:rPr lang="en-CA" b="1" i="1" baseline="0" dirty="0" smtClean="0"/>
              <a:t> of a surprising event, and MEP inhibition is just one neurophysiological marker of that depletion</a:t>
            </a:r>
          </a:p>
          <a:p>
            <a:pPr lvl="1">
              <a:buFontTx/>
              <a:buChar char="-"/>
            </a:pPr>
            <a:endParaRPr lang="en-CA" b="1" i="1" baseline="0" dirty="0" smtClean="0"/>
          </a:p>
          <a:p>
            <a:pPr lvl="1">
              <a:buFontTx/>
              <a:buChar char="-"/>
            </a:pPr>
            <a:r>
              <a:rPr lang="en-CA" b="1" i="1" baseline="0" dirty="0" smtClean="0"/>
              <a:t>Because this was a post hoc analysis, and I did not actually design the experiment for the purposes of examining the effect of surprise on CSE, we cannot be sure, but there is definitely a chance that I will be taking this result under advisement during the design of future experiments</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87</a:t>
            </a:fld>
            <a:endParaRPr lang="en-CA"/>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88</a:t>
            </a:fld>
            <a:endParaRPr lang="en-CA"/>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CSE was generally higher when overall uncertainty, or entropy, was high</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89</a:t>
            </a:fld>
            <a:endParaRPr lang="en-CA"/>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Tx/>
              <a:buChar char="-"/>
            </a:pPr>
            <a:r>
              <a:rPr lang="en-CA" b="1" i="1" dirty="0" smtClean="0"/>
              <a:t>- if we compare that</a:t>
            </a:r>
            <a:r>
              <a:rPr lang="en-CA" b="1" i="1" baseline="0" dirty="0" smtClean="0"/>
              <a:t> to the coefficients for our model containing surprise associated with each TMS, SOA combination, we have an interesting trend</a:t>
            </a:r>
            <a:r>
              <a:rPr lang="en-US" b="1" i="1" baseline="0" dirty="0" smtClean="0"/>
              <a:t>…</a:t>
            </a:r>
          </a:p>
          <a:p>
            <a:pPr lvl="1">
              <a:buFontTx/>
              <a:buChar char="-"/>
            </a:pPr>
            <a:endParaRPr lang="en-US" b="1" i="1" baseline="0" dirty="0" smtClean="0"/>
          </a:p>
          <a:p>
            <a:pPr lvl="1">
              <a:buFontTx/>
              <a:buChar char="-"/>
            </a:pPr>
            <a:r>
              <a:rPr lang="en-US" b="1" i="1" baseline="0" dirty="0" smtClean="0"/>
              <a:t>Therefore, it seems as if the participants are (to a degree) learning the probabilities associated with TMS over the course of the block.. As well as the probabilities associated with each time of TMS delivery… the higher the improbability of a TMS pulse delivery timing, the (generally) lower the degree of CSE on the subsequent trial</a:t>
            </a:r>
            <a:endParaRPr lang="en-CA" b="1" i="1" dirty="0"/>
          </a:p>
        </p:txBody>
      </p:sp>
      <p:sp>
        <p:nvSpPr>
          <p:cNvPr id="4" name="Slide Number Placeholder 3"/>
          <p:cNvSpPr>
            <a:spLocks noGrp="1"/>
          </p:cNvSpPr>
          <p:nvPr>
            <p:ph type="sldNum" sz="quarter" idx="10"/>
          </p:nvPr>
        </p:nvSpPr>
        <p:spPr/>
        <p:txBody>
          <a:bodyPr/>
          <a:lstStyle/>
          <a:p>
            <a:fld id="{FCA03583-7EF5-4D2B-9282-492ED6AF1788}" type="slidenum">
              <a:rPr lang="en-CA" smtClean="0"/>
              <a:pPr/>
              <a:t>90</a:t>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a:p>
        </p:txBody>
      </p:sp>
      <p:sp>
        <p:nvSpPr>
          <p:cNvPr id="7" name="Date Placeholder 3"/>
          <p:cNvSpPr>
            <a:spLocks noGrp="1"/>
          </p:cNvSpPr>
          <p:nvPr>
            <p:ph type="dt" sz="half" idx="10"/>
          </p:nvPr>
        </p:nvSpPr>
        <p:spPr>
          <a:xfrm>
            <a:off x="457200" y="6356350"/>
            <a:ext cx="1594520" cy="365125"/>
          </a:xfrm>
          <a:prstGeom prst="rect">
            <a:avLst/>
          </a:prstGeom>
        </p:spPr>
        <p:txBody>
          <a:bodyPr/>
          <a:lstStyle/>
          <a:p>
            <a:fld id="{402ABD07-C14E-468E-ABCC-1616F08B6451}" type="datetime1">
              <a:rPr lang="en-CA" smtClean="0"/>
              <a:pPr/>
              <a:t>11-12-06</a:t>
            </a:fld>
            <a:endParaRPr lang="en-CA"/>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9" name="Slide Number Placeholder 5"/>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1594520" cy="365125"/>
          </a:xfrm>
          <a:prstGeom prst="rect">
            <a:avLst/>
          </a:prstGeom>
        </p:spPr>
        <p:txBody>
          <a:bodyPr/>
          <a:lstStyle/>
          <a:p>
            <a:fld id="{89DCC258-1A33-46B2-A549-2642609BDAC1}" type="datetime1">
              <a:rPr lang="en-CA" smtClean="0"/>
              <a:pPr/>
              <a:t>11-12-06</a:t>
            </a:fld>
            <a:endParaRPr lang="en-CA"/>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6" name="Slide Number Placeholder 5"/>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a:xfrm>
            <a:off x="457200" y="6356350"/>
            <a:ext cx="1594520" cy="365125"/>
          </a:xfrm>
          <a:prstGeom prst="rect">
            <a:avLst/>
          </a:prstGeom>
        </p:spPr>
        <p:txBody>
          <a:bodyPr/>
          <a:lstStyle/>
          <a:p>
            <a:fld id="{0484E4E5-9C01-4E9A-909B-0492B2966A7F}" type="datetime1">
              <a:rPr lang="en-CA" smtClean="0"/>
              <a:pPr/>
              <a:t>11-12-06</a:t>
            </a:fld>
            <a:endParaRPr lang="en-CA"/>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7" name="Slide Number Placeholder 6"/>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a:xfrm>
            <a:off x="457200" y="6356350"/>
            <a:ext cx="1594520" cy="365125"/>
          </a:xfrm>
          <a:prstGeom prst="rect">
            <a:avLst/>
          </a:prstGeom>
        </p:spPr>
        <p:txBody>
          <a:bodyPr/>
          <a:lstStyle/>
          <a:p>
            <a:fld id="{E84E8EC2-6790-4C50-8770-C707B7746BE1}" type="datetime1">
              <a:rPr lang="en-CA" smtClean="0"/>
              <a:pPr/>
              <a:t>11-12-06</a:t>
            </a:fld>
            <a:endParaRPr lang="en-CA"/>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9" name="Slide Number Placeholder 8"/>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a:xfrm>
            <a:off x="457200" y="6356350"/>
            <a:ext cx="1594520" cy="365125"/>
          </a:xfrm>
          <a:prstGeom prst="rect">
            <a:avLst/>
          </a:prstGeom>
        </p:spPr>
        <p:txBody>
          <a:bodyPr/>
          <a:lstStyle/>
          <a:p>
            <a:fld id="{27D2D0D6-C6EE-4BA9-B8FE-0EA95BAE52D5}" type="datetime1">
              <a:rPr lang="en-CA" smtClean="0"/>
              <a:pPr/>
              <a:t>11-12-06</a:t>
            </a:fld>
            <a:endParaRPr lang="en-CA"/>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5" name="Slide Number Placeholder 4"/>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1594520" cy="365125"/>
          </a:xfrm>
          <a:prstGeom prst="rect">
            <a:avLst/>
          </a:prstGeom>
        </p:spPr>
        <p:txBody>
          <a:bodyPr/>
          <a:lstStyle/>
          <a:p>
            <a:fld id="{8FA9B9EE-8F45-4890-B321-8DB3D2B70741}" type="datetime1">
              <a:rPr lang="en-CA" smtClean="0"/>
              <a:pPr/>
              <a:t>11-12-06</a:t>
            </a:fld>
            <a:endParaRPr lang="en-CA"/>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4" name="Slide Number Placeholder 3"/>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1594520" cy="365125"/>
          </a:xfrm>
          <a:prstGeom prst="rect">
            <a:avLst/>
          </a:prstGeom>
        </p:spPr>
        <p:txBody>
          <a:bodyPr/>
          <a:lstStyle/>
          <a:p>
            <a:fld id="{FC65C9D5-78A9-4F26-8196-1E27350E6D5C}" type="datetime1">
              <a:rPr lang="en-CA" smtClean="0"/>
              <a:pPr/>
              <a:t>11-12-06</a:t>
            </a:fld>
            <a:endParaRPr lang="en-CA"/>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7" name="Slide Number Placeholder 6"/>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1594520" cy="365125"/>
          </a:xfrm>
          <a:prstGeom prst="rect">
            <a:avLst/>
          </a:prstGeom>
        </p:spPr>
        <p:txBody>
          <a:bodyPr/>
          <a:lstStyle/>
          <a:p>
            <a:fld id="{02AC6105-E513-47AC-A666-721193ED533C}" type="datetime1">
              <a:rPr lang="en-CA" smtClean="0"/>
              <a:pPr/>
              <a:t>11-12-06</a:t>
            </a:fld>
            <a:endParaRPr lang="en-CA"/>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7" name="Slide Number Placeholder 6"/>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a:xfrm>
            <a:off x="457200" y="6356350"/>
            <a:ext cx="1594520" cy="365125"/>
          </a:xfrm>
          <a:prstGeom prst="rect">
            <a:avLst/>
          </a:prstGeom>
        </p:spPr>
        <p:txBody>
          <a:bodyPr/>
          <a:lstStyle/>
          <a:p>
            <a:fld id="{8EC10121-2B6B-4670-AEF3-1DD2FE9E6A49}" type="datetime1">
              <a:rPr lang="en-CA" smtClean="0"/>
              <a:pPr/>
              <a:t>11-12-06</a:t>
            </a:fld>
            <a:endParaRPr lang="en-CA"/>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6" name="Slide Number Placeholder 5"/>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a:xfrm>
            <a:off x="457200" y="6356350"/>
            <a:ext cx="1594520" cy="365125"/>
          </a:xfrm>
          <a:prstGeom prst="rect">
            <a:avLst/>
          </a:prstGeom>
        </p:spPr>
        <p:txBody>
          <a:bodyPr/>
          <a:lstStyle/>
          <a:p>
            <a:fld id="{CA1F3041-3316-43E5-8675-D6DE8F64A653}" type="datetime1">
              <a:rPr lang="en-CA" smtClean="0"/>
              <a:pPr/>
              <a:t>11-12-06</a:t>
            </a:fld>
            <a:endParaRPr lang="en-CA"/>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CA" smtClean="0"/>
              <a:t>Hogeveen, "Transcranial Magnetic Information"</a:t>
            </a:r>
            <a:endParaRPr lang="en-CA"/>
          </a:p>
        </p:txBody>
      </p:sp>
      <p:sp>
        <p:nvSpPr>
          <p:cNvPr id="6" name="Slide Number Placeholder 5"/>
          <p:cNvSpPr>
            <a:spLocks noGrp="1"/>
          </p:cNvSpPr>
          <p:nvPr>
            <p:ph type="sldNum" sz="quarter" idx="12"/>
          </p:nvPr>
        </p:nvSpPr>
        <p:spPr>
          <a:xfrm>
            <a:off x="7956376" y="6356350"/>
            <a:ext cx="730424" cy="365125"/>
          </a:xfrm>
          <a:prstGeom prst="rect">
            <a:avLst/>
          </a:prstGeom>
        </p:spPr>
        <p:txBody>
          <a:bodyPr/>
          <a:lstStyle/>
          <a:p>
            <a:fld id="{349B1B0E-42F6-45BB-9DB6-EC6614DB743D}"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CA"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CA"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3200" b="1" kern="1200">
          <a:solidFill>
            <a:schemeClr val="bg1"/>
          </a:solidFill>
          <a:latin typeface="Helvetica" pitchFamily="34" charset="0"/>
          <a:ea typeface="+mj-ea"/>
          <a:cs typeface="Helvetica" pitchFamily="34" charset="0"/>
        </a:defRPr>
      </a:lvl1pPr>
    </p:titleStyle>
    <p:bodyStyle>
      <a:lvl1pPr marL="342900" indent="-342900" algn="l" defTabSz="914400" rtl="0" eaLnBrk="1" latinLnBrk="0" hangingPunct="1">
        <a:spcBef>
          <a:spcPct val="20000"/>
        </a:spcBef>
        <a:buFont typeface="Arial" pitchFamily="34" charset="0"/>
        <a:buChar char="•"/>
        <a:defRPr sz="2800" b="1" kern="1200">
          <a:solidFill>
            <a:schemeClr val="bg1"/>
          </a:solidFill>
          <a:latin typeface="Helvetica" pitchFamily="34" charset="0"/>
          <a:ea typeface="+mn-ea"/>
          <a:cs typeface="Helvetica" pitchFamily="34" charset="0"/>
        </a:defRPr>
      </a:lvl1pPr>
      <a:lvl2pPr marL="742950" indent="-285750" algn="l" defTabSz="914400" rtl="0" eaLnBrk="1" latinLnBrk="0" hangingPunct="1">
        <a:spcBef>
          <a:spcPct val="20000"/>
        </a:spcBef>
        <a:buFont typeface="Arial" pitchFamily="34" charset="0"/>
        <a:buChar char="–"/>
        <a:defRPr sz="2600" kern="1200">
          <a:solidFill>
            <a:schemeClr val="bg1"/>
          </a:solidFill>
          <a:latin typeface="Helvetica" pitchFamily="34" charset="0"/>
          <a:ea typeface="+mn-ea"/>
          <a:cs typeface="Helvetica"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Helvetica" pitchFamily="34" charset="0"/>
          <a:ea typeface="+mn-ea"/>
          <a:cs typeface="Helvetica" pitchFamily="34" charset="0"/>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oleObject" Target="file:///\\localhost\Users\hoge4680\Dropbox\Jeremy's%20School%20Files\psych%20792%20readings\surprise,entropy,meps\Document1!OLE_LINK2" TargetMode="External"/><Relationship Id="rId7" Type="http://schemas.openxmlformats.org/officeDocument/2006/relationships/image" Target="../media/image17.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oleObject" Target="file:///\\localhost\Users\hoge4680\Dropbox\Jeremy's%20School%20Files\psych%20792%20readings\surprise,entropy,meps\Document1!OLE_LINK3" TargetMode="External"/><Relationship Id="rId7" Type="http://schemas.openxmlformats.org/officeDocument/2006/relationships/image" Target="../media/image18.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oleObject" Target="file:///\\localhost\Users\hoge4680\Dropbox\Jeremy's%20School%20Files\psych%20792%20readings\surprise,entropy,meps\Document1!OLE_LINK4" TargetMode="External"/><Relationship Id="rId7" Type="http://schemas.openxmlformats.org/officeDocument/2006/relationships/image" Target="../media/image19.e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chart" Target="../charts/char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chart" Target="../charts/char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chart" Target="../charts/char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chart" Target="../charts/char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chart" Target="../charts/char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chart" Target="../charts/char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chart" Target="../charts/char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72.xml"/><Relationship Id="rId5" Type="http://schemas.openxmlformats.org/officeDocument/2006/relationships/image" Target="../media/image29.png"/><Relationship Id="rId1" Type="http://schemas.microsoft.com/office/2007/relationships/media" Target="../media/media1.mov"/><Relationship Id="rId2" Type="http://schemas.openxmlformats.org/officeDocument/2006/relationships/video" Target="../media/media1.mov"/></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chart" Target="../charts/char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0.png"/></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chart" Target="../charts/char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3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chart" Target="../charts/chart10.xml"/></Relationships>
</file>

<file path=ppt/slides/_rels/slide81.xml.rels><?xml version="1.0" encoding="UTF-8" standalone="yes"?>
<Relationships xmlns="http://schemas.openxmlformats.org/package/2006/relationships"><Relationship Id="rId3" Type="http://schemas.openxmlformats.org/officeDocument/2006/relationships/chart" Target="../charts/chart11.xml"/><Relationship Id="rId4" Type="http://schemas.openxmlformats.org/officeDocument/2006/relationships/chart" Target="../charts/chart12.xml"/><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36.png"/></Relationships>
</file>

<file path=ppt/slides/_rels/slide90.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CA" sz="3600" dirty="0" err="1" smtClean="0">
                <a:latin typeface="Helvetica" pitchFamily="34" charset="0"/>
                <a:cs typeface="Helvetica" pitchFamily="34" charset="0"/>
              </a:rPr>
              <a:t>Transcranial</a:t>
            </a:r>
            <a:r>
              <a:rPr lang="en-CA" sz="3600" dirty="0" smtClean="0">
                <a:latin typeface="Helvetica" pitchFamily="34" charset="0"/>
                <a:cs typeface="Helvetica" pitchFamily="34" charset="0"/>
              </a:rPr>
              <a:t> Magnetic Information:</a:t>
            </a:r>
            <a:r>
              <a:rPr lang="en-CA" dirty="0" smtClean="0">
                <a:latin typeface="Helvetica" pitchFamily="34" charset="0"/>
                <a:cs typeface="Helvetica" pitchFamily="34" charset="0"/>
              </a:rPr>
              <a:t/>
            </a:r>
            <a:br>
              <a:rPr lang="en-CA" dirty="0" smtClean="0">
                <a:latin typeface="Helvetica" pitchFamily="34" charset="0"/>
                <a:cs typeface="Helvetica" pitchFamily="34" charset="0"/>
              </a:rPr>
            </a:br>
            <a:r>
              <a:rPr lang="en-CA" sz="1000" dirty="0"/>
              <a:t/>
            </a:r>
            <a:br>
              <a:rPr lang="en-CA" sz="1000" dirty="0"/>
            </a:br>
            <a:r>
              <a:rPr lang="en-CA" sz="2600" b="0" dirty="0" smtClean="0"/>
              <a:t>Influence of Surprise on </a:t>
            </a:r>
            <a:r>
              <a:rPr lang="en-CA" sz="2600" b="0" dirty="0" err="1" smtClean="0"/>
              <a:t>Corticospinal</a:t>
            </a:r>
            <a:r>
              <a:rPr lang="en-CA" sz="2600" b="0" dirty="0" smtClean="0"/>
              <a:t> Excitability</a:t>
            </a:r>
            <a:endParaRPr lang="en-CA" sz="2600" b="0" dirty="0">
              <a:latin typeface="Helvetica" pitchFamily="34" charset="0"/>
              <a:cs typeface="Helvetica" pitchFamily="34" charset="0"/>
            </a:endParaRPr>
          </a:p>
        </p:txBody>
      </p:sp>
      <p:sp>
        <p:nvSpPr>
          <p:cNvPr id="3" name="Subtitle 2"/>
          <p:cNvSpPr>
            <a:spLocks noGrp="1"/>
          </p:cNvSpPr>
          <p:nvPr>
            <p:ph type="subTitle" idx="1"/>
          </p:nvPr>
        </p:nvSpPr>
        <p:spPr>
          <a:xfrm>
            <a:off x="1403648" y="4725144"/>
            <a:ext cx="6400800" cy="1752600"/>
          </a:xfrm>
        </p:spPr>
        <p:txBody>
          <a:bodyPr>
            <a:normAutofit/>
          </a:bodyPr>
          <a:lstStyle/>
          <a:p>
            <a:r>
              <a:rPr lang="en-CA" sz="1800" dirty="0" smtClean="0"/>
              <a:t>Jeremy </a:t>
            </a:r>
            <a:r>
              <a:rPr lang="en-CA" sz="1800" dirty="0" err="1" smtClean="0"/>
              <a:t>Hogeveen</a:t>
            </a:r>
            <a:endParaRPr lang="en-CA" sz="1800" dirty="0" smtClean="0"/>
          </a:p>
          <a:p>
            <a:endParaRPr lang="en-CA" sz="1800" dirty="0"/>
          </a:p>
          <a:p>
            <a:r>
              <a:rPr lang="en-CA" sz="1800" dirty="0" smtClean="0"/>
              <a:t>Centre for Cognitive Neuroscience</a:t>
            </a:r>
          </a:p>
          <a:p>
            <a:r>
              <a:rPr lang="en-CA" sz="1800" dirty="0" err="1" smtClean="0"/>
              <a:t>Wilfrid</a:t>
            </a:r>
            <a:r>
              <a:rPr lang="en-CA" sz="1800" dirty="0" smtClean="0"/>
              <a:t> Laurier University</a:t>
            </a:r>
            <a:endParaRPr lang="en-CA" sz="1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Outline</a:t>
            </a:r>
            <a:endParaRPr lang="en-CA" dirty="0"/>
          </a:p>
        </p:txBody>
      </p:sp>
      <p:sp>
        <p:nvSpPr>
          <p:cNvPr id="3" name="Content Placeholder 2"/>
          <p:cNvSpPr>
            <a:spLocks noGrp="1"/>
          </p:cNvSpPr>
          <p:nvPr>
            <p:ph idx="1"/>
          </p:nvPr>
        </p:nvSpPr>
        <p:spPr/>
        <p:txBody>
          <a:bodyPr>
            <a:normAutofit/>
          </a:bodyPr>
          <a:lstStyle/>
          <a:p>
            <a:r>
              <a:rPr lang="en-CA" sz="2600" dirty="0" smtClean="0"/>
              <a:t>Intro to </a:t>
            </a:r>
            <a:r>
              <a:rPr lang="en-CA" sz="2600" dirty="0" err="1" smtClean="0"/>
              <a:t>transcranial</a:t>
            </a:r>
            <a:r>
              <a:rPr lang="en-CA" sz="2600" dirty="0" smtClean="0"/>
              <a:t> magnetic stimulation (TMS)</a:t>
            </a:r>
          </a:p>
          <a:p>
            <a:endParaRPr lang="en-CA" sz="900" dirty="0"/>
          </a:p>
          <a:p>
            <a:endParaRPr lang="en-CA" sz="100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Outline</a:t>
            </a:r>
            <a:endParaRPr lang="en-CA" dirty="0"/>
          </a:p>
        </p:txBody>
      </p:sp>
      <p:sp>
        <p:nvSpPr>
          <p:cNvPr id="3" name="Content Placeholder 2"/>
          <p:cNvSpPr>
            <a:spLocks noGrp="1"/>
          </p:cNvSpPr>
          <p:nvPr>
            <p:ph idx="1"/>
          </p:nvPr>
        </p:nvSpPr>
        <p:spPr/>
        <p:txBody>
          <a:bodyPr>
            <a:normAutofit/>
          </a:bodyPr>
          <a:lstStyle/>
          <a:p>
            <a:r>
              <a:rPr lang="en-CA" sz="2600" dirty="0" smtClean="0"/>
              <a:t>Intro to </a:t>
            </a:r>
            <a:r>
              <a:rPr lang="en-CA" sz="2600" dirty="0" err="1" smtClean="0"/>
              <a:t>transcranial</a:t>
            </a:r>
            <a:r>
              <a:rPr lang="en-CA" sz="2600" dirty="0" smtClean="0"/>
              <a:t> magnetic stimulation (TMS)</a:t>
            </a:r>
          </a:p>
          <a:p>
            <a:endParaRPr lang="en-CA" sz="900" dirty="0"/>
          </a:p>
          <a:p>
            <a:endParaRPr lang="en-CA" sz="900" dirty="0"/>
          </a:p>
          <a:p>
            <a:r>
              <a:rPr lang="en-CA" sz="2600" dirty="0" smtClean="0"/>
              <a:t>Present model</a:t>
            </a:r>
          </a:p>
          <a:p>
            <a:pPr marL="457200" lvl="1" indent="0">
              <a:buNone/>
            </a:pPr>
            <a:endParaRPr lang="en-CA" sz="1000" dirty="0"/>
          </a:p>
          <a:p>
            <a:pPr lvl="1"/>
            <a:endParaRPr lang="en-CA" sz="1000"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Outline</a:t>
            </a:r>
            <a:endParaRPr lang="en-CA" dirty="0"/>
          </a:p>
        </p:txBody>
      </p:sp>
      <p:sp>
        <p:nvSpPr>
          <p:cNvPr id="3" name="Content Placeholder 2"/>
          <p:cNvSpPr>
            <a:spLocks noGrp="1"/>
          </p:cNvSpPr>
          <p:nvPr>
            <p:ph idx="1"/>
          </p:nvPr>
        </p:nvSpPr>
        <p:spPr/>
        <p:txBody>
          <a:bodyPr>
            <a:normAutofit/>
          </a:bodyPr>
          <a:lstStyle/>
          <a:p>
            <a:r>
              <a:rPr lang="en-CA" sz="2600" dirty="0" smtClean="0"/>
              <a:t>Intro to </a:t>
            </a:r>
            <a:r>
              <a:rPr lang="en-CA" sz="2600" dirty="0" err="1" smtClean="0"/>
              <a:t>transcranial</a:t>
            </a:r>
            <a:r>
              <a:rPr lang="en-CA" sz="2600" dirty="0" smtClean="0"/>
              <a:t> magnetic stimulation (TMS)</a:t>
            </a:r>
          </a:p>
          <a:p>
            <a:endParaRPr lang="en-CA" sz="900" dirty="0"/>
          </a:p>
          <a:p>
            <a:pPr>
              <a:buNone/>
            </a:pPr>
            <a:endParaRPr lang="en-CA" sz="900" dirty="0"/>
          </a:p>
          <a:p>
            <a:r>
              <a:rPr lang="en-CA" sz="2600" dirty="0" smtClean="0"/>
              <a:t>Present model</a:t>
            </a:r>
          </a:p>
          <a:p>
            <a:endParaRPr lang="en-CA" sz="1400" dirty="0" smtClean="0"/>
          </a:p>
          <a:p>
            <a:r>
              <a:rPr lang="en-CA" dirty="0" smtClean="0"/>
              <a:t>Conclusions</a:t>
            </a:r>
          </a:p>
          <a:p>
            <a:pPr lvl="1"/>
            <a:endParaRPr lang="en-CA" sz="1000" dirty="0"/>
          </a:p>
          <a:p>
            <a:pPr lvl="1"/>
            <a:endParaRPr lang="en-CA" sz="10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Transcranial</a:t>
            </a:r>
            <a:r>
              <a:rPr lang="en-CA" dirty="0" smtClean="0"/>
              <a:t> Magnetic Stimulation (TMS)</a:t>
            </a:r>
            <a:endParaRPr lang="en-CA" dirty="0"/>
          </a:p>
        </p:txBody>
      </p:sp>
      <p:sp>
        <p:nvSpPr>
          <p:cNvPr id="3" name="Content Placeholder 2"/>
          <p:cNvSpPr>
            <a:spLocks noGrp="1"/>
          </p:cNvSpPr>
          <p:nvPr>
            <p:ph idx="1"/>
          </p:nvPr>
        </p:nvSpPr>
        <p:spPr/>
        <p:txBody>
          <a:bodyPr/>
          <a:lstStyle/>
          <a:p>
            <a:r>
              <a:rPr lang="en-CA" dirty="0" smtClean="0"/>
              <a:t>Why use TMS?</a:t>
            </a:r>
          </a:p>
          <a:p>
            <a:endParaRPr lang="en-CA" dirty="0" smtClean="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Transcranial</a:t>
            </a:r>
            <a:r>
              <a:rPr lang="en-CA" dirty="0" smtClean="0"/>
              <a:t> Magnetic Stimulation (TMS)</a:t>
            </a:r>
            <a:endParaRPr lang="en-CA" dirty="0"/>
          </a:p>
        </p:txBody>
      </p:sp>
      <p:sp>
        <p:nvSpPr>
          <p:cNvPr id="3" name="Content Placeholder 2"/>
          <p:cNvSpPr>
            <a:spLocks noGrp="1"/>
          </p:cNvSpPr>
          <p:nvPr>
            <p:ph idx="1"/>
          </p:nvPr>
        </p:nvSpPr>
        <p:spPr/>
        <p:txBody>
          <a:bodyPr/>
          <a:lstStyle/>
          <a:p>
            <a:r>
              <a:rPr lang="en-CA" dirty="0" smtClean="0"/>
              <a:t>Why use TMS?</a:t>
            </a:r>
          </a:p>
          <a:p>
            <a:endParaRPr lang="en-CA" dirty="0" smtClean="0"/>
          </a:p>
          <a:p>
            <a:pPr lvl="1"/>
            <a:r>
              <a:rPr lang="en-CA" dirty="0" smtClean="0"/>
              <a:t>TMS is a non-invasive method of stimulating the brain and peripheral nervous system using induced currents </a:t>
            </a:r>
            <a:r>
              <a:rPr lang="en-CA" sz="1800" dirty="0" smtClean="0"/>
              <a:t>(Barker &amp; </a:t>
            </a:r>
            <a:r>
              <a:rPr lang="en-CA" sz="1800" dirty="0" err="1" smtClean="0"/>
              <a:t>Freeston</a:t>
            </a:r>
            <a:r>
              <a:rPr lang="en-CA" sz="1800" dirty="0" smtClean="0"/>
              <a:t>, 2007)</a:t>
            </a:r>
            <a:endParaRPr lang="en-CA" sz="180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Why use TMS?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9" name="Content Placeholder 2"/>
          <p:cNvSpPr>
            <a:spLocks noGrp="1"/>
          </p:cNvSpPr>
          <p:nvPr>
            <p:ph idx="1"/>
          </p:nvPr>
        </p:nvSpPr>
        <p:spPr>
          <a:xfrm>
            <a:off x="457200" y="1600200"/>
            <a:ext cx="3106688" cy="4525963"/>
          </a:xfrm>
        </p:spPr>
        <p:txBody>
          <a:bodyPr>
            <a:normAutofit/>
          </a:bodyPr>
          <a:lstStyle/>
          <a:p>
            <a:r>
              <a:rPr lang="en-CA" b="0" dirty="0" err="1" smtClean="0"/>
              <a:t>fMRI</a:t>
            </a:r>
            <a:r>
              <a:rPr lang="en-CA" b="0" dirty="0" smtClean="0"/>
              <a:t>, PET, MEG &amp; ERPs are hugely illuminating</a:t>
            </a:r>
          </a:p>
          <a:p>
            <a:pPr lvl="1"/>
            <a:endParaRPr lang="en-CA" sz="10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Why use TMS?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fMRI LOC image (Levy, Hasson, NN, 2001).JPG"/>
          <p:cNvPicPr>
            <a:picLocks noChangeAspect="1"/>
          </p:cNvPicPr>
          <p:nvPr/>
        </p:nvPicPr>
        <p:blipFill>
          <a:blip r:embed="rId3" cstate="print"/>
          <a:stretch>
            <a:fillRect/>
          </a:stretch>
        </p:blipFill>
        <p:spPr>
          <a:xfrm>
            <a:off x="3746756" y="1628800"/>
            <a:ext cx="5055881" cy="4320480"/>
          </a:xfrm>
          <a:prstGeom prst="rect">
            <a:avLst/>
          </a:prstGeom>
        </p:spPr>
      </p:pic>
      <p:sp>
        <p:nvSpPr>
          <p:cNvPr id="9" name="Content Placeholder 2"/>
          <p:cNvSpPr>
            <a:spLocks noGrp="1"/>
          </p:cNvSpPr>
          <p:nvPr>
            <p:ph idx="1"/>
          </p:nvPr>
        </p:nvSpPr>
        <p:spPr>
          <a:xfrm>
            <a:off x="457200" y="1600200"/>
            <a:ext cx="3106688" cy="4525963"/>
          </a:xfrm>
        </p:spPr>
        <p:txBody>
          <a:bodyPr>
            <a:normAutofit/>
          </a:bodyPr>
          <a:lstStyle/>
          <a:p>
            <a:r>
              <a:rPr lang="en-CA" dirty="0" err="1" smtClean="0"/>
              <a:t>fMRI</a:t>
            </a:r>
            <a:r>
              <a:rPr lang="en-CA" b="0" dirty="0" smtClean="0"/>
              <a:t>, PET, MEG &amp; ERPs are hugely illuminating</a:t>
            </a:r>
          </a:p>
          <a:p>
            <a:pPr lvl="1"/>
            <a:endParaRPr lang="en-CA" sz="1000" dirty="0"/>
          </a:p>
        </p:txBody>
      </p:sp>
      <p:sp>
        <p:nvSpPr>
          <p:cNvPr id="10" name="TextBox 9"/>
          <p:cNvSpPr txBox="1"/>
          <p:nvPr/>
        </p:nvSpPr>
        <p:spPr>
          <a:xfrm>
            <a:off x="3779912" y="5949280"/>
            <a:ext cx="5040560" cy="276999"/>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Figure courtesy: Levy, I., et al., (2001).</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Why use TMS?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fMRI LOC image (Levy, Hasson, NN, 2001).JPG"/>
          <p:cNvPicPr>
            <a:picLocks noChangeAspect="1"/>
          </p:cNvPicPr>
          <p:nvPr/>
        </p:nvPicPr>
        <p:blipFill>
          <a:blip r:embed="rId3" cstate="print"/>
          <a:stretch>
            <a:fillRect/>
          </a:stretch>
        </p:blipFill>
        <p:spPr>
          <a:xfrm>
            <a:off x="3746756" y="1628800"/>
            <a:ext cx="5055881" cy="4320480"/>
          </a:xfrm>
          <a:prstGeom prst="rect">
            <a:avLst/>
          </a:prstGeom>
        </p:spPr>
      </p:pic>
      <p:sp>
        <p:nvSpPr>
          <p:cNvPr id="9" name="Content Placeholder 2"/>
          <p:cNvSpPr>
            <a:spLocks noGrp="1"/>
          </p:cNvSpPr>
          <p:nvPr>
            <p:ph idx="1"/>
          </p:nvPr>
        </p:nvSpPr>
        <p:spPr>
          <a:xfrm>
            <a:off x="457200" y="1600200"/>
            <a:ext cx="3106688" cy="4525963"/>
          </a:xfrm>
        </p:spPr>
        <p:txBody>
          <a:bodyPr>
            <a:normAutofit/>
          </a:bodyPr>
          <a:lstStyle/>
          <a:p>
            <a:r>
              <a:rPr lang="en-CA" dirty="0" err="1" smtClean="0"/>
              <a:t>fMRI</a:t>
            </a:r>
            <a:r>
              <a:rPr lang="en-CA" b="0" dirty="0" smtClean="0"/>
              <a:t>, PET, MEG &amp; ERPs are hugely illuminating</a:t>
            </a:r>
          </a:p>
          <a:p>
            <a:endParaRPr lang="en-CA" b="0" dirty="0" smtClean="0"/>
          </a:p>
          <a:p>
            <a:r>
              <a:rPr lang="en-CA" b="0" dirty="0" smtClean="0"/>
              <a:t>But, what can we conclude from this?</a:t>
            </a:r>
            <a:endParaRPr lang="en-CA" dirty="0" smtClean="0"/>
          </a:p>
          <a:p>
            <a:pPr lvl="1"/>
            <a:endParaRPr lang="en-CA" sz="1000" dirty="0"/>
          </a:p>
        </p:txBody>
      </p:sp>
      <p:sp>
        <p:nvSpPr>
          <p:cNvPr id="10" name="TextBox 9"/>
          <p:cNvSpPr txBox="1"/>
          <p:nvPr/>
        </p:nvSpPr>
        <p:spPr>
          <a:xfrm>
            <a:off x="3779912" y="5949280"/>
            <a:ext cx="5040560" cy="276999"/>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Figure courtesy: Levy, I., et al., (2001).</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Why use TMS?</a:t>
            </a:r>
            <a:endParaRPr lang="en-CA" dirty="0"/>
          </a:p>
        </p:txBody>
      </p:sp>
      <p:sp>
        <p:nvSpPr>
          <p:cNvPr id="3" name="Content Placeholder 2"/>
          <p:cNvSpPr>
            <a:spLocks noGrp="1"/>
          </p:cNvSpPr>
          <p:nvPr>
            <p:ph idx="1"/>
          </p:nvPr>
        </p:nvSpPr>
        <p:spPr/>
        <p:txBody>
          <a:bodyPr/>
          <a:lstStyle/>
          <a:p>
            <a:r>
              <a:rPr lang="en-CA" b="0" dirty="0" smtClean="0"/>
              <a:t>Because it helps us elaborate on neuroimaging data to establish </a:t>
            </a:r>
            <a:r>
              <a:rPr lang="en-CA" dirty="0" smtClean="0"/>
              <a:t>causal </a:t>
            </a:r>
            <a:r>
              <a:rPr lang="en-CA" b="0" dirty="0" smtClean="0"/>
              <a:t>relationships between candidate neural substrates and behaviour</a:t>
            </a:r>
            <a:endParaRPr lang="en-CA" sz="1800" b="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3" name="Content Placeholder 2"/>
          <p:cNvSpPr>
            <a:spLocks noGrp="1"/>
          </p:cNvSpPr>
          <p:nvPr>
            <p:ph idx="1"/>
          </p:nvPr>
        </p:nvSpPr>
        <p:spPr/>
        <p:txBody>
          <a:bodyPr/>
          <a:lstStyle/>
          <a:p>
            <a:r>
              <a:rPr lang="en-CA" b="0" dirty="0" smtClean="0"/>
              <a:t>Based on Faraday’s electromagnetic induction</a:t>
            </a:r>
          </a:p>
          <a:p>
            <a:endParaRPr lang="en-CA" sz="1800" b="0" dirty="0" smtClean="0"/>
          </a:p>
          <a:p>
            <a:pPr lvl="1">
              <a:buFont typeface="+mj-lt"/>
              <a:buAutoNum type="arabicPeriod"/>
            </a:pPr>
            <a:r>
              <a:rPr lang="en-CA" b="0" dirty="0" smtClean="0"/>
              <a:t> A pulse of electrical current flowing through a coil of wire generates a magnetic field</a:t>
            </a:r>
            <a:endParaRPr lang="en-CA" b="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7" name="TextBox 6"/>
          <p:cNvSpPr txBox="1"/>
          <p:nvPr/>
        </p:nvSpPr>
        <p:spPr>
          <a:xfrm>
            <a:off x="467544" y="5877272"/>
            <a:ext cx="5040560" cy="276999"/>
          </a:xfrm>
          <a:prstGeom prst="rect">
            <a:avLst/>
          </a:prstGeom>
          <a:noFill/>
          <a:ln>
            <a:noFill/>
          </a:ln>
        </p:spPr>
        <p:txBody>
          <a:bodyPr wrap="square" rtlCol="0">
            <a:spAutoFit/>
          </a:bodyPr>
          <a:lstStyle/>
          <a:p>
            <a:r>
              <a:rPr lang="en-CA" sz="1200" dirty="0" err="1" smtClean="0">
                <a:solidFill>
                  <a:schemeClr val="bg1"/>
                </a:solidFill>
                <a:latin typeface="Helvetica" pitchFamily="34" charset="0"/>
                <a:cs typeface="Helvetica" pitchFamily="34" charset="0"/>
              </a:rPr>
              <a:t>Pascual</a:t>
            </a:r>
            <a:r>
              <a:rPr lang="en-CA" sz="1200" dirty="0" smtClean="0">
                <a:solidFill>
                  <a:schemeClr val="bg1"/>
                </a:solidFill>
                <a:latin typeface="Helvetica" pitchFamily="34" charset="0"/>
                <a:cs typeface="Helvetica" pitchFamily="34" charset="0"/>
              </a:rPr>
              <a:t>-Leone, Walsh, &amp; </a:t>
            </a:r>
            <a:r>
              <a:rPr lang="en-CA" sz="1200" dirty="0" err="1" smtClean="0">
                <a:solidFill>
                  <a:schemeClr val="bg1"/>
                </a:solidFill>
                <a:latin typeface="Helvetica" pitchFamily="34" charset="0"/>
                <a:cs typeface="Helvetica" pitchFamily="34" charset="0"/>
              </a:rPr>
              <a:t>Rothwell</a:t>
            </a:r>
            <a:r>
              <a:rPr lang="en-CA" sz="1200" dirty="0" smtClean="0">
                <a:solidFill>
                  <a:schemeClr val="bg1"/>
                </a:solidFill>
                <a:latin typeface="Helvetica" pitchFamily="34" charset="0"/>
                <a:cs typeface="Helvetica" pitchFamily="34" charset="0"/>
              </a:rPr>
              <a:t> (2000).</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3" name="Content Placeholder 2"/>
          <p:cNvSpPr>
            <a:spLocks noGrp="1"/>
          </p:cNvSpPr>
          <p:nvPr>
            <p:ph idx="1"/>
          </p:nvPr>
        </p:nvSpPr>
        <p:spPr/>
        <p:txBody>
          <a:bodyPr/>
          <a:lstStyle/>
          <a:p>
            <a:r>
              <a:rPr lang="en-CA" b="0" dirty="0" smtClean="0"/>
              <a:t>Based on Faraday’s electromagnetic induction</a:t>
            </a:r>
          </a:p>
          <a:p>
            <a:endParaRPr lang="en-CA" sz="1800" b="0" dirty="0" smtClean="0"/>
          </a:p>
          <a:p>
            <a:pPr lvl="1">
              <a:buFont typeface="+mj-lt"/>
              <a:buAutoNum type="arabicPeriod"/>
            </a:pPr>
            <a:r>
              <a:rPr lang="en-CA" b="0" dirty="0" smtClean="0"/>
              <a:t> A pulse of electrical current flowing through a coil of wire generates a magnetic field</a:t>
            </a:r>
          </a:p>
          <a:p>
            <a:pPr lvl="1">
              <a:buFont typeface="+mj-lt"/>
              <a:buAutoNum type="arabicPeriod"/>
            </a:pPr>
            <a:endParaRPr lang="en-CA" sz="1000" dirty="0" smtClean="0"/>
          </a:p>
          <a:p>
            <a:pPr lvl="1">
              <a:buFont typeface="+mj-lt"/>
              <a:buAutoNum type="arabicPeriod"/>
            </a:pPr>
            <a:r>
              <a:rPr lang="en-CA" b="0" dirty="0" smtClean="0"/>
              <a:t>If the magnitude of this field changes in time, it induces a secondary current in a nearby conductor</a:t>
            </a:r>
          </a:p>
          <a:p>
            <a:pPr lvl="1">
              <a:buFont typeface="+mj-lt"/>
              <a:buAutoNum type="arabicPeriod"/>
            </a:pPr>
            <a:endParaRPr lang="en-CA" sz="1000" dirty="0" smtClean="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7" name="TextBox 6"/>
          <p:cNvSpPr txBox="1"/>
          <p:nvPr/>
        </p:nvSpPr>
        <p:spPr>
          <a:xfrm>
            <a:off x="467544" y="5877272"/>
            <a:ext cx="5040560" cy="276999"/>
          </a:xfrm>
          <a:prstGeom prst="rect">
            <a:avLst/>
          </a:prstGeom>
          <a:noFill/>
          <a:ln>
            <a:noFill/>
          </a:ln>
        </p:spPr>
        <p:txBody>
          <a:bodyPr wrap="square" rtlCol="0">
            <a:spAutoFit/>
          </a:bodyPr>
          <a:lstStyle/>
          <a:p>
            <a:r>
              <a:rPr lang="en-CA" sz="1200" dirty="0" err="1" smtClean="0">
                <a:solidFill>
                  <a:schemeClr val="bg1"/>
                </a:solidFill>
                <a:latin typeface="Helvetica" pitchFamily="34" charset="0"/>
                <a:cs typeface="Helvetica" pitchFamily="34" charset="0"/>
              </a:rPr>
              <a:t>Pascual</a:t>
            </a:r>
            <a:r>
              <a:rPr lang="en-CA" sz="1200" dirty="0" smtClean="0">
                <a:solidFill>
                  <a:schemeClr val="bg1"/>
                </a:solidFill>
                <a:latin typeface="Helvetica" pitchFamily="34" charset="0"/>
                <a:cs typeface="Helvetica" pitchFamily="34" charset="0"/>
              </a:rPr>
              <a:t>-Leone, Walsh, &amp; </a:t>
            </a:r>
            <a:r>
              <a:rPr lang="en-CA" sz="1200" dirty="0" err="1" smtClean="0">
                <a:solidFill>
                  <a:schemeClr val="bg1"/>
                </a:solidFill>
                <a:latin typeface="Helvetica" pitchFamily="34" charset="0"/>
                <a:cs typeface="Helvetica" pitchFamily="34" charset="0"/>
              </a:rPr>
              <a:t>Rothwell</a:t>
            </a:r>
            <a:r>
              <a:rPr lang="en-CA" sz="1200" dirty="0" smtClean="0">
                <a:solidFill>
                  <a:schemeClr val="bg1"/>
                </a:solidFill>
                <a:latin typeface="Helvetica" pitchFamily="34" charset="0"/>
                <a:cs typeface="Helvetica" pitchFamily="34" charset="0"/>
              </a:rPr>
              <a:t> (2000).</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3" name="Content Placeholder 2"/>
          <p:cNvSpPr>
            <a:spLocks noGrp="1"/>
          </p:cNvSpPr>
          <p:nvPr>
            <p:ph idx="1"/>
          </p:nvPr>
        </p:nvSpPr>
        <p:spPr/>
        <p:txBody>
          <a:bodyPr/>
          <a:lstStyle/>
          <a:p>
            <a:r>
              <a:rPr lang="en-CA" b="0" dirty="0" smtClean="0"/>
              <a:t>Based on Faraday’s electromagnetic induction</a:t>
            </a:r>
          </a:p>
          <a:p>
            <a:endParaRPr lang="en-CA" sz="1800" b="0" dirty="0" smtClean="0"/>
          </a:p>
          <a:p>
            <a:pPr lvl="1">
              <a:buFont typeface="+mj-lt"/>
              <a:buAutoNum type="arabicPeriod"/>
            </a:pPr>
            <a:r>
              <a:rPr lang="en-CA" b="0" dirty="0" smtClean="0"/>
              <a:t> A pulse of electrical current flowing through a coil of wire generates a magnetic field</a:t>
            </a:r>
          </a:p>
          <a:p>
            <a:pPr lvl="1">
              <a:buFont typeface="+mj-lt"/>
              <a:buAutoNum type="arabicPeriod"/>
            </a:pPr>
            <a:endParaRPr lang="en-CA" sz="1000" dirty="0" smtClean="0"/>
          </a:p>
          <a:p>
            <a:pPr lvl="1">
              <a:buFont typeface="+mj-lt"/>
              <a:buAutoNum type="arabicPeriod"/>
            </a:pPr>
            <a:r>
              <a:rPr lang="en-CA" b="0" dirty="0" smtClean="0"/>
              <a:t>If the magnitude of this field changes in time, it induces a secondary current in a nearby conductor</a:t>
            </a:r>
          </a:p>
          <a:p>
            <a:pPr lvl="1">
              <a:buFont typeface="+mj-lt"/>
              <a:buAutoNum type="arabicPeriod"/>
            </a:pPr>
            <a:endParaRPr lang="en-CA" sz="1000" dirty="0" smtClean="0"/>
          </a:p>
          <a:p>
            <a:pPr lvl="1">
              <a:buFont typeface="+mj-lt"/>
              <a:buAutoNum type="arabicPeriod"/>
            </a:pPr>
            <a:r>
              <a:rPr lang="en-CA" b="0" dirty="0" smtClean="0"/>
              <a:t>The rate of change of the field determines the size </a:t>
            </a:r>
            <a:r>
              <a:rPr lang="en-CA" dirty="0" smtClean="0"/>
              <a:t>of the current induced</a:t>
            </a:r>
            <a:endParaRPr lang="en-CA" b="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7" name="TextBox 6"/>
          <p:cNvSpPr txBox="1"/>
          <p:nvPr/>
        </p:nvSpPr>
        <p:spPr>
          <a:xfrm>
            <a:off x="467544" y="5877272"/>
            <a:ext cx="5040560" cy="276999"/>
          </a:xfrm>
          <a:prstGeom prst="rect">
            <a:avLst/>
          </a:prstGeom>
          <a:noFill/>
          <a:ln>
            <a:noFill/>
          </a:ln>
        </p:spPr>
        <p:txBody>
          <a:bodyPr wrap="square" rtlCol="0">
            <a:spAutoFit/>
          </a:bodyPr>
          <a:lstStyle/>
          <a:p>
            <a:r>
              <a:rPr lang="en-CA" sz="1200" dirty="0" err="1" smtClean="0">
                <a:solidFill>
                  <a:schemeClr val="bg1"/>
                </a:solidFill>
                <a:latin typeface="Helvetica" pitchFamily="34" charset="0"/>
                <a:cs typeface="Helvetica" pitchFamily="34" charset="0"/>
              </a:rPr>
              <a:t>Pascual</a:t>
            </a:r>
            <a:r>
              <a:rPr lang="en-CA" sz="1200" dirty="0" smtClean="0">
                <a:solidFill>
                  <a:schemeClr val="bg1"/>
                </a:solidFill>
                <a:latin typeface="Helvetica" pitchFamily="34" charset="0"/>
                <a:cs typeface="Helvetica" pitchFamily="34" charset="0"/>
              </a:rPr>
              <a:t>-Leone, Walsh, &amp; </a:t>
            </a:r>
            <a:r>
              <a:rPr lang="en-CA" sz="1200" dirty="0" err="1" smtClean="0">
                <a:solidFill>
                  <a:schemeClr val="bg1"/>
                </a:solidFill>
                <a:latin typeface="Helvetica" pitchFamily="34" charset="0"/>
                <a:cs typeface="Helvetica" pitchFamily="34" charset="0"/>
              </a:rPr>
              <a:t>Rothwell</a:t>
            </a:r>
            <a:r>
              <a:rPr lang="en-CA" sz="1200" dirty="0" smtClean="0">
                <a:solidFill>
                  <a:schemeClr val="bg1"/>
                </a:solidFill>
                <a:latin typeface="Helvetica" pitchFamily="34" charset="0"/>
                <a:cs typeface="Helvetica" pitchFamily="34" charset="0"/>
              </a:rPr>
              <a:t> (2000).</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10" name="Picture 2"/>
          <p:cNvPicPr>
            <a:picLocks noChangeAspect="1" noChangeArrowheads="1"/>
          </p:cNvPicPr>
          <p:nvPr/>
        </p:nvPicPr>
        <p:blipFill>
          <a:blip r:embed="rId3" cstate="print"/>
          <a:srcRect/>
          <a:stretch>
            <a:fillRect/>
          </a:stretch>
        </p:blipFill>
        <p:spPr bwMode="auto">
          <a:xfrm>
            <a:off x="683568" y="1268760"/>
            <a:ext cx="2304256" cy="2780491"/>
          </a:xfrm>
          <a:prstGeom prst="rect">
            <a:avLst/>
          </a:prstGeom>
          <a:noFill/>
          <a:ln w="9525">
            <a:noFill/>
            <a:miter lim="800000"/>
            <a:headEnd/>
            <a:tailEnd/>
          </a:ln>
          <a:effectLst/>
        </p:spPr>
      </p:pic>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10" name="Picture 2"/>
          <p:cNvPicPr>
            <a:picLocks noChangeAspect="1" noChangeArrowheads="1"/>
          </p:cNvPicPr>
          <p:nvPr/>
        </p:nvPicPr>
        <p:blipFill>
          <a:blip r:embed="rId3" cstate="print"/>
          <a:srcRect/>
          <a:stretch>
            <a:fillRect/>
          </a:stretch>
        </p:blipFill>
        <p:spPr bwMode="auto">
          <a:xfrm>
            <a:off x="683568" y="1268760"/>
            <a:ext cx="2304256" cy="2780491"/>
          </a:xfrm>
          <a:prstGeom prst="rect">
            <a:avLst/>
          </a:prstGeom>
          <a:noFill/>
          <a:ln w="9525">
            <a:noFill/>
            <a:miter lim="800000"/>
            <a:headEnd/>
            <a:tailEnd/>
          </a:ln>
          <a:effectLst/>
        </p:spPr>
      </p:pic>
      <p:pic>
        <p:nvPicPr>
          <p:cNvPr id="11" name="Picture 3" descr="C:\Users\Owner\Desktop\PhD\Computation Pres\TMS lab sr319.png"/>
          <p:cNvPicPr>
            <a:picLocks noChangeAspect="1" noChangeArrowheads="1"/>
          </p:cNvPicPr>
          <p:nvPr/>
        </p:nvPicPr>
        <p:blipFill>
          <a:blip r:embed="rId4" cstate="print"/>
          <a:srcRect/>
          <a:stretch>
            <a:fillRect/>
          </a:stretch>
        </p:blipFill>
        <p:spPr bwMode="auto">
          <a:xfrm>
            <a:off x="3923928" y="1196752"/>
            <a:ext cx="4320480" cy="1523595"/>
          </a:xfrm>
          <a:prstGeom prst="rect">
            <a:avLst/>
          </a:prstGeom>
          <a:noFill/>
        </p:spPr>
      </p:pic>
      <p:sp>
        <p:nvSpPr>
          <p:cNvPr id="12" name="Oval 11"/>
          <p:cNvSpPr/>
          <p:nvPr/>
        </p:nvSpPr>
        <p:spPr>
          <a:xfrm>
            <a:off x="7020272" y="1484784"/>
            <a:ext cx="1296144" cy="10081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Fundamentals </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9" name="Picture 2"/>
          <p:cNvPicPr>
            <a:picLocks noChangeAspect="1" noChangeArrowheads="1"/>
          </p:cNvPicPr>
          <p:nvPr/>
        </p:nvPicPr>
        <p:blipFill>
          <a:blip r:embed="rId3" cstate="print"/>
          <a:srcRect/>
          <a:stretch>
            <a:fillRect/>
          </a:stretch>
        </p:blipFill>
        <p:spPr bwMode="auto">
          <a:xfrm>
            <a:off x="683568" y="1268760"/>
            <a:ext cx="2304256" cy="2780491"/>
          </a:xfrm>
          <a:prstGeom prst="rect">
            <a:avLst/>
          </a:prstGeom>
          <a:noFill/>
          <a:ln w="9525">
            <a:noFill/>
            <a:miter lim="800000"/>
            <a:headEnd/>
            <a:tailEnd/>
          </a:ln>
          <a:effectLst/>
        </p:spPr>
      </p:pic>
      <p:pic>
        <p:nvPicPr>
          <p:cNvPr id="10" name="Picture 2"/>
          <p:cNvPicPr>
            <a:picLocks noChangeAspect="1" noChangeArrowheads="1"/>
          </p:cNvPicPr>
          <p:nvPr/>
        </p:nvPicPr>
        <p:blipFill>
          <a:blip r:embed="rId4" cstate="print"/>
          <a:srcRect/>
          <a:stretch>
            <a:fillRect/>
          </a:stretch>
        </p:blipFill>
        <p:spPr bwMode="auto">
          <a:xfrm>
            <a:off x="3707904" y="2852936"/>
            <a:ext cx="4772222" cy="3229749"/>
          </a:xfrm>
          <a:prstGeom prst="rect">
            <a:avLst/>
          </a:prstGeom>
          <a:noFill/>
          <a:ln w="9525">
            <a:noFill/>
            <a:miter lim="800000"/>
            <a:headEnd/>
            <a:tailEnd/>
          </a:ln>
          <a:effectLst/>
        </p:spPr>
      </p:pic>
      <p:pic>
        <p:nvPicPr>
          <p:cNvPr id="11" name="Picture 3" descr="C:\Users\Owner\Desktop\PhD\Computation Pres\TMS lab sr319.png"/>
          <p:cNvPicPr>
            <a:picLocks noChangeAspect="1" noChangeArrowheads="1"/>
          </p:cNvPicPr>
          <p:nvPr/>
        </p:nvPicPr>
        <p:blipFill>
          <a:blip r:embed="rId5" cstate="print"/>
          <a:srcRect/>
          <a:stretch>
            <a:fillRect/>
          </a:stretch>
        </p:blipFill>
        <p:spPr bwMode="auto">
          <a:xfrm>
            <a:off x="3923928" y="1196752"/>
            <a:ext cx="4320480" cy="152359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3" name="Content Placeholder 2"/>
          <p:cNvSpPr>
            <a:spLocks noGrp="1"/>
          </p:cNvSpPr>
          <p:nvPr>
            <p:ph idx="1"/>
          </p:nvPr>
        </p:nvSpPr>
        <p:spPr>
          <a:xfrm>
            <a:off x="467544" y="1124744"/>
            <a:ext cx="8229600" cy="4525963"/>
          </a:xfrm>
        </p:spPr>
        <p:txBody>
          <a:bodyPr/>
          <a:lstStyle/>
          <a:p>
            <a:r>
              <a:rPr lang="en-CA" b="0" dirty="0" smtClean="0"/>
              <a:t>Neural Intervention</a:t>
            </a:r>
          </a:p>
          <a:p>
            <a:endParaRPr lang="en-CA" sz="1000" b="0" dirty="0" smtClean="0"/>
          </a:p>
          <a:p>
            <a:pPr lvl="1"/>
            <a:endParaRPr lang="en-CA" b="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3" name="Content Placeholder 2"/>
          <p:cNvSpPr>
            <a:spLocks noGrp="1"/>
          </p:cNvSpPr>
          <p:nvPr>
            <p:ph idx="1"/>
          </p:nvPr>
        </p:nvSpPr>
        <p:spPr>
          <a:xfrm>
            <a:off x="467544" y="1124744"/>
            <a:ext cx="8229600" cy="4525963"/>
          </a:xfrm>
        </p:spPr>
        <p:txBody>
          <a:bodyPr/>
          <a:lstStyle/>
          <a:p>
            <a:r>
              <a:rPr lang="en-CA" b="0" dirty="0" smtClean="0"/>
              <a:t>Neural Intervention</a:t>
            </a:r>
          </a:p>
          <a:p>
            <a:endParaRPr lang="en-CA" sz="1000" b="0" dirty="0" smtClean="0"/>
          </a:p>
          <a:p>
            <a:pPr lvl="1"/>
            <a:endParaRPr lang="en-CA" b="0"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9" name="TextBox 8"/>
          <p:cNvSpPr txBox="1"/>
          <p:nvPr/>
        </p:nvSpPr>
        <p:spPr>
          <a:xfrm>
            <a:off x="7164288" y="5157192"/>
            <a:ext cx="1979712" cy="461665"/>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Pitcher, Walsh, </a:t>
            </a:r>
            <a:r>
              <a:rPr lang="en-CA" sz="1200" dirty="0" err="1" smtClean="0">
                <a:solidFill>
                  <a:schemeClr val="bg1"/>
                </a:solidFill>
                <a:latin typeface="Helvetica" pitchFamily="34" charset="0"/>
                <a:cs typeface="Helvetica" pitchFamily="34" charset="0"/>
              </a:rPr>
              <a:t>Yovel</a:t>
            </a:r>
            <a:r>
              <a:rPr lang="en-CA" sz="1200" dirty="0" smtClean="0">
                <a:solidFill>
                  <a:schemeClr val="bg1"/>
                </a:solidFill>
                <a:latin typeface="Helvetica" pitchFamily="34" charset="0"/>
                <a:cs typeface="Helvetica" pitchFamily="34" charset="0"/>
              </a:rPr>
              <a:t>, &amp; </a:t>
            </a:r>
            <a:r>
              <a:rPr lang="en-CA" sz="1200" dirty="0" err="1" smtClean="0">
                <a:solidFill>
                  <a:schemeClr val="bg1"/>
                </a:solidFill>
                <a:latin typeface="Helvetica" pitchFamily="34" charset="0"/>
                <a:cs typeface="Helvetica" pitchFamily="34" charset="0"/>
              </a:rPr>
              <a:t>Duchaine</a:t>
            </a:r>
            <a:r>
              <a:rPr lang="en-CA" sz="1200" dirty="0" smtClean="0">
                <a:solidFill>
                  <a:schemeClr val="bg1"/>
                </a:solidFill>
                <a:latin typeface="Helvetica" pitchFamily="34" charset="0"/>
                <a:cs typeface="Helvetica" pitchFamily="34" charset="0"/>
              </a:rPr>
              <a:t> (2007).</a:t>
            </a:r>
            <a:endParaRPr lang="en-CA" sz="1200" dirty="0">
              <a:solidFill>
                <a:schemeClr val="bg1"/>
              </a:solidFill>
              <a:latin typeface="Helvetica" pitchFamily="34" charset="0"/>
              <a:cs typeface="Helvetica" pitchFamily="34" charset="0"/>
            </a:endParaRPr>
          </a:p>
        </p:txBody>
      </p:sp>
      <p:pic>
        <p:nvPicPr>
          <p:cNvPr id="10" name="Picture 9" descr="fMRI LOC image (Levy, Hasson, NN, 2001).JPG"/>
          <p:cNvPicPr>
            <a:picLocks noChangeAspect="1"/>
          </p:cNvPicPr>
          <p:nvPr/>
        </p:nvPicPr>
        <p:blipFill>
          <a:blip r:embed="rId3" cstate="print"/>
          <a:stretch>
            <a:fillRect/>
          </a:stretch>
        </p:blipFill>
        <p:spPr>
          <a:xfrm>
            <a:off x="3746756" y="1628800"/>
            <a:ext cx="5055881" cy="4320480"/>
          </a:xfrm>
          <a:prstGeom prst="rect">
            <a:avLst/>
          </a:prstGeom>
        </p:spPr>
      </p:pic>
      <p:sp>
        <p:nvSpPr>
          <p:cNvPr id="11" name="TextBox 10"/>
          <p:cNvSpPr txBox="1"/>
          <p:nvPr/>
        </p:nvSpPr>
        <p:spPr>
          <a:xfrm>
            <a:off x="3779912" y="5949280"/>
            <a:ext cx="5040560" cy="276999"/>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Figure courtesy: Levy, I., et al., (2001).</a:t>
            </a:r>
            <a:endParaRPr lang="en-CA" sz="1200" dirty="0">
              <a:solidFill>
                <a:schemeClr val="bg1"/>
              </a:solidFill>
              <a:latin typeface="Helvetica" pitchFamily="34" charset="0"/>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4098" name="Picture 2"/>
          <p:cNvPicPr>
            <a:picLocks noChangeAspect="1" noChangeArrowheads="1"/>
          </p:cNvPicPr>
          <p:nvPr/>
        </p:nvPicPr>
        <p:blipFill>
          <a:blip r:embed="rId3" cstate="print"/>
          <a:srcRect/>
          <a:stretch>
            <a:fillRect/>
          </a:stretch>
        </p:blipFill>
        <p:spPr bwMode="auto">
          <a:xfrm>
            <a:off x="1979712" y="2060848"/>
            <a:ext cx="5229225" cy="4143375"/>
          </a:xfrm>
          <a:prstGeom prst="rect">
            <a:avLst/>
          </a:prstGeom>
          <a:noFill/>
          <a:ln w="9525">
            <a:noFill/>
            <a:miter lim="800000"/>
            <a:headEnd/>
            <a:tailEnd/>
          </a:ln>
        </p:spPr>
      </p:pic>
      <p:sp>
        <p:nvSpPr>
          <p:cNvPr id="9" name="TextBox 8"/>
          <p:cNvSpPr txBox="1"/>
          <p:nvPr/>
        </p:nvSpPr>
        <p:spPr>
          <a:xfrm>
            <a:off x="7164288" y="5157192"/>
            <a:ext cx="1979712" cy="461665"/>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Pitcher, Walsh, </a:t>
            </a:r>
            <a:r>
              <a:rPr lang="en-CA" sz="1200" dirty="0" err="1" smtClean="0">
                <a:solidFill>
                  <a:schemeClr val="bg1"/>
                </a:solidFill>
                <a:latin typeface="Helvetica" pitchFamily="34" charset="0"/>
                <a:cs typeface="Helvetica" pitchFamily="34" charset="0"/>
              </a:rPr>
              <a:t>Yovel</a:t>
            </a:r>
            <a:r>
              <a:rPr lang="en-CA" sz="1200" dirty="0" smtClean="0">
                <a:solidFill>
                  <a:schemeClr val="bg1"/>
                </a:solidFill>
                <a:latin typeface="Helvetica" pitchFamily="34" charset="0"/>
                <a:cs typeface="Helvetica" pitchFamily="34" charset="0"/>
              </a:rPr>
              <a:t>, &amp; </a:t>
            </a:r>
            <a:r>
              <a:rPr lang="en-CA" sz="1200" dirty="0" err="1" smtClean="0">
                <a:solidFill>
                  <a:schemeClr val="bg1"/>
                </a:solidFill>
                <a:latin typeface="Helvetica" pitchFamily="34" charset="0"/>
                <a:cs typeface="Helvetica" pitchFamily="34" charset="0"/>
              </a:rPr>
              <a:t>Duchaine</a:t>
            </a:r>
            <a:r>
              <a:rPr lang="en-CA" sz="1200" dirty="0" smtClean="0">
                <a:solidFill>
                  <a:schemeClr val="bg1"/>
                </a:solidFill>
                <a:latin typeface="Helvetica" pitchFamily="34" charset="0"/>
                <a:cs typeface="Helvetica" pitchFamily="34" charset="0"/>
              </a:rPr>
              <a:t> (2007).</a:t>
            </a:r>
            <a:endParaRPr lang="en-CA" sz="1200" dirty="0">
              <a:solidFill>
                <a:schemeClr val="bg1"/>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CA" sz="2800" b="0" i="0" u="none" strike="noStrike" kern="1200" cap="none" spc="0" normalizeH="0" baseline="0" noProof="0" smtClean="0">
                <a:ln>
                  <a:noFill/>
                </a:ln>
                <a:solidFill>
                  <a:schemeClr val="bg1"/>
                </a:solidFill>
                <a:effectLst/>
                <a:uLnTx/>
                <a:uFillTx/>
                <a:latin typeface="Helvetica" pitchFamily="34" charset="0"/>
                <a:ea typeface="+mn-ea"/>
                <a:cs typeface="Helvetica" pitchFamily="34" charset="0"/>
              </a:rPr>
              <a:t>Neural Intervention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9" name="TextBox 8"/>
          <p:cNvSpPr txBox="1"/>
          <p:nvPr/>
        </p:nvSpPr>
        <p:spPr>
          <a:xfrm>
            <a:off x="7164288" y="5157192"/>
            <a:ext cx="1979712" cy="461665"/>
          </a:xfrm>
          <a:prstGeom prst="rect">
            <a:avLst/>
          </a:prstGeom>
          <a:noFill/>
          <a:ln>
            <a:noFill/>
          </a:ln>
        </p:spPr>
        <p:txBody>
          <a:bodyPr wrap="square" rtlCol="0">
            <a:spAutoFit/>
          </a:bodyPr>
          <a:lstStyle/>
          <a:p>
            <a:r>
              <a:rPr lang="en-CA" sz="1200" dirty="0" smtClean="0">
                <a:solidFill>
                  <a:schemeClr val="bg1"/>
                </a:solidFill>
                <a:latin typeface="Helvetica" pitchFamily="34" charset="0"/>
                <a:cs typeface="Helvetica" pitchFamily="34" charset="0"/>
              </a:rPr>
              <a:t>Pitcher, Walsh, </a:t>
            </a:r>
            <a:r>
              <a:rPr lang="en-CA" sz="1200" dirty="0" err="1" smtClean="0">
                <a:solidFill>
                  <a:schemeClr val="bg1"/>
                </a:solidFill>
                <a:latin typeface="Helvetica" pitchFamily="34" charset="0"/>
                <a:cs typeface="Helvetica" pitchFamily="34" charset="0"/>
              </a:rPr>
              <a:t>Yovel</a:t>
            </a:r>
            <a:r>
              <a:rPr lang="en-CA" sz="1200" dirty="0" smtClean="0">
                <a:solidFill>
                  <a:schemeClr val="bg1"/>
                </a:solidFill>
                <a:latin typeface="Helvetica" pitchFamily="34" charset="0"/>
                <a:cs typeface="Helvetica" pitchFamily="34" charset="0"/>
              </a:rPr>
              <a:t>, &amp; </a:t>
            </a:r>
            <a:r>
              <a:rPr lang="en-CA" sz="1200" dirty="0" err="1" smtClean="0">
                <a:solidFill>
                  <a:schemeClr val="bg1"/>
                </a:solidFill>
                <a:latin typeface="Helvetica" pitchFamily="34" charset="0"/>
                <a:cs typeface="Helvetica" pitchFamily="34" charset="0"/>
              </a:rPr>
              <a:t>Duchaine</a:t>
            </a:r>
            <a:r>
              <a:rPr lang="en-CA" sz="1200" dirty="0" smtClean="0">
                <a:solidFill>
                  <a:schemeClr val="bg1"/>
                </a:solidFill>
                <a:latin typeface="Helvetica" pitchFamily="34" charset="0"/>
                <a:cs typeface="Helvetica" pitchFamily="34" charset="0"/>
              </a:rPr>
              <a:t> (2007).</a:t>
            </a:r>
            <a:endParaRPr lang="en-CA" sz="1200" dirty="0">
              <a:solidFill>
                <a:schemeClr val="bg1"/>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CA" sz="2800" b="0" i="0" u="none" strike="noStrike" kern="1200" cap="none" spc="0" normalizeH="0" baseline="0" noProof="0" smtClean="0">
                <a:ln>
                  <a:noFill/>
                </a:ln>
                <a:solidFill>
                  <a:schemeClr val="bg1"/>
                </a:solidFill>
                <a:effectLst/>
                <a:uLnTx/>
                <a:uFillTx/>
                <a:latin typeface="Helvetica" pitchFamily="34" charset="0"/>
                <a:ea typeface="+mn-ea"/>
                <a:cs typeface="Helvetica" pitchFamily="34" charset="0"/>
              </a:rPr>
              <a:t>Neural Intervention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5122" name="Picture 2"/>
          <p:cNvPicPr>
            <a:picLocks noChangeAspect="1" noChangeArrowheads="1"/>
          </p:cNvPicPr>
          <p:nvPr/>
        </p:nvPicPr>
        <p:blipFill>
          <a:blip r:embed="rId3" cstate="print"/>
          <a:srcRect/>
          <a:stretch>
            <a:fillRect/>
          </a:stretch>
        </p:blipFill>
        <p:spPr bwMode="auto">
          <a:xfrm>
            <a:off x="1547664" y="1916832"/>
            <a:ext cx="3643530" cy="2088232"/>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3563888" y="3933056"/>
            <a:ext cx="3600400" cy="2088232"/>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rPr>
              <a:t>Neural Intervention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pPr>
            <a:r>
              <a:rPr lang="en-CA" sz="2600" dirty="0" smtClean="0">
                <a:solidFill>
                  <a:schemeClr val="bg1"/>
                </a:solidFill>
                <a:latin typeface="Helvetica" pitchFamily="34" charset="0"/>
                <a:cs typeface="Helvetica" pitchFamily="34" charset="0"/>
              </a:rPr>
              <a:t>Here, TMS is disorganizing ongoing neural processing in a brain region, effectively disrupting a specific percept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cxnSp>
        <p:nvCxnSpPr>
          <p:cNvPr id="10" name="Straight Connector 9"/>
          <p:cNvCxnSpPr/>
          <p:nvPr/>
        </p:nvCxnSpPr>
        <p:spPr>
          <a:xfrm flipV="1">
            <a:off x="6660232" y="1700808"/>
            <a:ext cx="216024" cy="2376264"/>
          </a:xfrm>
          <a:prstGeom prst="line">
            <a:avLst/>
          </a:prstGeom>
          <a:ln w="508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pic>
        <p:nvPicPr>
          <p:cNvPr id="12" name="Picture 11" descr="photo.jpg"/>
          <p:cNvPicPr>
            <a:picLocks noChangeAspect="1"/>
          </p:cNvPicPr>
          <p:nvPr/>
        </p:nvPicPr>
        <p:blipFill>
          <a:blip r:embed="rId5" cstate="print"/>
          <a:stretch>
            <a:fillRect/>
          </a:stretch>
        </p:blipFill>
        <p:spPr>
          <a:xfrm>
            <a:off x="971600" y="2132856"/>
            <a:ext cx="2339595" cy="3119459"/>
          </a:xfrm>
          <a:prstGeom prst="rect">
            <a:avLst/>
          </a:prstGeom>
        </p:spPr>
      </p:pic>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lvl="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742950" lvl="1" indent="-285750">
              <a:spcBef>
                <a:spcPct val="20000"/>
              </a:spcBef>
              <a:buFont typeface="Arial" pitchFamily="34" charset="0"/>
              <a:buChar char="–"/>
              <a:defRPr/>
            </a:pPr>
            <a:endParaRPr lang="en-CA" sz="26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cxnSp>
        <p:nvCxnSpPr>
          <p:cNvPr id="10" name="Straight Connector 9"/>
          <p:cNvCxnSpPr>
            <a:stCxn id="13" idx="3"/>
          </p:cNvCxnSpPr>
          <p:nvPr/>
        </p:nvCxnSpPr>
        <p:spPr>
          <a:xfrm flipV="1">
            <a:off x="3871252" y="1700808"/>
            <a:ext cx="3005004" cy="1433556"/>
          </a:xfrm>
          <a:prstGeom prst="line">
            <a:avLst/>
          </a:prstGeom>
          <a:ln w="508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19672" y="1895048"/>
            <a:ext cx="2251580" cy="2478631"/>
          </a:xfrm>
          <a:prstGeom prst="rect">
            <a:avLst/>
          </a:prstGeom>
        </p:spPr>
      </p:pic>
    </p:spTree>
    <p:extLst>
      <p:ext uri="{BB962C8B-B14F-4D97-AF65-F5344CB8AC3E}">
        <p14:creationId xmlns:p14="http://schemas.microsoft.com/office/powerpoint/2010/main" val="49364582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457200" lvl="0" indent="-457200">
              <a:spcBef>
                <a:spcPct val="20000"/>
              </a:spcBef>
              <a:buFont typeface="Arial"/>
              <a:buChar char="•"/>
              <a:defRPr/>
            </a:pPr>
            <a:r>
              <a:rPr lang="en-US" b="1" i="1" dirty="0" smtClean="0">
                <a:solidFill>
                  <a:schemeClr val="bg1"/>
                </a:solidFill>
                <a:latin typeface="Helvetica" pitchFamily="34" charset="0"/>
                <a:cs typeface="Helvetica" pitchFamily="34" charset="0"/>
              </a:rPr>
              <a:t>A</a:t>
            </a:r>
            <a:r>
              <a:rPr lang="en-CA" b="1" i="1" dirty="0" err="1" smtClean="0">
                <a:solidFill>
                  <a:schemeClr val="bg1"/>
                </a:solidFill>
                <a:latin typeface="Helvetica" pitchFamily="34" charset="0"/>
                <a:cs typeface="Helvetica" pitchFamily="34" charset="0"/>
              </a:rPr>
              <a:t>ka</a:t>
            </a:r>
            <a:r>
              <a:rPr lang="en-CA" b="1" i="1" dirty="0" smtClean="0">
                <a:solidFill>
                  <a:schemeClr val="bg1"/>
                </a:solidFill>
                <a:latin typeface="Helvetica" pitchFamily="34" charset="0"/>
                <a:cs typeface="Helvetica" pitchFamily="34" charset="0"/>
              </a:rPr>
              <a:t> MEP</a:t>
            </a:r>
            <a:endParaRPr lang="en-CA" b="1" i="1" dirty="0">
              <a:solidFill>
                <a:schemeClr val="bg1"/>
              </a:solidFill>
              <a:latin typeface="Helvetica" pitchFamily="34" charset="0"/>
              <a:cs typeface="Helvetica" pitchFamily="34" charset="0"/>
            </a:endParaRPr>
          </a:p>
          <a:p>
            <a:pPr marL="342900" lvl="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742950" lvl="1" indent="-285750">
              <a:spcBef>
                <a:spcPct val="20000"/>
              </a:spcBef>
              <a:buFont typeface="Arial" pitchFamily="34" charset="0"/>
              <a:buChar char="–"/>
              <a:defRPr/>
            </a:pPr>
            <a:endParaRPr lang="en-CA" sz="26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cxnSp>
        <p:nvCxnSpPr>
          <p:cNvPr id="10" name="Straight Connector 9"/>
          <p:cNvCxnSpPr>
            <a:stCxn id="13" idx="3"/>
          </p:cNvCxnSpPr>
          <p:nvPr/>
        </p:nvCxnSpPr>
        <p:spPr>
          <a:xfrm flipV="1">
            <a:off x="3871252" y="1700808"/>
            <a:ext cx="3005004" cy="1433556"/>
          </a:xfrm>
          <a:prstGeom prst="line">
            <a:avLst/>
          </a:prstGeom>
          <a:ln w="508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19672" y="1895048"/>
            <a:ext cx="2251580" cy="2478631"/>
          </a:xfrm>
          <a:prstGeom prst="rect">
            <a:avLst/>
          </a:prstGeom>
        </p:spPr>
      </p:pic>
    </p:spTree>
    <p:extLst>
      <p:ext uri="{BB962C8B-B14F-4D97-AF65-F5344CB8AC3E}">
        <p14:creationId xmlns:p14="http://schemas.microsoft.com/office/powerpoint/2010/main" val="210019624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cxnSp>
        <p:nvCxnSpPr>
          <p:cNvPr id="10" name="Straight Connector 9"/>
          <p:cNvCxnSpPr/>
          <p:nvPr/>
        </p:nvCxnSpPr>
        <p:spPr>
          <a:xfrm flipV="1">
            <a:off x="3871252" y="1700808"/>
            <a:ext cx="3005004" cy="1433556"/>
          </a:xfrm>
          <a:prstGeom prst="line">
            <a:avLst/>
          </a:prstGeom>
          <a:ln w="508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19672" y="1916832"/>
            <a:ext cx="2231149" cy="2448272"/>
          </a:xfrm>
          <a:prstGeom prst="rect">
            <a:avLst/>
          </a:prstGeom>
        </p:spPr>
      </p:pic>
      <p:pic>
        <p:nvPicPr>
          <p:cNvPr id="15" name="Picture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9952" y="4221089"/>
            <a:ext cx="648072" cy="8640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Motor Homonculus.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493" y="1134221"/>
            <a:ext cx="1984420" cy="2047961"/>
          </a:xfrm>
          <a:prstGeom prst="rect">
            <a:avLst/>
          </a:prstGeom>
        </p:spPr>
      </p:pic>
      <p:pic>
        <p:nvPicPr>
          <p:cNvPr id="8" name="Picture 7" descr="Hanna_TMS_Participant_eg.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3501008"/>
            <a:ext cx="3583969" cy="2545349"/>
          </a:xfrm>
          <a:prstGeom prst="rect">
            <a:avLst/>
          </a:prstGeom>
        </p:spPr>
      </p:pic>
      <p:sp>
        <p:nvSpPr>
          <p:cNvPr id="9" name="Rectangle 8"/>
          <p:cNvSpPr/>
          <p:nvPr/>
        </p:nvSpPr>
        <p:spPr>
          <a:xfrm>
            <a:off x="4139952" y="4221088"/>
            <a:ext cx="623606" cy="72255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t>
            </a:r>
            <a:endParaRPr lang="en-US" dirty="0">
              <a:solidFill>
                <a:schemeClr val="bg1"/>
              </a:solidFill>
            </a:endParaRPr>
          </a:p>
        </p:txBody>
      </p:sp>
      <p:cxnSp>
        <p:nvCxnSpPr>
          <p:cNvPr id="10" name="Straight Connector 9"/>
          <p:cNvCxnSpPr/>
          <p:nvPr/>
        </p:nvCxnSpPr>
        <p:spPr>
          <a:xfrm flipV="1">
            <a:off x="3871252" y="1700808"/>
            <a:ext cx="3005004" cy="1433556"/>
          </a:xfrm>
          <a:prstGeom prst="line">
            <a:avLst/>
          </a:prstGeom>
          <a:ln w="508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19672" y="1895048"/>
            <a:ext cx="2251580" cy="2478631"/>
          </a:xfrm>
          <a:prstGeom prst="rect">
            <a:avLst/>
          </a:prstGeom>
        </p:spPr>
      </p:pic>
      <p:pic>
        <p:nvPicPr>
          <p:cNvPr id="3" name="Picture 2" descr="foot.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9952" y="4221088"/>
            <a:ext cx="648072" cy="731664"/>
          </a:xfrm>
          <a:prstGeom prst="rect">
            <a:avLst/>
          </a:prstGeom>
        </p:spPr>
      </p:pic>
    </p:spTree>
    <p:extLst>
      <p:ext uri="{BB962C8B-B14F-4D97-AF65-F5344CB8AC3E}">
        <p14:creationId xmlns:p14="http://schemas.microsoft.com/office/powerpoint/2010/main" val="3587553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TMS: Uses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Intro: TMS</a:t>
            </a:r>
            <a:endParaRPr lang="en-CA" sz="2200" dirty="0">
              <a:solidFill>
                <a:schemeClr val="bg1"/>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1" name="Content Placeholder 2"/>
          <p:cNvSpPr txBox="1">
            <a:spLocks/>
          </p:cNvSpPr>
          <p:nvPr/>
        </p:nvSpPr>
        <p:spPr>
          <a:xfrm>
            <a:off x="467544" y="1124744"/>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Motor </a:t>
            </a:r>
            <a:r>
              <a:rPr lang="en-CA" sz="2800" dirty="0" err="1" smtClean="0">
                <a:solidFill>
                  <a:schemeClr val="bg1"/>
                </a:solidFill>
                <a:latin typeface="Helvetica" pitchFamily="34" charset="0"/>
                <a:cs typeface="Helvetica" pitchFamily="34" charset="0"/>
              </a:rPr>
              <a:t>corticospinal</a:t>
            </a:r>
            <a:r>
              <a:rPr lang="en-CA" sz="2800" dirty="0" smtClean="0">
                <a:solidFill>
                  <a:schemeClr val="bg1"/>
                </a:solidFill>
                <a:latin typeface="Helvetica" pitchFamily="34" charset="0"/>
                <a:cs typeface="Helvetica" pitchFamily="34" charset="0"/>
              </a:rPr>
              <a:t> excitability</a:t>
            </a: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descr="foo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9" y="1844824"/>
            <a:ext cx="1152128" cy="1584176"/>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24128" y="4077072"/>
            <a:ext cx="1152128" cy="1536171"/>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8004" y="1700809"/>
            <a:ext cx="1635295" cy="1800199"/>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99792" y="4005064"/>
            <a:ext cx="1626534" cy="1728192"/>
          </a:xfrm>
          <a:prstGeom prst="rect">
            <a:avLst/>
          </a:prstGeom>
        </p:spPr>
      </p:pic>
    </p:spTree>
    <p:extLst>
      <p:ext uri="{BB962C8B-B14F-4D97-AF65-F5344CB8AC3E}">
        <p14:creationId xmlns:p14="http://schemas.microsoft.com/office/powerpoint/2010/main" val="647694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Typical Analysis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Screen shot 2011-12-03 at 4.35.5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60" y="2420888"/>
            <a:ext cx="2781300" cy="2298700"/>
          </a:xfrm>
          <a:prstGeom prst="rect">
            <a:avLst/>
          </a:prstGeom>
        </p:spPr>
      </p:pic>
      <p:pic>
        <p:nvPicPr>
          <p:cNvPr id="8" name="Picture 7" descr="Screen shot 2011-12-03 at 4.36.15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2420888"/>
            <a:ext cx="2806700" cy="2304256"/>
          </a:xfrm>
          <a:prstGeom prst="rect">
            <a:avLst/>
          </a:prstGeom>
        </p:spPr>
      </p:pic>
      <p:sp>
        <p:nvSpPr>
          <p:cNvPr id="18" name="TextBox 17"/>
          <p:cNvSpPr txBox="1"/>
          <p:nvPr/>
        </p:nvSpPr>
        <p:spPr>
          <a:xfrm>
            <a:off x="467544"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Baseline</a:t>
            </a:r>
            <a:endParaRPr lang="en-CA" sz="2200" dirty="0">
              <a:solidFill>
                <a:schemeClr val="bg1"/>
              </a:solidFill>
              <a:latin typeface="Helvetica" pitchFamily="34" charset="0"/>
              <a:cs typeface="Helvetica" pitchFamily="34" charset="0"/>
            </a:endParaRPr>
          </a:p>
        </p:txBody>
      </p:sp>
      <p:sp>
        <p:nvSpPr>
          <p:cNvPr id="19" name="TextBox 18"/>
          <p:cNvSpPr txBox="1"/>
          <p:nvPr/>
        </p:nvSpPr>
        <p:spPr>
          <a:xfrm>
            <a:off x="6012160"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Experimental</a:t>
            </a:r>
            <a:endParaRPr lang="en-CA" sz="22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3071170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Typical Analysis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Screen shot 2011-12-03 at 4.35.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2160" y="2420888"/>
            <a:ext cx="2781300" cy="2298700"/>
          </a:xfrm>
          <a:prstGeom prst="rect">
            <a:avLst/>
          </a:prstGeom>
        </p:spPr>
      </p:pic>
      <p:pic>
        <p:nvPicPr>
          <p:cNvPr id="8" name="Picture 7" descr="Screen shot 2011-12-03 at 4.36.15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420888"/>
            <a:ext cx="2806700" cy="2304256"/>
          </a:xfrm>
          <a:prstGeom prst="rect">
            <a:avLst/>
          </a:prstGeom>
        </p:spPr>
      </p:pic>
      <p:sp>
        <p:nvSpPr>
          <p:cNvPr id="13" name="Right Brace 12"/>
          <p:cNvSpPr/>
          <p:nvPr/>
        </p:nvSpPr>
        <p:spPr>
          <a:xfrm>
            <a:off x="2339752" y="3212976"/>
            <a:ext cx="304800" cy="432048"/>
          </a:xfrm>
          <a:prstGeom prst="rightBrace">
            <a:avLst/>
          </a:prstGeom>
          <a:ln w="50800">
            <a:solidFill>
              <a:srgbClr val="FF0000"/>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0" name="TextBox 9"/>
          <p:cNvSpPr txBox="1"/>
          <p:nvPr/>
        </p:nvSpPr>
        <p:spPr>
          <a:xfrm>
            <a:off x="467544"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Baseline</a:t>
            </a:r>
            <a:endParaRPr lang="en-CA" sz="2200" dirty="0">
              <a:solidFill>
                <a:schemeClr val="bg1"/>
              </a:solidFill>
              <a:latin typeface="Helvetica" pitchFamily="34" charset="0"/>
              <a:cs typeface="Helvetica" pitchFamily="34" charset="0"/>
            </a:endParaRPr>
          </a:p>
        </p:txBody>
      </p:sp>
      <p:sp>
        <p:nvSpPr>
          <p:cNvPr id="11" name="TextBox 10"/>
          <p:cNvSpPr txBox="1"/>
          <p:nvPr/>
        </p:nvSpPr>
        <p:spPr>
          <a:xfrm>
            <a:off x="6012160"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Experimental</a:t>
            </a:r>
            <a:endParaRPr lang="en-CA" sz="2200" dirty="0">
              <a:solidFill>
                <a:schemeClr val="bg1"/>
              </a:solidFill>
              <a:latin typeface="Helvetica" pitchFamily="34" charset="0"/>
              <a:cs typeface="Helvetica" pitchFamily="34" charset="0"/>
            </a:endParaRPr>
          </a:p>
        </p:txBody>
      </p:sp>
      <p:graphicFrame>
        <p:nvGraphicFramePr>
          <p:cNvPr id="17" name="Object 16"/>
          <p:cNvGraphicFramePr>
            <a:graphicFrameLocks noChangeAspect="1"/>
          </p:cNvGraphicFramePr>
          <p:nvPr>
            <p:extLst>
              <p:ext uri="{D42A27DB-BD31-4B8C-83A1-F6EECF244321}">
                <p14:modId xmlns:p14="http://schemas.microsoft.com/office/powerpoint/2010/main" val="1554286739"/>
              </p:ext>
            </p:extLst>
          </p:nvPr>
        </p:nvGraphicFramePr>
        <p:xfrm>
          <a:off x="1619672" y="4941168"/>
          <a:ext cx="5486400" cy="558800"/>
        </p:xfrm>
        <a:graphic>
          <a:graphicData uri="http://schemas.openxmlformats.org/presentationml/2006/ole">
            <mc:AlternateContent xmlns:mc="http://schemas.openxmlformats.org/markup-compatibility/2006">
              <mc:Choice xmlns:v="urn:schemas-microsoft-com:vml" Requires="v">
                <p:oleObj spid="_x0000_s1093" name="Document" r:id="rId6" imgW="5486400" imgH="558800" progId="Word.Document.12">
                  <p:link updateAutomatic="1"/>
                </p:oleObj>
              </mc:Choice>
              <mc:Fallback>
                <p:oleObj name="Document" r:id="rId6" imgW="5486400" imgH="558800" progId="Word.Document.12">
                  <p:link updateAutomatic="1"/>
                  <p:pic>
                    <p:nvPicPr>
                      <p:cNvPr id="0" name=""/>
                      <p:cNvPicPr/>
                      <p:nvPr/>
                    </p:nvPicPr>
                    <p:blipFill>
                      <a:blip r:embed="rId7"/>
                      <a:stretch>
                        <a:fillRect/>
                      </a:stretch>
                    </p:blipFill>
                    <p:spPr>
                      <a:xfrm>
                        <a:off x="1619672" y="4941168"/>
                        <a:ext cx="5486400" cy="558800"/>
                      </a:xfrm>
                      <a:prstGeom prst="rect">
                        <a:avLst/>
                      </a:prstGeom>
                    </p:spPr>
                  </p:pic>
                </p:oleObj>
              </mc:Fallback>
            </mc:AlternateContent>
          </a:graphicData>
        </a:graphic>
      </p:graphicFrame>
    </p:spTree>
    <p:extLst>
      <p:ext uri="{BB962C8B-B14F-4D97-AF65-F5344CB8AC3E}">
        <p14:creationId xmlns:p14="http://schemas.microsoft.com/office/powerpoint/2010/main" val="876537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Typical Analysis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Screen shot 2011-12-03 at 4.35.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2160" y="2420888"/>
            <a:ext cx="2781300" cy="2298700"/>
          </a:xfrm>
          <a:prstGeom prst="rect">
            <a:avLst/>
          </a:prstGeom>
        </p:spPr>
      </p:pic>
      <p:pic>
        <p:nvPicPr>
          <p:cNvPr id="8" name="Picture 7" descr="Screen shot 2011-12-03 at 4.36.15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420888"/>
            <a:ext cx="2806700" cy="2304256"/>
          </a:xfrm>
          <a:prstGeom prst="rect">
            <a:avLst/>
          </a:prstGeom>
        </p:spPr>
      </p:pic>
      <p:sp>
        <p:nvSpPr>
          <p:cNvPr id="14" name="Right Brace 13"/>
          <p:cNvSpPr/>
          <p:nvPr/>
        </p:nvSpPr>
        <p:spPr>
          <a:xfrm>
            <a:off x="8028384" y="2996952"/>
            <a:ext cx="304800" cy="1296144"/>
          </a:xfrm>
          <a:prstGeom prst="rightBrace">
            <a:avLst/>
          </a:prstGeom>
          <a:ln w="50800">
            <a:solidFill>
              <a:srgbClr val="FF0000"/>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0" name="TextBox 9"/>
          <p:cNvSpPr txBox="1"/>
          <p:nvPr/>
        </p:nvSpPr>
        <p:spPr>
          <a:xfrm>
            <a:off x="467544"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Baseline</a:t>
            </a:r>
            <a:endParaRPr lang="en-CA" sz="2200" dirty="0">
              <a:solidFill>
                <a:schemeClr val="bg1"/>
              </a:solidFill>
              <a:latin typeface="Helvetica" pitchFamily="34" charset="0"/>
              <a:cs typeface="Helvetica" pitchFamily="34" charset="0"/>
            </a:endParaRPr>
          </a:p>
        </p:txBody>
      </p:sp>
      <p:sp>
        <p:nvSpPr>
          <p:cNvPr id="11" name="TextBox 10"/>
          <p:cNvSpPr txBox="1"/>
          <p:nvPr/>
        </p:nvSpPr>
        <p:spPr>
          <a:xfrm>
            <a:off x="6012160"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Experimental</a:t>
            </a:r>
            <a:endParaRPr lang="en-CA" sz="2200" dirty="0">
              <a:solidFill>
                <a:schemeClr val="bg1"/>
              </a:solidFill>
              <a:latin typeface="Helvetica" pitchFamily="34" charset="0"/>
              <a:cs typeface="Helvetica" pitchFamily="34" charset="0"/>
            </a:endParaRPr>
          </a:p>
        </p:txBody>
      </p:sp>
      <p:graphicFrame>
        <p:nvGraphicFramePr>
          <p:cNvPr id="15" name="Object 14"/>
          <p:cNvGraphicFramePr>
            <a:graphicFrameLocks noChangeAspect="1"/>
          </p:cNvGraphicFramePr>
          <p:nvPr>
            <p:extLst>
              <p:ext uri="{D42A27DB-BD31-4B8C-83A1-F6EECF244321}">
                <p14:modId xmlns:p14="http://schemas.microsoft.com/office/powerpoint/2010/main" val="535532167"/>
              </p:ext>
            </p:extLst>
          </p:nvPr>
        </p:nvGraphicFramePr>
        <p:xfrm>
          <a:off x="7236296" y="4941168"/>
          <a:ext cx="5486400" cy="558800"/>
        </p:xfrm>
        <a:graphic>
          <a:graphicData uri="http://schemas.openxmlformats.org/presentationml/2006/ole">
            <mc:AlternateContent xmlns:mc="http://schemas.openxmlformats.org/markup-compatibility/2006">
              <mc:Choice xmlns:v="urn:schemas-microsoft-com:vml" Requires="v">
                <p:oleObj spid="_x0000_s2102" name="Document" r:id="rId6" imgW="5486400" imgH="558800" progId="Word.Document.12">
                  <p:link updateAutomatic="1"/>
                </p:oleObj>
              </mc:Choice>
              <mc:Fallback>
                <p:oleObj name="Document" r:id="rId6" imgW="5486400" imgH="558800" progId="Word.Document.12">
                  <p:link updateAutomatic="1"/>
                  <p:pic>
                    <p:nvPicPr>
                      <p:cNvPr id="0" name=""/>
                      <p:cNvPicPr/>
                      <p:nvPr/>
                    </p:nvPicPr>
                    <p:blipFill>
                      <a:blip r:embed="rId7"/>
                      <a:stretch>
                        <a:fillRect/>
                      </a:stretch>
                    </p:blipFill>
                    <p:spPr>
                      <a:xfrm>
                        <a:off x="7236296" y="4941168"/>
                        <a:ext cx="5486400" cy="558800"/>
                      </a:xfrm>
                      <a:prstGeom prst="rect">
                        <a:avLst/>
                      </a:prstGeom>
                    </p:spPr>
                  </p:pic>
                </p:oleObj>
              </mc:Fallback>
            </mc:AlternateContent>
          </a:graphicData>
        </a:graphic>
      </p:graphicFrame>
    </p:spTree>
    <p:extLst>
      <p:ext uri="{BB962C8B-B14F-4D97-AF65-F5344CB8AC3E}">
        <p14:creationId xmlns:p14="http://schemas.microsoft.com/office/powerpoint/2010/main" val="2528188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Typical Analysis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Screen shot 2011-12-03 at 4.35.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2160" y="2420888"/>
            <a:ext cx="2781300" cy="2298700"/>
          </a:xfrm>
          <a:prstGeom prst="rect">
            <a:avLst/>
          </a:prstGeom>
        </p:spPr>
      </p:pic>
      <p:pic>
        <p:nvPicPr>
          <p:cNvPr id="8" name="Picture 7" descr="Screen shot 2011-12-03 at 4.36.15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420888"/>
            <a:ext cx="2806700" cy="2304256"/>
          </a:xfrm>
          <a:prstGeom prst="rect">
            <a:avLst/>
          </a:prstGeom>
        </p:spPr>
      </p:pic>
      <p:sp>
        <p:nvSpPr>
          <p:cNvPr id="18" name="TextBox 17"/>
          <p:cNvSpPr txBox="1"/>
          <p:nvPr/>
        </p:nvSpPr>
        <p:spPr>
          <a:xfrm>
            <a:off x="467544"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Baseline</a:t>
            </a:r>
            <a:endParaRPr lang="en-CA" sz="2200" dirty="0">
              <a:solidFill>
                <a:schemeClr val="bg1"/>
              </a:solidFill>
              <a:latin typeface="Helvetica" pitchFamily="34" charset="0"/>
              <a:cs typeface="Helvetica" pitchFamily="34" charset="0"/>
            </a:endParaRPr>
          </a:p>
        </p:txBody>
      </p:sp>
      <p:sp>
        <p:nvSpPr>
          <p:cNvPr id="19" name="TextBox 18"/>
          <p:cNvSpPr txBox="1"/>
          <p:nvPr/>
        </p:nvSpPr>
        <p:spPr>
          <a:xfrm>
            <a:off x="6012160" y="1988840"/>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Experimental</a:t>
            </a:r>
            <a:endParaRPr lang="en-CA" sz="2200" dirty="0">
              <a:solidFill>
                <a:schemeClr val="bg1"/>
              </a:solidFill>
              <a:latin typeface="Helvetica" pitchFamily="34" charset="0"/>
              <a:cs typeface="Helvetica"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34664213"/>
              </p:ext>
            </p:extLst>
          </p:nvPr>
        </p:nvGraphicFramePr>
        <p:xfrm>
          <a:off x="3059832" y="5085184"/>
          <a:ext cx="5486400" cy="914400"/>
        </p:xfrm>
        <a:graphic>
          <a:graphicData uri="http://schemas.openxmlformats.org/presentationml/2006/ole">
            <mc:AlternateContent xmlns:mc="http://schemas.openxmlformats.org/markup-compatibility/2006">
              <mc:Choice xmlns:v="urn:schemas-microsoft-com:vml" Requires="v">
                <p:oleObj spid="_x0000_s3127" name="Document" r:id="rId6" imgW="5486400" imgH="914400" progId="Word.Document.12">
                  <p:link updateAutomatic="1"/>
                </p:oleObj>
              </mc:Choice>
              <mc:Fallback>
                <p:oleObj name="Document" r:id="rId6" imgW="5486400" imgH="914400" progId="Word.Document.12">
                  <p:link updateAutomatic="1"/>
                  <p:pic>
                    <p:nvPicPr>
                      <p:cNvPr id="0" name=""/>
                      <p:cNvPicPr/>
                      <p:nvPr/>
                    </p:nvPicPr>
                    <p:blipFill>
                      <a:blip r:embed="rId7"/>
                      <a:stretch>
                        <a:fillRect/>
                      </a:stretch>
                    </p:blipFill>
                    <p:spPr>
                      <a:xfrm>
                        <a:off x="3059832" y="5085184"/>
                        <a:ext cx="5486400" cy="914400"/>
                      </a:xfrm>
                      <a:prstGeom prst="rect">
                        <a:avLst/>
                      </a:prstGeom>
                    </p:spPr>
                  </p:pic>
                </p:oleObj>
              </mc:Fallback>
            </mc:AlternateContent>
          </a:graphicData>
        </a:graphic>
      </p:graphicFrame>
    </p:spTree>
    <p:extLst>
      <p:ext uri="{BB962C8B-B14F-4D97-AF65-F5344CB8AC3E}">
        <p14:creationId xmlns:p14="http://schemas.microsoft.com/office/powerpoint/2010/main" val="2135164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Typical Analysis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12" name="Chart 11"/>
          <p:cNvGraphicFramePr>
            <a:graphicFrameLocks/>
          </p:cNvGraphicFramePr>
          <p:nvPr>
            <p:extLst>
              <p:ext uri="{D42A27DB-BD31-4B8C-83A1-F6EECF244321}">
                <p14:modId xmlns:p14="http://schemas.microsoft.com/office/powerpoint/2010/main" val="1791765257"/>
              </p:ext>
            </p:extLst>
          </p:nvPr>
        </p:nvGraphicFramePr>
        <p:xfrm>
          <a:off x="539552" y="1628800"/>
          <a:ext cx="8208912" cy="439248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467544" y="5733256"/>
            <a:ext cx="3384376" cy="338554"/>
          </a:xfrm>
          <a:prstGeom prst="rect">
            <a:avLst/>
          </a:prstGeom>
          <a:noFill/>
          <a:ln>
            <a:solidFill>
              <a:schemeClr val="bg1">
                <a:lumMod val="50000"/>
              </a:schemeClr>
            </a:solidFill>
          </a:ln>
        </p:spPr>
        <p:txBody>
          <a:bodyPr wrap="square" rtlCol="0">
            <a:spAutoFit/>
          </a:bodyPr>
          <a:lstStyle/>
          <a:p>
            <a:pPr algn="ctr"/>
            <a:r>
              <a:rPr lang="el-GR" sz="1600" dirty="0">
                <a:solidFill>
                  <a:schemeClr val="bg1"/>
                </a:solidFill>
                <a:latin typeface="Helvetica" pitchFamily="34" charset="0"/>
                <a:cs typeface="Helvetica" pitchFamily="34" charset="0"/>
              </a:rPr>
              <a:t> </a:t>
            </a:r>
            <a:r>
              <a:rPr lang="el-GR" sz="1600" i="1" dirty="0">
                <a:solidFill>
                  <a:schemeClr val="bg1"/>
                </a:solidFill>
                <a:latin typeface="Helvetica" pitchFamily="34" charset="0"/>
                <a:cs typeface="Helvetica" pitchFamily="34" charset="0"/>
              </a:rPr>
              <a:t>F</a:t>
            </a:r>
            <a:r>
              <a:rPr lang="el-GR" sz="1600" dirty="0">
                <a:solidFill>
                  <a:schemeClr val="bg1"/>
                </a:solidFill>
                <a:latin typeface="Helvetica" pitchFamily="34" charset="0"/>
                <a:cs typeface="Helvetica" pitchFamily="34" charset="0"/>
              </a:rPr>
              <a:t>(1,36) = 9.140, </a:t>
            </a:r>
            <a:r>
              <a:rPr lang="el-GR" sz="1600" i="1" dirty="0">
                <a:solidFill>
                  <a:schemeClr val="bg1"/>
                </a:solidFill>
                <a:latin typeface="Helvetica" pitchFamily="34" charset="0"/>
                <a:cs typeface="Helvetica" pitchFamily="34" charset="0"/>
              </a:rPr>
              <a:t>p</a:t>
            </a:r>
            <a:r>
              <a:rPr lang="el-GR" sz="1600" dirty="0">
                <a:solidFill>
                  <a:schemeClr val="bg1"/>
                </a:solidFill>
                <a:latin typeface="Helvetica" pitchFamily="34" charset="0"/>
                <a:cs typeface="Helvetica" pitchFamily="34" charset="0"/>
              </a:rPr>
              <a:t> = .005, </a:t>
            </a:r>
            <a:r>
              <a:rPr lang="el-GR" sz="1600" i="1" dirty="0">
                <a:solidFill>
                  <a:schemeClr val="bg1"/>
                </a:solidFill>
                <a:latin typeface="Helvetica" pitchFamily="34" charset="0"/>
                <a:cs typeface="Helvetica" pitchFamily="34" charset="0"/>
              </a:rPr>
              <a:t>η</a:t>
            </a:r>
            <a:r>
              <a:rPr lang="el-GR" sz="1600" baseline="30000" dirty="0">
                <a:solidFill>
                  <a:schemeClr val="bg1"/>
                </a:solidFill>
                <a:latin typeface="Helvetica" pitchFamily="34" charset="0"/>
                <a:cs typeface="Helvetica" pitchFamily="34" charset="0"/>
              </a:rPr>
              <a:t>2</a:t>
            </a:r>
            <a:r>
              <a:rPr lang="el-GR" sz="1600" dirty="0">
                <a:solidFill>
                  <a:schemeClr val="bg1"/>
                </a:solidFill>
                <a:latin typeface="Helvetica" pitchFamily="34" charset="0"/>
                <a:cs typeface="Helvetica" pitchFamily="34" charset="0"/>
              </a:rPr>
              <a:t> </a:t>
            </a:r>
            <a:r>
              <a:rPr lang="el-GR" sz="1600" dirty="0" smtClean="0">
                <a:solidFill>
                  <a:schemeClr val="bg1"/>
                </a:solidFill>
                <a:latin typeface="Helvetica" pitchFamily="34" charset="0"/>
                <a:cs typeface="Helvetica" pitchFamily="34" charset="0"/>
              </a:rPr>
              <a:t>= .</a:t>
            </a:r>
            <a:r>
              <a:rPr lang="el-GR" sz="1600" dirty="0">
                <a:solidFill>
                  <a:schemeClr val="bg1"/>
                </a:solidFill>
                <a:latin typeface="Helvetica" pitchFamily="34" charset="0"/>
                <a:cs typeface="Helvetica" pitchFamily="34" charset="0"/>
              </a:rPr>
              <a:t>20</a:t>
            </a:r>
            <a:endParaRPr lang="en-CA" sz="16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27181867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Motor-Evoked Potentials: </a:t>
            </a:r>
            <a:br>
              <a:rPr lang="en-CA" dirty="0" smtClean="0"/>
            </a:br>
            <a:r>
              <a:rPr lang="en-CA" dirty="0" smtClean="0"/>
              <a:t>Within-Block Variability</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7" name="Chart 6"/>
          <p:cNvGraphicFramePr>
            <a:graphicFrameLocks/>
          </p:cNvGraphicFramePr>
          <p:nvPr>
            <p:extLst>
              <p:ext uri="{D42A27DB-BD31-4B8C-83A1-F6EECF244321}">
                <p14:modId xmlns:p14="http://schemas.microsoft.com/office/powerpoint/2010/main" val="713737464"/>
              </p:ext>
            </p:extLst>
          </p:nvPr>
        </p:nvGraphicFramePr>
        <p:xfrm>
          <a:off x="467544" y="1412776"/>
          <a:ext cx="8208912" cy="43204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21764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Possible Explanation?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Mars et al., (2008)</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Investigated the computational processes underlying the P300 ERP component</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467544" y="5877272"/>
            <a:ext cx="8352928" cy="369332"/>
          </a:xfrm>
          <a:prstGeom prst="rect">
            <a:avLst/>
          </a:prstGeom>
          <a:noFill/>
          <a:ln>
            <a:noFill/>
          </a:ln>
        </p:spPr>
        <p:txBody>
          <a:bodyPr wrap="square" rtlCol="0">
            <a:spAutoFit/>
          </a:bodyPr>
          <a:lstStyle/>
          <a:p>
            <a:r>
              <a:rPr lang="en-CA" dirty="0" smtClean="0">
                <a:solidFill>
                  <a:schemeClr val="bg1"/>
                </a:solidFill>
                <a:latin typeface="Helvetica" pitchFamily="34" charset="0"/>
                <a:cs typeface="Helvetica" pitchFamily="34" charset="0"/>
              </a:rPr>
              <a:t>Mars, </a:t>
            </a:r>
            <a:r>
              <a:rPr lang="en-CA" dirty="0" err="1" smtClean="0">
                <a:solidFill>
                  <a:schemeClr val="bg1"/>
                </a:solidFill>
                <a:latin typeface="Helvetica" pitchFamily="34" charset="0"/>
                <a:cs typeface="Helvetica" pitchFamily="34" charset="0"/>
              </a:rPr>
              <a:t>Debener</a:t>
            </a:r>
            <a:r>
              <a:rPr lang="en-CA" dirty="0" smtClean="0">
                <a:solidFill>
                  <a:schemeClr val="bg1"/>
                </a:solidFill>
                <a:latin typeface="Helvetica" pitchFamily="34" charset="0"/>
                <a:cs typeface="Helvetica" pitchFamily="34" charset="0"/>
              </a:rPr>
              <a:t>, Gladwin, Harrison, Haggard, </a:t>
            </a:r>
            <a:r>
              <a:rPr lang="en-CA" dirty="0" err="1" smtClean="0">
                <a:solidFill>
                  <a:schemeClr val="bg1"/>
                </a:solidFill>
                <a:latin typeface="Helvetica" pitchFamily="34" charset="0"/>
                <a:cs typeface="Helvetica" pitchFamily="34" charset="0"/>
              </a:rPr>
              <a:t>Rothwell</a:t>
            </a:r>
            <a:r>
              <a:rPr lang="en-CA" dirty="0" smtClean="0">
                <a:solidFill>
                  <a:schemeClr val="bg1"/>
                </a:solidFill>
                <a:latin typeface="Helvetica" pitchFamily="34" charset="0"/>
                <a:cs typeface="Helvetica" pitchFamily="34" charset="0"/>
              </a:rPr>
              <a:t>, &amp; </a:t>
            </a:r>
            <a:r>
              <a:rPr lang="en-CA" dirty="0" err="1" smtClean="0">
                <a:solidFill>
                  <a:schemeClr val="bg1"/>
                </a:solidFill>
                <a:latin typeface="Helvetica" pitchFamily="34" charset="0"/>
                <a:cs typeface="Helvetica" pitchFamily="34" charset="0"/>
              </a:rPr>
              <a:t>Bestmann</a:t>
            </a:r>
            <a:r>
              <a:rPr lang="en-CA" dirty="0" smtClean="0">
                <a:solidFill>
                  <a:schemeClr val="bg1"/>
                </a:solidFill>
                <a:latin typeface="Helvetica" pitchFamily="34" charset="0"/>
                <a:cs typeface="Helvetica" pitchFamily="34" charset="0"/>
              </a:rPr>
              <a:t> (2008).</a:t>
            </a:r>
            <a:endParaRPr lang="en-CA"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3429774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Possible Explanation?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Mars et al., (2008)</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Investigated the computational processes underlying the P300 ERP component</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Found that </a:t>
            </a:r>
            <a:r>
              <a:rPr lang="en-CA" sz="2800" i="1" dirty="0" smtClean="0">
                <a:solidFill>
                  <a:schemeClr val="bg1"/>
                </a:solidFill>
                <a:latin typeface="Helvetica" pitchFamily="34" charset="0"/>
                <a:cs typeface="Helvetica" pitchFamily="34" charset="0"/>
              </a:rPr>
              <a:t>degree of surprise </a:t>
            </a:r>
            <a:r>
              <a:rPr lang="en-CA" sz="2800" dirty="0" smtClean="0">
                <a:solidFill>
                  <a:schemeClr val="bg1"/>
                </a:solidFill>
                <a:latin typeface="Helvetica" pitchFamily="34" charset="0"/>
                <a:cs typeface="Helvetica" pitchFamily="34" charset="0"/>
              </a:rPr>
              <a:t>associated with an event</a:t>
            </a:r>
            <a:r>
              <a:rPr lang="en-CA" sz="2800" i="1" dirty="0" smtClean="0">
                <a:solidFill>
                  <a:schemeClr val="bg1"/>
                </a:solidFill>
                <a:latin typeface="Helvetica" pitchFamily="34" charset="0"/>
                <a:cs typeface="Helvetica" pitchFamily="34" charset="0"/>
              </a:rPr>
              <a:t> </a:t>
            </a:r>
            <a:r>
              <a:rPr lang="en-CA" sz="2800" dirty="0" smtClean="0">
                <a:solidFill>
                  <a:schemeClr val="bg1"/>
                </a:solidFill>
                <a:latin typeface="Helvetica" pitchFamily="34" charset="0"/>
                <a:cs typeface="Helvetica" pitchFamily="34" charset="0"/>
              </a:rPr>
              <a:t>predicts trial-by-trial fluctuations in the P300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467544" y="5877272"/>
            <a:ext cx="8352928" cy="369332"/>
          </a:xfrm>
          <a:prstGeom prst="rect">
            <a:avLst/>
          </a:prstGeom>
          <a:noFill/>
          <a:ln>
            <a:noFill/>
          </a:ln>
        </p:spPr>
        <p:txBody>
          <a:bodyPr wrap="square" rtlCol="0">
            <a:spAutoFit/>
          </a:bodyPr>
          <a:lstStyle/>
          <a:p>
            <a:r>
              <a:rPr lang="en-CA" dirty="0" smtClean="0">
                <a:solidFill>
                  <a:schemeClr val="bg1"/>
                </a:solidFill>
                <a:latin typeface="Helvetica" pitchFamily="34" charset="0"/>
                <a:cs typeface="Helvetica" pitchFamily="34" charset="0"/>
              </a:rPr>
              <a:t>Mars, </a:t>
            </a:r>
            <a:r>
              <a:rPr lang="en-CA" dirty="0" err="1" smtClean="0">
                <a:solidFill>
                  <a:schemeClr val="bg1"/>
                </a:solidFill>
                <a:latin typeface="Helvetica" pitchFamily="34" charset="0"/>
                <a:cs typeface="Helvetica" pitchFamily="34" charset="0"/>
              </a:rPr>
              <a:t>Debener</a:t>
            </a:r>
            <a:r>
              <a:rPr lang="en-CA" dirty="0" smtClean="0">
                <a:solidFill>
                  <a:schemeClr val="bg1"/>
                </a:solidFill>
                <a:latin typeface="Helvetica" pitchFamily="34" charset="0"/>
                <a:cs typeface="Helvetica" pitchFamily="34" charset="0"/>
              </a:rPr>
              <a:t>, Gladwin, Harrison, Haggard, </a:t>
            </a:r>
            <a:r>
              <a:rPr lang="en-CA" dirty="0" err="1" smtClean="0">
                <a:solidFill>
                  <a:schemeClr val="bg1"/>
                </a:solidFill>
                <a:latin typeface="Helvetica" pitchFamily="34" charset="0"/>
                <a:cs typeface="Helvetica" pitchFamily="34" charset="0"/>
              </a:rPr>
              <a:t>Rothwell</a:t>
            </a:r>
            <a:r>
              <a:rPr lang="en-CA" dirty="0" smtClean="0">
                <a:solidFill>
                  <a:schemeClr val="bg1"/>
                </a:solidFill>
                <a:latin typeface="Helvetica" pitchFamily="34" charset="0"/>
                <a:cs typeface="Helvetica" pitchFamily="34" charset="0"/>
              </a:rPr>
              <a:t>, &amp; </a:t>
            </a:r>
            <a:r>
              <a:rPr lang="en-CA" dirty="0" err="1" smtClean="0">
                <a:solidFill>
                  <a:schemeClr val="bg1"/>
                </a:solidFill>
                <a:latin typeface="Helvetica" pitchFamily="34" charset="0"/>
                <a:cs typeface="Helvetica" pitchFamily="34" charset="0"/>
              </a:rPr>
              <a:t>Bestmann</a:t>
            </a:r>
            <a:r>
              <a:rPr lang="en-CA" dirty="0" smtClean="0">
                <a:solidFill>
                  <a:schemeClr val="bg1"/>
                </a:solidFill>
                <a:latin typeface="Helvetica" pitchFamily="34" charset="0"/>
                <a:cs typeface="Helvetica" pitchFamily="34" charset="0"/>
              </a:rPr>
              <a:t> (2008).</a:t>
            </a:r>
            <a:endParaRPr lang="en-CA"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2386837540"/>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Do MEPs also vary as a function of surprise?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Tree>
    <p:extLst>
      <p:ext uri="{BB962C8B-B14F-4D97-AF65-F5344CB8AC3E}">
        <p14:creationId xmlns:p14="http://schemas.microsoft.com/office/powerpoint/2010/main" val="1474699533"/>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Do MEPs also vary as a function of surprise?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8" name="Chart 7"/>
          <p:cNvGraphicFramePr>
            <a:graphicFrameLocks/>
          </p:cNvGraphicFramePr>
          <p:nvPr>
            <p:extLst>
              <p:ext uri="{D42A27DB-BD31-4B8C-83A1-F6EECF244321}">
                <p14:modId xmlns:p14="http://schemas.microsoft.com/office/powerpoint/2010/main" val="3285248387"/>
              </p:ext>
            </p:extLst>
          </p:nvPr>
        </p:nvGraphicFramePr>
        <p:xfrm>
          <a:off x="467544" y="1484784"/>
          <a:ext cx="8280920" cy="48436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89417069"/>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Shannon’s Information Theory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i="1"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467544" y="5877272"/>
            <a:ext cx="8352928" cy="369332"/>
          </a:xfrm>
          <a:prstGeom prst="rect">
            <a:avLst/>
          </a:prstGeom>
          <a:noFill/>
          <a:ln>
            <a:noFill/>
          </a:ln>
        </p:spPr>
        <p:txBody>
          <a:bodyPr wrap="square" rtlCol="0">
            <a:spAutoFit/>
          </a:bodyPr>
          <a:lstStyle/>
          <a:p>
            <a:r>
              <a:rPr lang="en-CA" dirty="0" smtClean="0">
                <a:solidFill>
                  <a:schemeClr val="bg1"/>
                </a:solidFill>
                <a:latin typeface="Helvetica" pitchFamily="34" charset="0"/>
                <a:cs typeface="Helvetica" pitchFamily="34" charset="0"/>
              </a:rPr>
              <a:t>Shannon (1948).</a:t>
            </a:r>
            <a:endParaRPr lang="en-CA"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231012545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Shannon’s Information Theory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Uses principles from probability theory and statistics to formally quantify </a:t>
            </a:r>
            <a:r>
              <a:rPr lang="en-CA" sz="2800" b="1" dirty="0" smtClean="0">
                <a:solidFill>
                  <a:schemeClr val="bg1"/>
                </a:solidFill>
                <a:latin typeface="Helvetica" pitchFamily="34" charset="0"/>
                <a:cs typeface="Helvetica" pitchFamily="34" charset="0"/>
              </a:rPr>
              <a:t>information</a:t>
            </a:r>
          </a:p>
          <a:p>
            <a:pPr marL="800100" lvl="1" indent="-342900">
              <a:spcBef>
                <a:spcPct val="20000"/>
              </a:spcBef>
              <a:buFont typeface="Arial" pitchFamily="34" charset="0"/>
              <a:buChar char="•"/>
              <a:defRPr/>
            </a:pPr>
            <a:endParaRPr lang="en-CA" sz="2800" i="1"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467544" y="5877272"/>
            <a:ext cx="8352928" cy="369332"/>
          </a:xfrm>
          <a:prstGeom prst="rect">
            <a:avLst/>
          </a:prstGeom>
          <a:noFill/>
          <a:ln>
            <a:noFill/>
          </a:ln>
        </p:spPr>
        <p:txBody>
          <a:bodyPr wrap="square" rtlCol="0">
            <a:spAutoFit/>
          </a:bodyPr>
          <a:lstStyle/>
          <a:p>
            <a:r>
              <a:rPr lang="en-CA" dirty="0" smtClean="0">
                <a:solidFill>
                  <a:schemeClr val="bg1"/>
                </a:solidFill>
                <a:latin typeface="Helvetica" pitchFamily="34" charset="0"/>
                <a:cs typeface="Helvetica" pitchFamily="34" charset="0"/>
              </a:rPr>
              <a:t>Shannon (1948).</a:t>
            </a:r>
            <a:endParaRPr lang="en-CA"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4039701795"/>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Shannon’s Information Theory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Computations can formally quantify the amount of information conveyed by a sensory event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467544" y="5877272"/>
            <a:ext cx="8352928" cy="369332"/>
          </a:xfrm>
          <a:prstGeom prst="rect">
            <a:avLst/>
          </a:prstGeom>
          <a:noFill/>
          <a:ln>
            <a:noFill/>
          </a:ln>
        </p:spPr>
        <p:txBody>
          <a:bodyPr wrap="square" rtlCol="0">
            <a:spAutoFit/>
          </a:bodyPr>
          <a:lstStyle/>
          <a:p>
            <a:r>
              <a:rPr lang="en-CA" dirty="0" smtClean="0">
                <a:solidFill>
                  <a:schemeClr val="bg1"/>
                </a:solidFill>
                <a:latin typeface="Helvetica" pitchFamily="34" charset="0"/>
                <a:cs typeface="Helvetica" pitchFamily="34" charset="0"/>
              </a:rPr>
              <a:t>e.g. Strange et al. (2005); Mars et al., (2008); B</a:t>
            </a:r>
            <a:r>
              <a:rPr lang="en-US" dirty="0" smtClean="0">
                <a:solidFill>
                  <a:schemeClr val="bg1"/>
                </a:solidFill>
                <a:latin typeface="Helvetica" pitchFamily="34" charset="0"/>
                <a:cs typeface="Helvetica" pitchFamily="34" charset="0"/>
              </a:rPr>
              <a:t>e</a:t>
            </a:r>
            <a:r>
              <a:rPr lang="en-CA" dirty="0" err="1" smtClean="0">
                <a:solidFill>
                  <a:schemeClr val="bg1"/>
                </a:solidFill>
                <a:latin typeface="Helvetica" pitchFamily="34" charset="0"/>
                <a:cs typeface="Helvetica" pitchFamily="34" charset="0"/>
              </a:rPr>
              <a:t>stmann</a:t>
            </a:r>
            <a:r>
              <a:rPr lang="en-CA" dirty="0" smtClean="0">
                <a:solidFill>
                  <a:schemeClr val="bg1"/>
                </a:solidFill>
                <a:latin typeface="Helvetica" pitchFamily="34" charset="0"/>
                <a:cs typeface="Helvetica" pitchFamily="34" charset="0"/>
              </a:rPr>
              <a:t> et al. (2008) </a:t>
            </a:r>
            <a:endParaRPr lang="en-CA"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1650967876"/>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Surprise</a:t>
            </a:r>
          </a:p>
          <a:p>
            <a:pPr marL="342900"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Entropy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2503418362"/>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Surprise: Refers to the improbability of a stimulus occurring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358891655"/>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Surprise: Refers to the improbability of a stimulus </a:t>
            </a:r>
            <a:r>
              <a:rPr lang="en-CA" sz="2800" dirty="0" smtClean="0">
                <a:solidFill>
                  <a:schemeClr val="bg1"/>
                </a:solidFill>
                <a:latin typeface="Helvetica" pitchFamily="34" charset="0"/>
                <a:cs typeface="Helvetica" pitchFamily="34" charset="0"/>
              </a:rPr>
              <a:t>occurring</a:t>
            </a:r>
          </a:p>
          <a:p>
            <a:pPr marL="34290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CA" sz="2800" dirty="0">
                <a:solidFill>
                  <a:schemeClr val="bg1"/>
                </a:solidFill>
                <a:latin typeface="Helvetica" pitchFamily="34" charset="0"/>
                <a:cs typeface="Helvetica" pitchFamily="34" charset="0"/>
              </a:rPr>
              <a:t>Imagine an ideal observer estimating probability of TMS event based on encountered trials</a:t>
            </a:r>
            <a:r>
              <a:rPr lang="en-US" sz="2800" dirty="0">
                <a:solidFill>
                  <a:schemeClr val="bg1"/>
                </a:solidFill>
                <a:latin typeface="Helvetica" pitchFamily="34" charset="0"/>
                <a:cs typeface="Helvetica" pitchFamily="34" charset="0"/>
              </a:rPr>
              <a:t>…</a:t>
            </a:r>
            <a:endParaRPr lang="en-CA" sz="28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1942818721"/>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Surprise: Refers to the improbability of a stimulus </a:t>
            </a:r>
            <a:r>
              <a:rPr lang="en-CA" sz="2800" dirty="0" smtClean="0">
                <a:solidFill>
                  <a:schemeClr val="bg1"/>
                </a:solidFill>
                <a:latin typeface="Helvetica" pitchFamily="34" charset="0"/>
                <a:cs typeface="Helvetica" pitchFamily="34" charset="0"/>
              </a:rPr>
              <a:t>occurring</a:t>
            </a:r>
          </a:p>
          <a:p>
            <a:pPr marL="34290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CA" sz="2800" dirty="0" smtClean="0">
                <a:solidFill>
                  <a:schemeClr val="bg1"/>
                </a:solidFill>
                <a:latin typeface="Helvetica" pitchFamily="34" charset="0"/>
                <a:cs typeface="Helvetica" pitchFamily="34" charset="0"/>
              </a:rPr>
              <a:t>Imagine an ideal observer estimating probability of TMS event based on encountered trials</a:t>
            </a:r>
            <a:r>
              <a:rPr lang="en-US" sz="2800" dirty="0" smtClean="0">
                <a:solidFill>
                  <a:schemeClr val="bg1"/>
                </a:solidFill>
                <a:latin typeface="Helvetica" pitchFamily="34" charset="0"/>
                <a:cs typeface="Helvetica" pitchFamily="34" charset="0"/>
              </a:rPr>
              <a:t>…</a:t>
            </a:r>
            <a:endParaRPr lang="en-CA" sz="28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descr="Screen shot 2011-12-05 at 7.37.4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1650" y="4237567"/>
            <a:ext cx="2997200" cy="1155700"/>
          </a:xfrm>
          <a:prstGeom prst="rect">
            <a:avLst/>
          </a:prstGeom>
        </p:spPr>
      </p:pic>
    </p:spTree>
    <p:extLst>
      <p:ext uri="{BB962C8B-B14F-4D97-AF65-F5344CB8AC3E}">
        <p14:creationId xmlns:p14="http://schemas.microsoft.com/office/powerpoint/2010/main" val="3815342933"/>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Surprise: Refers to the improbability of a stimulus </a:t>
            </a:r>
            <a:r>
              <a:rPr lang="en-CA" sz="2800" dirty="0" smtClean="0">
                <a:solidFill>
                  <a:schemeClr val="bg1"/>
                </a:solidFill>
                <a:latin typeface="Helvetica" pitchFamily="34" charset="0"/>
                <a:cs typeface="Helvetica" pitchFamily="34" charset="0"/>
              </a:rPr>
              <a:t>occurring</a:t>
            </a:r>
          </a:p>
          <a:p>
            <a:pPr marL="342900"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CA" sz="2800" dirty="0" smtClean="0">
                <a:solidFill>
                  <a:schemeClr val="bg1"/>
                </a:solidFill>
                <a:latin typeface="Helvetica" pitchFamily="34" charset="0"/>
                <a:cs typeface="Helvetica" pitchFamily="34" charset="0"/>
              </a:rPr>
              <a:t>Surprise quantifies the information conveyed by the occurrence of event x</a:t>
            </a:r>
            <a:r>
              <a:rPr lang="en-CA" sz="2800" baseline="-25000" dirty="0" smtClean="0">
                <a:solidFill>
                  <a:schemeClr val="bg1"/>
                </a:solidFill>
                <a:latin typeface="Helvetica" pitchFamily="34" charset="0"/>
                <a:cs typeface="Helvetica" pitchFamily="34" charset="0"/>
              </a:rPr>
              <a:t>i</a:t>
            </a:r>
            <a:endParaRPr lang="en-CA" sz="2800" baseline="-250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Screen shot 2011-12-05 at 7.37.54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4797152"/>
            <a:ext cx="2952328" cy="584200"/>
          </a:xfrm>
          <a:prstGeom prst="rect">
            <a:avLst/>
          </a:prstGeom>
        </p:spPr>
      </p:pic>
    </p:spTree>
    <p:extLst>
      <p:ext uri="{BB962C8B-B14F-4D97-AF65-F5344CB8AC3E}">
        <p14:creationId xmlns:p14="http://schemas.microsoft.com/office/powerpoint/2010/main" val="3957251962"/>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9" name="Chart 8"/>
          <p:cNvGraphicFramePr>
            <a:graphicFrameLocks/>
          </p:cNvGraphicFramePr>
          <p:nvPr>
            <p:extLst>
              <p:ext uri="{D42A27DB-BD31-4B8C-83A1-F6EECF244321}">
                <p14:modId xmlns:p14="http://schemas.microsoft.com/office/powerpoint/2010/main" val="1648080593"/>
              </p:ext>
            </p:extLst>
          </p:nvPr>
        </p:nvGraphicFramePr>
        <p:xfrm>
          <a:off x="467544" y="1988840"/>
          <a:ext cx="8280920" cy="37236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81430855"/>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Entropy: Refers to the average surprise over all possible outcomes</a:t>
            </a:r>
          </a:p>
          <a:p>
            <a:pPr marL="342900"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160389870"/>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Entropy: Refers to the average surprise over all possible outcomes</a:t>
            </a:r>
          </a:p>
          <a:p>
            <a:pPr marL="342900"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CA" sz="2800" dirty="0" smtClean="0">
                <a:solidFill>
                  <a:schemeClr val="bg1"/>
                </a:solidFill>
                <a:latin typeface="Helvetica" pitchFamily="34" charset="0"/>
                <a:cs typeface="Helvetica" pitchFamily="34" charset="0"/>
              </a:rPr>
              <a:t>Quantifies the ideal observer’s expected information based on encountered trials</a:t>
            </a:r>
            <a:r>
              <a:rPr lang="en-US" sz="2800" dirty="0" smtClean="0">
                <a:solidFill>
                  <a:schemeClr val="bg1"/>
                </a:solidFill>
                <a:latin typeface="Helvetica" pitchFamily="34" charset="0"/>
                <a:cs typeface="Helvetica" pitchFamily="34" charset="0"/>
              </a:rPr>
              <a:t>…</a:t>
            </a: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descr="Screen shot 2011-12-05 at 7.38.0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3533" y="4396317"/>
            <a:ext cx="2705100" cy="965200"/>
          </a:xfrm>
          <a:prstGeom prst="rect">
            <a:avLst/>
          </a:prstGeom>
        </p:spPr>
      </p:pic>
    </p:spTree>
    <p:extLst>
      <p:ext uri="{BB962C8B-B14F-4D97-AF65-F5344CB8AC3E}">
        <p14:creationId xmlns:p14="http://schemas.microsoft.com/office/powerpoint/2010/main" val="1828164009"/>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Entropy: Refers to the average surprise over all possible outcomes</a:t>
            </a:r>
          </a:p>
          <a:p>
            <a:pPr marL="342900"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CA" sz="2800" dirty="0" smtClean="0">
                <a:solidFill>
                  <a:schemeClr val="bg1"/>
                </a:solidFill>
                <a:latin typeface="Helvetica" pitchFamily="34" charset="0"/>
                <a:cs typeface="Helvetica" pitchFamily="34" charset="0"/>
              </a:rPr>
              <a:t>Quantifies the ideal observer’s expected information based on encountered trials</a:t>
            </a:r>
            <a:r>
              <a:rPr lang="en-US" sz="2800" dirty="0" smtClean="0">
                <a:solidFill>
                  <a:schemeClr val="bg1"/>
                </a:solidFill>
                <a:latin typeface="Helvetica" pitchFamily="34" charset="0"/>
                <a:cs typeface="Helvetica" pitchFamily="34" charset="0"/>
              </a:rPr>
              <a:t>…</a:t>
            </a: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Screen shot 2011-12-05 at 7.38.0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4653136"/>
            <a:ext cx="4926369" cy="703767"/>
          </a:xfrm>
          <a:prstGeom prst="rect">
            <a:avLst/>
          </a:prstGeom>
        </p:spPr>
      </p:pic>
    </p:spTree>
    <p:extLst>
      <p:ext uri="{BB962C8B-B14F-4D97-AF65-F5344CB8AC3E}">
        <p14:creationId xmlns:p14="http://schemas.microsoft.com/office/powerpoint/2010/main" val="4218562632"/>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Information</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8" name="Chart 7"/>
          <p:cNvGraphicFramePr>
            <a:graphicFrameLocks/>
          </p:cNvGraphicFramePr>
          <p:nvPr>
            <p:extLst>
              <p:ext uri="{D42A27DB-BD31-4B8C-83A1-F6EECF244321}">
                <p14:modId xmlns:p14="http://schemas.microsoft.com/office/powerpoint/2010/main" val="1027771174"/>
              </p:ext>
            </p:extLst>
          </p:nvPr>
        </p:nvGraphicFramePr>
        <p:xfrm>
          <a:off x="467544" y="1988840"/>
          <a:ext cx="8280920" cy="37444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0052937"/>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Questions: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Explaining MEP variation: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within-block variations in the MEP just “random noise”?</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1425542241"/>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Questions: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Explaining MEP variation: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within-block variations in the MEP just “random noise”?</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1257300" lvl="2"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Or, do they reflect knowledge of the probability of a TMS event?</a:t>
            </a: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172494410"/>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9" name="Oval 8"/>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14" name="TextBox 13"/>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15" name="TextBox 14"/>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pic>
        <p:nvPicPr>
          <p:cNvPr id="19" name="Picture 18" descr="Screen shot 2011-12-05 at 7.38.1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5661248"/>
            <a:ext cx="4152900" cy="584200"/>
          </a:xfrm>
          <a:prstGeom prst="rect">
            <a:avLst/>
          </a:prstGeom>
        </p:spPr>
      </p:pic>
    </p:spTree>
    <p:extLst>
      <p:ext uri="{BB962C8B-B14F-4D97-AF65-F5344CB8AC3E}">
        <p14:creationId xmlns:p14="http://schemas.microsoft.com/office/powerpoint/2010/main" val="3222666277"/>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cxnSp>
        <p:nvCxnSpPr>
          <p:cNvPr id="12" name="Straight Connector 11"/>
          <p:cNvCxnSpPr/>
          <p:nvPr/>
        </p:nvCxnSpPr>
        <p:spPr>
          <a:xfrm>
            <a:off x="2627784" y="2996952"/>
            <a:ext cx="4032448" cy="0"/>
          </a:xfrm>
          <a:prstGeom prst="line">
            <a:avLst/>
          </a:prstGeom>
          <a:ln w="63500">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491880" y="1988840"/>
            <a:ext cx="936104"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3 (surprise)</a:t>
            </a:r>
            <a:endParaRPr lang="en-US" sz="2200" b="1" baseline="-25000" dirty="0">
              <a:solidFill>
                <a:schemeClr val="bg1"/>
              </a:solidFill>
            </a:endParaRPr>
          </a:p>
        </p:txBody>
      </p:sp>
      <p:sp>
        <p:nvSpPr>
          <p:cNvPr id="17" name="TextBox 16"/>
          <p:cNvSpPr txBox="1"/>
          <p:nvPr/>
        </p:nvSpPr>
        <p:spPr>
          <a:xfrm>
            <a:off x="5220072" y="2132856"/>
            <a:ext cx="1008112"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4 (entropy)</a:t>
            </a:r>
            <a:endParaRPr lang="en-US" sz="2200" b="1" baseline="-25000" dirty="0">
              <a:solidFill>
                <a:schemeClr val="bg1"/>
              </a:solidFill>
            </a:endParaRPr>
          </a:p>
        </p:txBody>
      </p:sp>
      <p:pic>
        <p:nvPicPr>
          <p:cNvPr id="20" name="Picture 19" descr="Screen shot 2011-12-05 at 7.38.2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5733256"/>
            <a:ext cx="6286500" cy="546100"/>
          </a:xfrm>
          <a:prstGeom prst="rect">
            <a:avLst/>
          </a:prstGeom>
        </p:spPr>
      </p:pic>
      <p:sp>
        <p:nvSpPr>
          <p:cNvPr id="21" name="Oval 20"/>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2" name="Straight Connector 21"/>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26" name="TextBox 25"/>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27" name="TextBox 26"/>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spTree>
    <p:extLst>
      <p:ext uri="{BB962C8B-B14F-4D97-AF65-F5344CB8AC3E}">
        <p14:creationId xmlns:p14="http://schemas.microsoft.com/office/powerpoint/2010/main" val="345359303"/>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cxnSp>
        <p:nvCxnSpPr>
          <p:cNvPr id="12" name="Straight Connector 11"/>
          <p:cNvCxnSpPr/>
          <p:nvPr/>
        </p:nvCxnSpPr>
        <p:spPr>
          <a:xfrm>
            <a:off x="2627784" y="2996952"/>
            <a:ext cx="4032448" cy="0"/>
          </a:xfrm>
          <a:prstGeom prst="line">
            <a:avLst/>
          </a:prstGeom>
          <a:ln w="63500">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18" name="Right Brace 17"/>
          <p:cNvSpPr/>
          <p:nvPr/>
        </p:nvSpPr>
        <p:spPr>
          <a:xfrm>
            <a:off x="7092280" y="1268760"/>
            <a:ext cx="576064" cy="3271232"/>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pic>
        <p:nvPicPr>
          <p:cNvPr id="20" name="Picture 19" descr="Screen shot 2011-12-05 at 7.38.2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5733256"/>
            <a:ext cx="6286500" cy="546100"/>
          </a:xfrm>
          <a:prstGeom prst="rect">
            <a:avLst/>
          </a:prstGeom>
        </p:spPr>
      </p:pic>
      <p:sp>
        <p:nvSpPr>
          <p:cNvPr id="21" name="Oval 20"/>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2" name="Straight Connector 21"/>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28" name="TextBox 27"/>
          <p:cNvSpPr txBox="1"/>
          <p:nvPr/>
        </p:nvSpPr>
        <p:spPr>
          <a:xfrm>
            <a:off x="3491880" y="1988840"/>
            <a:ext cx="936104"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3 (surprise)</a:t>
            </a:r>
            <a:endParaRPr lang="en-US" sz="2200" b="1" baseline="-25000" dirty="0">
              <a:solidFill>
                <a:schemeClr val="bg1"/>
              </a:solidFill>
            </a:endParaRPr>
          </a:p>
        </p:txBody>
      </p:sp>
      <p:sp>
        <p:nvSpPr>
          <p:cNvPr id="29" name="TextBox 28"/>
          <p:cNvSpPr txBox="1"/>
          <p:nvPr/>
        </p:nvSpPr>
        <p:spPr>
          <a:xfrm>
            <a:off x="5220072" y="2132856"/>
            <a:ext cx="1008112"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4 (entropy)</a:t>
            </a:r>
            <a:endParaRPr lang="en-US" sz="2200" b="1" baseline="-25000" dirty="0">
              <a:solidFill>
                <a:schemeClr val="bg1"/>
              </a:solidFill>
            </a:endParaRPr>
          </a:p>
        </p:txBody>
      </p:sp>
      <p:sp>
        <p:nvSpPr>
          <p:cNvPr id="30" name="TextBox 29"/>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31" name="TextBox 30"/>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spTree>
    <p:extLst>
      <p:ext uri="{BB962C8B-B14F-4D97-AF65-F5344CB8AC3E}">
        <p14:creationId xmlns:p14="http://schemas.microsoft.com/office/powerpoint/2010/main" val="28494351"/>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cxnSp>
        <p:nvCxnSpPr>
          <p:cNvPr id="12" name="Straight Connector 11"/>
          <p:cNvCxnSpPr/>
          <p:nvPr/>
        </p:nvCxnSpPr>
        <p:spPr>
          <a:xfrm>
            <a:off x="2627784" y="2996952"/>
            <a:ext cx="4032448" cy="0"/>
          </a:xfrm>
          <a:prstGeom prst="line">
            <a:avLst/>
          </a:prstGeom>
          <a:ln w="63500">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18" name="Right Brace 17"/>
          <p:cNvSpPr/>
          <p:nvPr/>
        </p:nvSpPr>
        <p:spPr>
          <a:xfrm>
            <a:off x="7092280" y="1268760"/>
            <a:ext cx="576064" cy="3271232"/>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pic>
        <p:nvPicPr>
          <p:cNvPr id="20" name="Picture 19" descr="Screen shot 2011-12-05 at 7.38.2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5733256"/>
            <a:ext cx="6286500" cy="546100"/>
          </a:xfrm>
          <a:prstGeom prst="rect">
            <a:avLst/>
          </a:prstGeom>
        </p:spPr>
      </p:pic>
      <p:sp>
        <p:nvSpPr>
          <p:cNvPr id="21" name="Oval 20"/>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2" name="Straight Connector 21"/>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19" name="Right Brace 18"/>
          <p:cNvSpPr/>
          <p:nvPr/>
        </p:nvSpPr>
        <p:spPr>
          <a:xfrm rot="10800000">
            <a:off x="1619672" y="1340768"/>
            <a:ext cx="576064" cy="1656184"/>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 name="Oval 2"/>
          <p:cNvSpPr/>
          <p:nvPr/>
        </p:nvSpPr>
        <p:spPr>
          <a:xfrm>
            <a:off x="5868144" y="5589240"/>
            <a:ext cx="2376264" cy="864096"/>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p:nvSpPr>
        <p:spPr>
          <a:xfrm>
            <a:off x="3491880" y="1988840"/>
            <a:ext cx="936104"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3 (surprise)</a:t>
            </a:r>
            <a:endParaRPr lang="en-US" sz="2200" b="1" baseline="-25000" dirty="0">
              <a:solidFill>
                <a:schemeClr val="bg1"/>
              </a:solidFill>
            </a:endParaRPr>
          </a:p>
        </p:txBody>
      </p:sp>
      <p:sp>
        <p:nvSpPr>
          <p:cNvPr id="28" name="TextBox 27"/>
          <p:cNvSpPr txBox="1"/>
          <p:nvPr/>
        </p:nvSpPr>
        <p:spPr>
          <a:xfrm>
            <a:off x="5220072" y="2132856"/>
            <a:ext cx="1008112" cy="656590"/>
          </a:xfrm>
          <a:prstGeom prst="rect">
            <a:avLst/>
          </a:prstGeom>
          <a:noFill/>
        </p:spPr>
        <p:txBody>
          <a:bodyPr wrap="square" rtlCol="0">
            <a:spAutoFit/>
          </a:bodyPr>
          <a:lstStyle/>
          <a:p>
            <a:r>
              <a:rPr lang="en-US" sz="2200" b="1" dirty="0" smtClean="0">
                <a:solidFill>
                  <a:schemeClr val="bg1"/>
                </a:solidFill>
              </a:rPr>
              <a:t>x</a:t>
            </a:r>
            <a:r>
              <a:rPr lang="en-US" sz="2200" b="1" baseline="-25000" dirty="0" smtClean="0">
                <a:solidFill>
                  <a:schemeClr val="bg1"/>
                </a:solidFill>
              </a:rPr>
              <a:t>4 (entropy)</a:t>
            </a:r>
            <a:endParaRPr lang="en-US" sz="2200" b="1" baseline="-25000" dirty="0">
              <a:solidFill>
                <a:schemeClr val="bg1"/>
              </a:solidFill>
            </a:endParaRPr>
          </a:p>
        </p:txBody>
      </p:sp>
      <p:sp>
        <p:nvSpPr>
          <p:cNvPr id="29" name="TextBox 28"/>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30" name="TextBox 29"/>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spTree>
    <p:extLst>
      <p:ext uri="{BB962C8B-B14F-4D97-AF65-F5344CB8AC3E}">
        <p14:creationId xmlns:p14="http://schemas.microsoft.com/office/powerpoint/2010/main" val="2675139218"/>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30256081"/>
              </p:ext>
            </p:extLst>
          </p:nvPr>
        </p:nvGraphicFramePr>
        <p:xfrm>
          <a:off x="1031606" y="1600201"/>
          <a:ext cx="7080787" cy="4525960"/>
        </p:xfrm>
        <a:graphic>
          <a:graphicData uri="http://schemas.openxmlformats.org/drawingml/2006/table">
            <a:tbl>
              <a:tblPr/>
              <a:tblGrid>
                <a:gridCol w="107647"/>
                <a:gridCol w="1782158"/>
                <a:gridCol w="1016667"/>
                <a:gridCol w="1016667"/>
                <a:gridCol w="1016667"/>
                <a:gridCol w="1016667"/>
                <a:gridCol w="1016667"/>
                <a:gridCol w="107647"/>
              </a:tblGrid>
              <a:tr h="418628">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c gridSpan="6">
                  <a:txBody>
                    <a:bodyPr/>
                    <a:lstStyle/>
                    <a:p>
                      <a:pPr algn="ctr" fontAlgn="ctr"/>
                      <a:r>
                        <a:rPr lang="en-US" sz="2400" b="1" i="0" u="sng" strike="noStrike">
                          <a:solidFill>
                            <a:srgbClr val="FFFFFF"/>
                          </a:solidFill>
                          <a:effectLst/>
                          <a:latin typeface="Helvetica"/>
                        </a:rPr>
                        <a:t>Original Model vs. Ideal Observer Model</a:t>
                      </a:r>
                    </a:p>
                  </a:txBody>
                  <a:tcPr marL="11961" marR="11961" marT="1196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46863">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gridSpan="6">
                  <a:txBody>
                    <a:bodyPr/>
                    <a:lstStyle/>
                    <a:p>
                      <a:pPr algn="ctr" fontAlgn="b"/>
                      <a:r>
                        <a:rPr lang="en-US" sz="2100" b="1" i="1" u="none" strike="noStrike">
                          <a:solidFill>
                            <a:srgbClr val="FFFFFF"/>
                          </a:solidFill>
                          <a:effectLst/>
                          <a:latin typeface="Helvetica"/>
                        </a:rPr>
                        <a:t>ANOVA</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a"/>
                        </a:rPr>
                        <a:t>Source</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df</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Sum of Squares</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Mean Square</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F</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Sig.</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2</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157.459</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78.730</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93.522</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1" u="none" strike="noStrike" dirty="0">
                          <a:solidFill>
                            <a:srgbClr val="FFFFFF"/>
                          </a:solidFill>
                          <a:effectLst/>
                          <a:latin typeface="Helvetica"/>
                        </a:rPr>
                        <a:t>p</a:t>
                      </a:r>
                      <a:r>
                        <a:rPr lang="en-US" sz="1700" b="0" i="0" u="none" strike="noStrike" dirty="0">
                          <a:solidFill>
                            <a:srgbClr val="FFFFFF"/>
                          </a:solidFill>
                          <a:effectLst/>
                          <a:latin typeface="Helvetica"/>
                        </a:rPr>
                        <a:t> &lt; .0001</a:t>
                      </a:r>
                      <a:endParaRPr lang="en-US" sz="1700" b="0" i="1" u="none" strike="noStrike" dirty="0">
                        <a:solidFill>
                          <a:srgbClr val="FFFFFF"/>
                        </a:solidFill>
                        <a:effectLst/>
                        <a:latin typeface="Helvetica"/>
                      </a:endParaRP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dirty="0">
                          <a:solidFill>
                            <a:srgbClr val="000000"/>
                          </a:solidFill>
                          <a:effectLst/>
                          <a:latin typeface="Helvetics"/>
                        </a:rPr>
                        <a:t>Ideal Observer - 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0" u="none" strike="noStrike" dirty="0">
                          <a:solidFill>
                            <a:srgbClr val="FFFFFF"/>
                          </a:solidFill>
                          <a:effectLst/>
                          <a:latin typeface="Helvetica"/>
                        </a:rPr>
                        <a:t>2</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0" u="none" strike="noStrike" dirty="0">
                          <a:solidFill>
                            <a:srgbClr val="FFFFFF"/>
                          </a:solidFill>
                          <a:effectLst/>
                          <a:latin typeface="Helvetica"/>
                        </a:rPr>
                        <a:t>14.907</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0" u="none" strike="noStrike" dirty="0">
                          <a:solidFill>
                            <a:srgbClr val="FFFFFF"/>
                          </a:solidFill>
                          <a:effectLst/>
                          <a:latin typeface="Helvetica"/>
                        </a:rPr>
                        <a:t>7.454</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0" u="none" strike="noStrike" dirty="0">
                          <a:solidFill>
                            <a:srgbClr val="FFFFFF"/>
                          </a:solidFill>
                          <a:effectLst/>
                          <a:latin typeface="Helvetica"/>
                        </a:rPr>
                        <a:t>8.854</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dirty="0">
                          <a:solidFill>
                            <a:srgbClr val="FFFFFF"/>
                          </a:solidFill>
                          <a:effectLst/>
                          <a:latin typeface="Helvetica"/>
                        </a:rPr>
                        <a:t>p</a:t>
                      </a:r>
                      <a:r>
                        <a:rPr lang="en-US" sz="1700" b="1" i="0" u="none" strike="noStrike" dirty="0">
                          <a:solidFill>
                            <a:srgbClr val="FFFFFF"/>
                          </a:solidFill>
                          <a:effectLst/>
                          <a:latin typeface="Helvetica"/>
                        </a:rPr>
                        <a:t> = .0002</a:t>
                      </a:r>
                      <a:endParaRPr lang="en-US" sz="1700" b="1" i="1" u="none" strike="noStrike" dirty="0">
                        <a:solidFill>
                          <a:srgbClr val="FFFFFF"/>
                        </a:solidFill>
                        <a:effectLst/>
                        <a:latin typeface="Helvetica"/>
                      </a:endParaRP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1" i="0" u="none" strike="noStrike" dirty="0">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Error (Ideal Observer)</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1187</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999.255</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0.842</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Total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1191</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1171.621</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dirty="0">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r>
            </a:tbl>
          </a:graphicData>
        </a:graphic>
      </p:graphicFrame>
    </p:spTree>
    <p:extLst>
      <p:ext uri="{BB962C8B-B14F-4D97-AF65-F5344CB8AC3E}">
        <p14:creationId xmlns:p14="http://schemas.microsoft.com/office/powerpoint/2010/main" val="4262435844"/>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Ideal Observer Model</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7693" y="1916832"/>
            <a:ext cx="3502994" cy="3085971"/>
          </a:xfrm>
          <a:prstGeom prst="rect">
            <a:avLst/>
          </a:prstGeom>
        </p:spPr>
      </p:pic>
      <p:sp>
        <p:nvSpPr>
          <p:cNvPr id="9" name="TextBox 8"/>
          <p:cNvSpPr txBox="1"/>
          <p:nvPr/>
        </p:nvSpPr>
        <p:spPr>
          <a:xfrm>
            <a:off x="467544" y="5733256"/>
            <a:ext cx="3384376" cy="338554"/>
          </a:xfrm>
          <a:prstGeom prst="rect">
            <a:avLst/>
          </a:prstGeom>
          <a:noFill/>
          <a:ln>
            <a:solidFill>
              <a:schemeClr val="bg1">
                <a:lumMod val="50000"/>
              </a:schemeClr>
            </a:solidFill>
          </a:ln>
        </p:spPr>
        <p:txBody>
          <a:bodyPr wrap="square" rtlCol="0">
            <a:spAutoFit/>
          </a:bodyPr>
          <a:lstStyle/>
          <a:p>
            <a:pPr algn="ctr"/>
            <a:r>
              <a:rPr lang="en-US" sz="1600" dirty="0" smtClean="0">
                <a:solidFill>
                  <a:schemeClr val="bg1"/>
                </a:solidFill>
                <a:latin typeface="Helvetica" pitchFamily="34" charset="0"/>
                <a:cs typeface="Helvetica" pitchFamily="34" charset="0"/>
              </a:rPr>
              <a:t>F</a:t>
            </a:r>
            <a:r>
              <a:rPr lang="en-CA" sz="1600" dirty="0" err="1" smtClean="0">
                <a:solidFill>
                  <a:schemeClr val="bg1"/>
                </a:solidFill>
                <a:latin typeface="Helvetica" pitchFamily="34" charset="0"/>
                <a:cs typeface="Helvetica" pitchFamily="34" charset="0"/>
              </a:rPr>
              <a:t>igure</a:t>
            </a:r>
            <a:r>
              <a:rPr lang="en-CA" sz="1600" dirty="0" smtClean="0">
                <a:solidFill>
                  <a:schemeClr val="bg1"/>
                </a:solidFill>
                <a:latin typeface="Helvetica" pitchFamily="34" charset="0"/>
                <a:cs typeface="Helvetica" pitchFamily="34" charset="0"/>
              </a:rPr>
              <a:t> courtesy Mars et al., 2008.</a:t>
            </a:r>
            <a:endParaRPr lang="en-CA" sz="16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2214773292"/>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Ideal Observer Model</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Screen shot 2011-12-05 at 10.35.00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3" y="1700808"/>
            <a:ext cx="8183935" cy="4032448"/>
          </a:xfrm>
          <a:prstGeom prst="rect">
            <a:avLst/>
          </a:prstGeom>
        </p:spPr>
      </p:pic>
    </p:spTree>
    <p:extLst>
      <p:ext uri="{BB962C8B-B14F-4D97-AF65-F5344CB8AC3E}">
        <p14:creationId xmlns:p14="http://schemas.microsoft.com/office/powerpoint/2010/main" val="4096316817"/>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Ideal Observer Model</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9" name="Chart 8"/>
          <p:cNvGraphicFramePr>
            <a:graphicFrameLocks/>
          </p:cNvGraphicFramePr>
          <p:nvPr>
            <p:extLst>
              <p:ext uri="{D42A27DB-BD31-4B8C-83A1-F6EECF244321}">
                <p14:modId xmlns:p14="http://schemas.microsoft.com/office/powerpoint/2010/main" val="2212583883"/>
              </p:ext>
            </p:extLst>
          </p:nvPr>
        </p:nvGraphicFramePr>
        <p:xfrm>
          <a:off x="444500" y="1298575"/>
          <a:ext cx="8255000" cy="42608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10279587"/>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Questions: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Explaining MEP variation: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participants “ideal”, or fast forgetters?</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1371600" lvl="2"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2538172929"/>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Questions:</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CA" sz="2800" dirty="0" smtClean="0">
                <a:solidFill>
                  <a:schemeClr val="bg1"/>
                </a:solidFill>
                <a:latin typeface="Helvetica" pitchFamily="34" charset="0"/>
                <a:cs typeface="Helvetica" pitchFamily="34" charset="0"/>
              </a:rPr>
              <a:t>Explaining MEP variation: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CA" sz="10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participants “ideal”, or fast forgetters?</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1371600" lvl="2"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Picture 6" descr="Screen shot 2011-12-05 at 7.37.4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3212976"/>
            <a:ext cx="2997200" cy="1155700"/>
          </a:xfrm>
          <a:prstGeom prst="rect">
            <a:avLst/>
          </a:prstGeom>
        </p:spPr>
      </p:pic>
      <p:cxnSp>
        <p:nvCxnSpPr>
          <p:cNvPr id="9" name="Straight Arrow Connector 8"/>
          <p:cNvCxnSpPr/>
          <p:nvPr/>
        </p:nvCxnSpPr>
        <p:spPr>
          <a:xfrm flipV="1">
            <a:off x="4499992" y="4149080"/>
            <a:ext cx="0" cy="864096"/>
          </a:xfrm>
          <a:prstGeom prst="straightConnector1">
            <a:avLst/>
          </a:prstGeom>
          <a:ln w="508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99792" y="5013176"/>
            <a:ext cx="3384376" cy="400110"/>
          </a:xfrm>
          <a:prstGeom prst="rect">
            <a:avLst/>
          </a:prstGeom>
          <a:noFill/>
          <a:ln>
            <a:solidFill>
              <a:schemeClr val="bg1">
                <a:lumMod val="50000"/>
              </a:schemeClr>
            </a:solidFill>
          </a:ln>
        </p:spPr>
        <p:txBody>
          <a:bodyPr wrap="square" rtlCol="0">
            <a:spAutoFit/>
          </a:bodyPr>
          <a:lstStyle/>
          <a:p>
            <a:pPr algn="ctr"/>
            <a:r>
              <a:rPr lang="en-CA" sz="2000" dirty="0" smtClean="0">
                <a:solidFill>
                  <a:schemeClr val="bg1"/>
                </a:solidFill>
                <a:latin typeface="Helvetica" pitchFamily="34" charset="0"/>
                <a:cs typeface="Helvetica" pitchFamily="34" charset="0"/>
              </a:rPr>
              <a:t>N = n</a:t>
            </a:r>
            <a:r>
              <a:rPr lang="en-CA" sz="2000" baseline="30000" dirty="0" smtClean="0">
                <a:solidFill>
                  <a:schemeClr val="bg1"/>
                </a:solidFill>
                <a:latin typeface="Helvetica" pitchFamily="34" charset="0"/>
                <a:cs typeface="Helvetica" pitchFamily="34" charset="0"/>
              </a:rPr>
              <a:t>i-1</a:t>
            </a:r>
            <a:r>
              <a:rPr lang="en-CA" sz="2000" dirty="0" smtClean="0">
                <a:solidFill>
                  <a:schemeClr val="bg1"/>
                </a:solidFill>
                <a:latin typeface="Helvetica" pitchFamily="34" charset="0"/>
                <a:cs typeface="Helvetica" pitchFamily="34" charset="0"/>
              </a:rPr>
              <a:t> -&gt; n</a:t>
            </a:r>
            <a:r>
              <a:rPr lang="en-CA" sz="2000" baseline="30000" dirty="0" smtClean="0">
                <a:solidFill>
                  <a:schemeClr val="bg1"/>
                </a:solidFill>
                <a:latin typeface="Helvetica" pitchFamily="34" charset="0"/>
                <a:cs typeface="Helvetica" pitchFamily="34" charset="0"/>
              </a:rPr>
              <a:t>i-4</a:t>
            </a:r>
            <a:endParaRPr lang="en-CA" sz="2000" baseline="300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3012445489"/>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10" name="TextBox 9"/>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11" name="TextBox 10"/>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5" name="Oval 14"/>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22" name="TextBox 21"/>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23" name="TextBox 22"/>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pic>
        <p:nvPicPr>
          <p:cNvPr id="24" name="Picture 23" descr="Screen shot 2011-12-05 at 7.38.1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5661248"/>
            <a:ext cx="4152900" cy="584200"/>
          </a:xfrm>
          <a:prstGeom prst="rect">
            <a:avLst/>
          </a:prstGeom>
        </p:spPr>
      </p:pic>
    </p:spTree>
    <p:extLst>
      <p:ext uri="{BB962C8B-B14F-4D97-AF65-F5344CB8AC3E}">
        <p14:creationId xmlns:p14="http://schemas.microsoft.com/office/powerpoint/2010/main" val="18330653"/>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10" name="TextBox 9"/>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11" name="TextBox 10"/>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cxnSp>
        <p:nvCxnSpPr>
          <p:cNvPr id="12" name="Straight Connector 11"/>
          <p:cNvCxnSpPr/>
          <p:nvPr/>
        </p:nvCxnSpPr>
        <p:spPr>
          <a:xfrm>
            <a:off x="2627784" y="2996952"/>
            <a:ext cx="4032448" cy="0"/>
          </a:xfrm>
          <a:prstGeom prst="line">
            <a:avLst/>
          </a:prstGeom>
          <a:ln w="63500">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13" name="Right Brace 12"/>
          <p:cNvSpPr/>
          <p:nvPr/>
        </p:nvSpPr>
        <p:spPr>
          <a:xfrm>
            <a:off x="7092280" y="1268760"/>
            <a:ext cx="576064" cy="3271232"/>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5763040"/>
            <a:ext cx="6286500" cy="486531"/>
          </a:xfrm>
          <a:prstGeom prst="rect">
            <a:avLst/>
          </a:prstGeom>
        </p:spPr>
      </p:pic>
      <p:sp>
        <p:nvSpPr>
          <p:cNvPr id="15" name="Oval 14"/>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20" name="TextBox 19"/>
          <p:cNvSpPr txBox="1"/>
          <p:nvPr/>
        </p:nvSpPr>
        <p:spPr>
          <a:xfrm>
            <a:off x="3203848" y="1916832"/>
            <a:ext cx="1080120" cy="882292"/>
          </a:xfrm>
          <a:prstGeom prst="rect">
            <a:avLst/>
          </a:prstGeom>
          <a:noFill/>
        </p:spPr>
        <p:txBody>
          <a:bodyPr wrap="square" rtlCol="0">
            <a:spAutoFit/>
          </a:bodyPr>
          <a:lstStyle/>
          <a:p>
            <a:r>
              <a:rPr lang="en-US" sz="2200" b="1" dirty="0" smtClean="0">
                <a:solidFill>
                  <a:schemeClr val="bg1"/>
                </a:solidFill>
              </a:rPr>
              <a:t>x</a:t>
            </a:r>
            <a:r>
              <a:rPr lang="en-US" sz="2200" b="1" baseline="-25000" dirty="0">
                <a:solidFill>
                  <a:schemeClr val="bg1"/>
                </a:solidFill>
              </a:rPr>
              <a:t>5</a:t>
            </a:r>
            <a:r>
              <a:rPr lang="en-US" sz="2200" b="1" baseline="-25000" dirty="0" smtClean="0">
                <a:solidFill>
                  <a:schemeClr val="bg1"/>
                </a:solidFill>
              </a:rPr>
              <a:t> (Max forgetting surprise)</a:t>
            </a:r>
            <a:endParaRPr lang="en-US" sz="2200" b="1" baseline="-25000" dirty="0">
              <a:solidFill>
                <a:schemeClr val="bg1"/>
              </a:solidFill>
            </a:endParaRPr>
          </a:p>
        </p:txBody>
      </p:sp>
      <p:sp>
        <p:nvSpPr>
          <p:cNvPr id="21" name="TextBox 20"/>
          <p:cNvSpPr txBox="1"/>
          <p:nvPr/>
        </p:nvSpPr>
        <p:spPr>
          <a:xfrm>
            <a:off x="4860032" y="1916832"/>
            <a:ext cx="1008112" cy="882292"/>
          </a:xfrm>
          <a:prstGeom prst="rect">
            <a:avLst/>
          </a:prstGeom>
          <a:noFill/>
        </p:spPr>
        <p:txBody>
          <a:bodyPr wrap="square" rtlCol="0">
            <a:spAutoFit/>
          </a:bodyPr>
          <a:lstStyle/>
          <a:p>
            <a:r>
              <a:rPr lang="en-US" sz="2200" b="1" dirty="0" smtClean="0">
                <a:solidFill>
                  <a:schemeClr val="bg1"/>
                </a:solidFill>
              </a:rPr>
              <a:t>x</a:t>
            </a:r>
            <a:r>
              <a:rPr lang="en-US" sz="2200" b="1" baseline="-25000" dirty="0">
                <a:solidFill>
                  <a:schemeClr val="bg1"/>
                </a:solidFill>
              </a:rPr>
              <a:t>6</a:t>
            </a:r>
            <a:r>
              <a:rPr lang="en-US" sz="2200" b="1" baseline="-25000" dirty="0" smtClean="0">
                <a:solidFill>
                  <a:schemeClr val="bg1"/>
                </a:solidFill>
              </a:rPr>
              <a:t> (Max forgetting entropy)</a:t>
            </a:r>
            <a:endParaRPr lang="en-US" sz="2200" b="1" baseline="-25000" dirty="0">
              <a:solidFill>
                <a:schemeClr val="bg1"/>
              </a:solidFill>
            </a:endParaRPr>
          </a:p>
        </p:txBody>
      </p:sp>
      <p:sp>
        <p:nvSpPr>
          <p:cNvPr id="22" name="TextBox 21"/>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23" name="TextBox 22"/>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spTree>
    <p:extLst>
      <p:ext uri="{BB962C8B-B14F-4D97-AF65-F5344CB8AC3E}">
        <p14:creationId xmlns:p14="http://schemas.microsoft.com/office/powerpoint/2010/main" val="3841889683"/>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10" name="TextBox 9"/>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11" name="TextBox 10"/>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cxnSp>
        <p:nvCxnSpPr>
          <p:cNvPr id="12" name="Straight Connector 11"/>
          <p:cNvCxnSpPr/>
          <p:nvPr/>
        </p:nvCxnSpPr>
        <p:spPr>
          <a:xfrm>
            <a:off x="2627784" y="2996952"/>
            <a:ext cx="4032448" cy="0"/>
          </a:xfrm>
          <a:prstGeom prst="line">
            <a:avLst/>
          </a:prstGeom>
          <a:ln w="63500">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13" name="Right Brace 12"/>
          <p:cNvSpPr/>
          <p:nvPr/>
        </p:nvSpPr>
        <p:spPr>
          <a:xfrm>
            <a:off x="7092280" y="1268760"/>
            <a:ext cx="576064" cy="3271232"/>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5763040"/>
            <a:ext cx="6286500" cy="486531"/>
          </a:xfrm>
          <a:prstGeom prst="rect">
            <a:avLst/>
          </a:prstGeom>
        </p:spPr>
      </p:pic>
      <p:sp>
        <p:nvSpPr>
          <p:cNvPr id="15" name="Oval 14"/>
          <p:cNvSpPr/>
          <p:nvPr/>
        </p:nvSpPr>
        <p:spPr>
          <a:xfrm>
            <a:off x="2555776" y="1196752"/>
            <a:ext cx="4248472" cy="4392488"/>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p:cNvCxnSpPr/>
          <p:nvPr/>
        </p:nvCxnSpPr>
        <p:spPr>
          <a:xfrm>
            <a:off x="2843808" y="4509120"/>
            <a:ext cx="360040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63888" y="4725144"/>
            <a:ext cx="2160240" cy="430887"/>
          </a:xfrm>
          <a:prstGeom prst="rect">
            <a:avLst/>
          </a:prstGeom>
          <a:noFill/>
        </p:spPr>
        <p:txBody>
          <a:bodyPr wrap="square" rtlCol="0">
            <a:spAutoFit/>
          </a:bodyPr>
          <a:lstStyle/>
          <a:p>
            <a:r>
              <a:rPr lang="en-US" sz="2200" b="1" dirty="0" smtClean="0">
                <a:solidFill>
                  <a:schemeClr val="bg1"/>
                </a:solidFill>
              </a:rPr>
              <a:t>Error Variance</a:t>
            </a:r>
            <a:endParaRPr lang="en-US" sz="2200" b="1" dirty="0">
              <a:solidFill>
                <a:schemeClr val="bg1"/>
              </a:solidFill>
            </a:endParaRPr>
          </a:p>
        </p:txBody>
      </p:sp>
      <p:sp>
        <p:nvSpPr>
          <p:cNvPr id="18" name="Right Brace 17"/>
          <p:cNvSpPr/>
          <p:nvPr/>
        </p:nvSpPr>
        <p:spPr>
          <a:xfrm rot="10800000">
            <a:off x="1619672" y="1340768"/>
            <a:ext cx="576064" cy="1656184"/>
          </a:xfrm>
          <a:prstGeom prst="rightBrac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9" name="Oval 18"/>
          <p:cNvSpPr/>
          <p:nvPr/>
        </p:nvSpPr>
        <p:spPr>
          <a:xfrm>
            <a:off x="5868144" y="5589240"/>
            <a:ext cx="2376264" cy="864096"/>
          </a:xfrm>
          <a:prstGeom prst="ellipse">
            <a:avLst/>
          </a:prstGeom>
          <a:noFill/>
          <a:ln w="508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3275856" y="3140968"/>
            <a:ext cx="1224136"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1 (participant)</a:t>
            </a:r>
            <a:endParaRPr lang="en-US" sz="2200" b="1" baseline="-25000" dirty="0">
              <a:solidFill>
                <a:schemeClr val="bg1"/>
              </a:solidFill>
            </a:endParaRPr>
          </a:p>
        </p:txBody>
      </p:sp>
      <p:sp>
        <p:nvSpPr>
          <p:cNvPr id="23" name="TextBox 22"/>
          <p:cNvSpPr txBox="1"/>
          <p:nvPr/>
        </p:nvSpPr>
        <p:spPr>
          <a:xfrm>
            <a:off x="5076056" y="3501008"/>
            <a:ext cx="1080120" cy="656590"/>
          </a:xfrm>
          <a:prstGeom prst="rect">
            <a:avLst/>
          </a:prstGeom>
          <a:noFill/>
        </p:spPr>
        <p:txBody>
          <a:bodyPr wrap="square" rtlCol="0">
            <a:spAutoFit/>
          </a:bodyPr>
          <a:lstStyle/>
          <a:p>
            <a:r>
              <a:rPr lang="en-US" sz="2200" b="1" dirty="0">
                <a:solidFill>
                  <a:schemeClr val="bg1"/>
                </a:solidFill>
              </a:rPr>
              <a:t>x</a:t>
            </a:r>
            <a:r>
              <a:rPr lang="en-US" sz="2200" b="1" baseline="-25000" dirty="0" smtClean="0">
                <a:solidFill>
                  <a:schemeClr val="bg1"/>
                </a:solidFill>
              </a:rPr>
              <a:t>2 (condition)</a:t>
            </a:r>
            <a:endParaRPr lang="en-US" sz="2200" b="1" baseline="-25000" dirty="0">
              <a:solidFill>
                <a:schemeClr val="bg1"/>
              </a:solidFill>
            </a:endParaRPr>
          </a:p>
        </p:txBody>
      </p:sp>
      <p:sp>
        <p:nvSpPr>
          <p:cNvPr id="24" name="TextBox 23"/>
          <p:cNvSpPr txBox="1"/>
          <p:nvPr/>
        </p:nvSpPr>
        <p:spPr>
          <a:xfrm>
            <a:off x="3203848" y="1916832"/>
            <a:ext cx="1080120" cy="882292"/>
          </a:xfrm>
          <a:prstGeom prst="rect">
            <a:avLst/>
          </a:prstGeom>
          <a:noFill/>
        </p:spPr>
        <p:txBody>
          <a:bodyPr wrap="square" rtlCol="0">
            <a:spAutoFit/>
          </a:bodyPr>
          <a:lstStyle/>
          <a:p>
            <a:r>
              <a:rPr lang="en-US" sz="2200" b="1" dirty="0" smtClean="0">
                <a:solidFill>
                  <a:schemeClr val="bg1"/>
                </a:solidFill>
              </a:rPr>
              <a:t>x</a:t>
            </a:r>
            <a:r>
              <a:rPr lang="en-US" sz="2200" b="1" baseline="-25000" dirty="0">
                <a:solidFill>
                  <a:schemeClr val="bg1"/>
                </a:solidFill>
              </a:rPr>
              <a:t>5</a:t>
            </a:r>
            <a:r>
              <a:rPr lang="en-US" sz="2200" b="1" baseline="-25000" dirty="0" smtClean="0">
                <a:solidFill>
                  <a:schemeClr val="bg1"/>
                </a:solidFill>
              </a:rPr>
              <a:t> (Max forgetting surprise)</a:t>
            </a:r>
            <a:endParaRPr lang="en-US" sz="2200" b="1" baseline="-25000" dirty="0">
              <a:solidFill>
                <a:schemeClr val="bg1"/>
              </a:solidFill>
            </a:endParaRPr>
          </a:p>
        </p:txBody>
      </p:sp>
      <p:sp>
        <p:nvSpPr>
          <p:cNvPr id="25" name="TextBox 24"/>
          <p:cNvSpPr txBox="1"/>
          <p:nvPr/>
        </p:nvSpPr>
        <p:spPr>
          <a:xfrm>
            <a:off x="4860032" y="1916832"/>
            <a:ext cx="1008112" cy="882292"/>
          </a:xfrm>
          <a:prstGeom prst="rect">
            <a:avLst/>
          </a:prstGeom>
          <a:noFill/>
        </p:spPr>
        <p:txBody>
          <a:bodyPr wrap="square" rtlCol="0">
            <a:spAutoFit/>
          </a:bodyPr>
          <a:lstStyle/>
          <a:p>
            <a:r>
              <a:rPr lang="en-US" sz="2200" b="1" dirty="0" smtClean="0">
                <a:solidFill>
                  <a:schemeClr val="bg1"/>
                </a:solidFill>
              </a:rPr>
              <a:t>x</a:t>
            </a:r>
            <a:r>
              <a:rPr lang="en-US" sz="2200" b="1" baseline="-25000" dirty="0">
                <a:solidFill>
                  <a:schemeClr val="bg1"/>
                </a:solidFill>
              </a:rPr>
              <a:t>6</a:t>
            </a:r>
            <a:r>
              <a:rPr lang="en-US" sz="2200" b="1" baseline="-25000" dirty="0" smtClean="0">
                <a:solidFill>
                  <a:schemeClr val="bg1"/>
                </a:solidFill>
              </a:rPr>
              <a:t> (Max forgetting entropy)</a:t>
            </a:r>
            <a:endParaRPr lang="en-US" sz="2200" b="1" baseline="-25000" dirty="0">
              <a:solidFill>
                <a:schemeClr val="bg1"/>
              </a:solidFill>
            </a:endParaRPr>
          </a:p>
        </p:txBody>
      </p:sp>
    </p:spTree>
    <p:extLst>
      <p:ext uri="{BB962C8B-B14F-4D97-AF65-F5344CB8AC3E}">
        <p14:creationId xmlns:p14="http://schemas.microsoft.com/office/powerpoint/2010/main" val="2281514104"/>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Nested Model Comparison</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049770327"/>
              </p:ext>
            </p:extLst>
          </p:nvPr>
        </p:nvGraphicFramePr>
        <p:xfrm>
          <a:off x="1031606" y="1600201"/>
          <a:ext cx="7080787" cy="4525960"/>
        </p:xfrm>
        <a:graphic>
          <a:graphicData uri="http://schemas.openxmlformats.org/drawingml/2006/table">
            <a:tbl>
              <a:tblPr/>
              <a:tblGrid>
                <a:gridCol w="107647"/>
                <a:gridCol w="1782158"/>
                <a:gridCol w="1016667"/>
                <a:gridCol w="1016667"/>
                <a:gridCol w="1016667"/>
                <a:gridCol w="1016667"/>
                <a:gridCol w="1016667"/>
                <a:gridCol w="107647"/>
              </a:tblGrid>
              <a:tr h="418628">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c gridSpan="6">
                  <a:txBody>
                    <a:bodyPr/>
                    <a:lstStyle/>
                    <a:p>
                      <a:pPr algn="ctr" fontAlgn="ctr"/>
                      <a:r>
                        <a:rPr lang="it-IT" sz="2400" b="1" i="0" u="sng" strike="noStrike">
                          <a:solidFill>
                            <a:srgbClr val="FFFFFF"/>
                          </a:solidFill>
                          <a:effectLst/>
                          <a:latin typeface="Helvetica"/>
                        </a:rPr>
                        <a:t>Original Model vs. Maximal Forgetting Model</a:t>
                      </a:r>
                    </a:p>
                  </a:txBody>
                  <a:tcPr marL="11961" marR="11961" marT="1196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46863">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gridSpan="6">
                  <a:txBody>
                    <a:bodyPr/>
                    <a:lstStyle/>
                    <a:p>
                      <a:pPr algn="ctr" fontAlgn="b"/>
                      <a:r>
                        <a:rPr lang="en-US" sz="2100" b="1" i="1" u="none" strike="noStrike">
                          <a:solidFill>
                            <a:srgbClr val="FFFFFF"/>
                          </a:solidFill>
                          <a:effectLst/>
                          <a:latin typeface="Helvetica"/>
                        </a:rPr>
                        <a:t>ANOVA</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fr-FR" sz="1700" b="1" i="1" u="none" strike="noStrike">
                          <a:solidFill>
                            <a:srgbClr val="000000"/>
                          </a:solidFill>
                          <a:effectLst/>
                          <a:latin typeface="Helvetica"/>
                        </a:rPr>
                        <a:t>Source</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da-DK" sz="1700" b="1" i="1" u="none" strike="noStrike">
                          <a:solidFill>
                            <a:srgbClr val="000000"/>
                          </a:solidFill>
                          <a:effectLst/>
                          <a:latin typeface="Helvetica"/>
                        </a:rPr>
                        <a:t>df</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Sum of Squares</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de-DE" sz="1700" b="1" i="1" u="none" strike="noStrike">
                          <a:solidFill>
                            <a:srgbClr val="000000"/>
                          </a:solidFill>
                          <a:effectLst/>
                          <a:latin typeface="Helvetica"/>
                        </a:rPr>
                        <a:t>Mean Square</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F</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Sig.</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dirty="0">
                          <a:solidFill>
                            <a:srgbClr val="000000"/>
                          </a:solidFill>
                          <a:effectLst/>
                          <a:latin typeface="Helvetics"/>
                        </a:rPr>
                        <a:t>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2</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157.459</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78.730</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93.522</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1" u="none" strike="noStrike" dirty="0">
                          <a:solidFill>
                            <a:srgbClr val="FFFFFF"/>
                          </a:solidFill>
                          <a:effectLst/>
                          <a:latin typeface="Helvetica"/>
                        </a:rPr>
                        <a:t>p &lt; .0001</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Forgetting - 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2</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7.586</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3.793</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4.473</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1" u="none" strike="noStrike">
                          <a:solidFill>
                            <a:srgbClr val="FFFFFF"/>
                          </a:solidFill>
                          <a:effectLst/>
                          <a:latin typeface="Helvetica"/>
                        </a:rPr>
                        <a:t>p</a:t>
                      </a:r>
                      <a:r>
                        <a:rPr lang="en-US" sz="1700" b="0" i="0" u="none" strike="noStrike">
                          <a:solidFill>
                            <a:srgbClr val="FFFFFF"/>
                          </a:solidFill>
                          <a:effectLst/>
                          <a:latin typeface="Helvetica"/>
                        </a:rPr>
                        <a:t> = .0116</a:t>
                      </a:r>
                      <a:endParaRPr lang="en-US" sz="1700" b="0" i="1" u="none" strike="noStrike">
                        <a:solidFill>
                          <a:srgbClr val="FFFFFF"/>
                        </a:solidFill>
                        <a:effectLst/>
                        <a:latin typeface="Helvetica"/>
                      </a:endParaRP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ro-RO" sz="1700" b="1" i="1" u="none" strike="noStrike">
                          <a:solidFill>
                            <a:srgbClr val="000000"/>
                          </a:solidFill>
                          <a:effectLst/>
                          <a:latin typeface="Helvetics"/>
                        </a:rPr>
                        <a:t>Error (Forgetful Observer)</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1187</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1006.576</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0.848</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Total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1191</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1171.621</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2400" b="1" i="0" u="sng" strike="noStrike" dirty="0">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dirty="0">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r>
            </a:tbl>
          </a:graphicData>
        </a:graphic>
      </p:graphicFrame>
    </p:spTree>
    <p:extLst>
      <p:ext uri="{BB962C8B-B14F-4D97-AF65-F5344CB8AC3E}">
        <p14:creationId xmlns:p14="http://schemas.microsoft.com/office/powerpoint/2010/main" val="2943891468"/>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Maximal Forgetting Model</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10" name="Chart 9"/>
          <p:cNvGraphicFramePr>
            <a:graphicFrameLocks/>
          </p:cNvGraphicFramePr>
          <p:nvPr>
            <p:extLst>
              <p:ext uri="{D42A27DB-BD31-4B8C-83A1-F6EECF244321}">
                <p14:modId xmlns:p14="http://schemas.microsoft.com/office/powerpoint/2010/main" val="4008907569"/>
              </p:ext>
            </p:extLst>
          </p:nvPr>
        </p:nvGraphicFramePr>
        <p:xfrm>
          <a:off x="467544" y="1268760"/>
          <a:ext cx="8280920" cy="5040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92663432"/>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Therefore: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a:t>
            </a:r>
            <a:endParaRPr lang="en-CA" sz="2200" dirty="0">
              <a:solidFill>
                <a:schemeClr val="bg1"/>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within-block variations in the MEP just “random noise”?</a:t>
            </a:r>
          </a:p>
          <a:p>
            <a:pPr marL="800100" lvl="1" indent="-342900">
              <a:spcBef>
                <a:spcPct val="20000"/>
              </a:spcBef>
              <a:buFont typeface="Arial" pitchFamily="34" charset="0"/>
              <a:buChar char="•"/>
              <a:defRPr/>
            </a:pPr>
            <a:endParaRPr lang="en-CA" sz="10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Trial-by-trial MEP variation can be modelled as a function of </a:t>
            </a:r>
            <a:r>
              <a:rPr lang="en-CA" sz="2800" dirty="0" smtClean="0">
                <a:solidFill>
                  <a:schemeClr val="bg1"/>
                </a:solidFill>
                <a:latin typeface="Helvetica" pitchFamily="34" charset="0"/>
                <a:cs typeface="Helvetica" pitchFamily="34" charset="0"/>
              </a:rPr>
              <a:t>surprise</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2279376434"/>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Therefore: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a:t>
            </a:r>
            <a:endParaRPr lang="en-CA" sz="2200" dirty="0">
              <a:solidFill>
                <a:schemeClr val="bg1"/>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within-block variations in the MEP just “random noise”?</a:t>
            </a:r>
          </a:p>
          <a:p>
            <a:pPr marL="800100" lvl="1" indent="-342900">
              <a:spcBef>
                <a:spcPct val="20000"/>
              </a:spcBef>
              <a:buFont typeface="Arial" pitchFamily="34" charset="0"/>
              <a:buChar char="•"/>
              <a:defRPr/>
            </a:pPr>
            <a:endParaRPr lang="en-CA" sz="10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Trial-by-trial MEP variation can be modelled as a function of </a:t>
            </a:r>
            <a:r>
              <a:rPr lang="en-CA" sz="2800" dirty="0" smtClean="0">
                <a:solidFill>
                  <a:schemeClr val="bg1"/>
                </a:solidFill>
                <a:latin typeface="Helvetica" pitchFamily="34" charset="0"/>
                <a:cs typeface="Helvetica" pitchFamily="34" charset="0"/>
              </a:rPr>
              <a:t>surprise</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r>
              <a:rPr lang="en-US" sz="2800" dirty="0" smtClean="0">
                <a:solidFill>
                  <a:schemeClr val="bg1"/>
                </a:solidFill>
                <a:latin typeface="Helvetica" pitchFamily="34" charset="0"/>
                <a:cs typeface="Helvetica" pitchFamily="34" charset="0"/>
              </a:rPr>
              <a:t>F</a:t>
            </a:r>
            <a:r>
              <a:rPr lang="en-CA" sz="2800" dirty="0" err="1" smtClean="0">
                <a:solidFill>
                  <a:schemeClr val="bg1"/>
                </a:solidFill>
                <a:latin typeface="Helvetica" pitchFamily="34" charset="0"/>
                <a:cs typeface="Helvetica" pitchFamily="34" charset="0"/>
              </a:rPr>
              <a:t>ormal</a:t>
            </a:r>
            <a:r>
              <a:rPr lang="en-CA" sz="2800" dirty="0" smtClean="0">
                <a:solidFill>
                  <a:schemeClr val="bg1"/>
                </a:solidFill>
                <a:latin typeface="Helvetica" pitchFamily="34" charset="0"/>
                <a:cs typeface="Helvetica" pitchFamily="34" charset="0"/>
              </a:rPr>
              <a:t> quantification of surprise provides a viable target for future exploration of the Motor-Evoked Potential</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312717734"/>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Therefore: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a:t>
            </a:r>
            <a:endParaRPr lang="en-CA" sz="2200" dirty="0">
              <a:solidFill>
                <a:schemeClr val="bg1"/>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Are participants “ideal observers”?</a:t>
            </a:r>
            <a:endParaRPr lang="en-CA" sz="2800" dirty="0">
              <a:solidFill>
                <a:schemeClr val="bg1"/>
              </a:solidFill>
              <a:latin typeface="Helvetica" pitchFamily="34" charset="0"/>
              <a:cs typeface="Helvetica" pitchFamily="34" charset="0"/>
            </a:endParaRPr>
          </a:p>
          <a:p>
            <a:pPr lvl="2">
              <a:spcBef>
                <a:spcPct val="20000"/>
              </a:spcBef>
              <a:defRPr/>
            </a:pPr>
            <a:endParaRPr lang="en-CA" sz="10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CA" sz="2800" dirty="0">
                <a:solidFill>
                  <a:schemeClr val="bg1"/>
                </a:solidFill>
                <a:latin typeface="Helvetica" pitchFamily="34" charset="0"/>
                <a:cs typeface="Helvetica" pitchFamily="34" charset="0"/>
              </a:rPr>
              <a:t>The ideal observer model accommodated MEP variation better than maximal forgetting</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Tree>
    <p:extLst>
      <p:ext uri="{BB962C8B-B14F-4D97-AF65-F5344CB8AC3E}">
        <p14:creationId xmlns:p14="http://schemas.microsoft.com/office/powerpoint/2010/main" val="4067537137"/>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Problem:</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TMS </a:t>
            </a:r>
            <a:r>
              <a:rPr lang="en-CA" sz="2800" i="1" dirty="0" err="1" smtClean="0">
                <a:solidFill>
                  <a:schemeClr val="bg1"/>
                </a:solidFill>
                <a:latin typeface="Helvetica" pitchFamily="34" charset="0"/>
                <a:cs typeface="Helvetica" pitchFamily="34" charset="0"/>
              </a:rPr>
              <a:t>vs</a:t>
            </a:r>
            <a:r>
              <a:rPr lang="en-CA" sz="2800" dirty="0" smtClean="0">
                <a:solidFill>
                  <a:schemeClr val="bg1"/>
                </a:solidFill>
                <a:latin typeface="Helvetica" pitchFamily="34" charset="0"/>
                <a:cs typeface="Helvetica" pitchFamily="34" charset="0"/>
              </a:rPr>
              <a:t> non-TMS trials was not the only possible probability for participants to learn…</a:t>
            </a:r>
            <a:endParaRPr lang="en-CA" sz="2800" dirty="0">
              <a:solidFill>
                <a:schemeClr val="bg1"/>
              </a:solidFill>
              <a:latin typeface="Helvetica" pitchFamily="34" charset="0"/>
              <a:cs typeface="Helvetica" pitchFamily="34" charset="0"/>
            </a:endParaRPr>
          </a:p>
          <a:p>
            <a:pPr lvl="2">
              <a:spcBef>
                <a:spcPct val="20000"/>
              </a:spcBef>
              <a:defRPr/>
            </a:pPr>
            <a:endParaRPr lang="en-CA" sz="10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7" name="Human_7_1.mov">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843808" y="2636912"/>
            <a:ext cx="3125328" cy="3431349"/>
          </a:xfrm>
          <a:prstGeom prst="rect">
            <a:avLst/>
          </a:prstGeom>
        </p:spPr>
      </p:pic>
    </p:spTree>
    <p:extLst>
      <p:ext uri="{BB962C8B-B14F-4D97-AF65-F5344CB8AC3E}">
        <p14:creationId xmlns:p14="http://schemas.microsoft.com/office/powerpoint/2010/main" val="2591865498"/>
      </p:ext>
    </p:extLst>
  </p:cSld>
  <p:clrMapOvr>
    <a:masterClrMapping/>
  </p:clrMapOvr>
  <p:timing>
    <p:tnLst>
      <p:par>
        <p:cTn xmlns:p14="http://schemas.microsoft.com/office/powerpoint/2010/mai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Quantifying Information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TMS onset asynchrony (SOA) was distributed in the following manner:</a:t>
            </a:r>
            <a:endParaRPr lang="en-CA" sz="10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9" name="Chart 8"/>
          <p:cNvGraphicFramePr>
            <a:graphicFrameLocks/>
          </p:cNvGraphicFramePr>
          <p:nvPr>
            <p:extLst>
              <p:ext uri="{D42A27DB-BD31-4B8C-83A1-F6EECF244321}">
                <p14:modId xmlns:p14="http://schemas.microsoft.com/office/powerpoint/2010/main" val="3649820055"/>
              </p:ext>
            </p:extLst>
          </p:nvPr>
        </p:nvGraphicFramePr>
        <p:xfrm>
          <a:off x="2267744" y="2708920"/>
          <a:ext cx="4795118" cy="35283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98466153"/>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2" name="TextBox 11"/>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
        <p:nvSpPr>
          <p:cNvPr id="13"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b="1" dirty="0" smtClean="0">
                <a:solidFill>
                  <a:schemeClr val="bg1"/>
                </a:solidFill>
                <a:latin typeface="Helvetica" pitchFamily="34" charset="0"/>
                <a:cs typeface="Helvetica" pitchFamily="34" charset="0"/>
              </a:rPr>
              <a:t>K</a:t>
            </a:r>
            <a:r>
              <a:rPr lang="en-CA" sz="2800" dirty="0" smtClean="0">
                <a:solidFill>
                  <a:schemeClr val="bg1"/>
                </a:solidFill>
                <a:latin typeface="Helvetica" pitchFamily="34" charset="0"/>
                <a:cs typeface="Helvetica" pitchFamily="34" charset="0"/>
              </a:rPr>
              <a:t> as a vector of size </a:t>
            </a:r>
            <a:r>
              <a:rPr lang="en-CA" sz="2800" i="1" dirty="0" smtClean="0">
                <a:solidFill>
                  <a:schemeClr val="bg1"/>
                </a:solidFill>
                <a:latin typeface="Helvetica" pitchFamily="34" charset="0"/>
                <a:cs typeface="Helvetica" pitchFamily="34" charset="0"/>
              </a:rPr>
              <a:t>k</a:t>
            </a:r>
            <a:r>
              <a:rPr lang="en-CA" sz="2800" b="1" dirty="0" smtClean="0">
                <a:solidFill>
                  <a:schemeClr val="bg1"/>
                </a:solidFill>
                <a:latin typeface="Helvetica" pitchFamily="34" charset="0"/>
                <a:cs typeface="Helvetica" pitchFamily="34" charset="0"/>
              </a:rPr>
              <a:t> x </a:t>
            </a:r>
            <a:r>
              <a:rPr lang="en-CA" sz="2800" i="1" dirty="0" smtClean="0">
                <a:solidFill>
                  <a:schemeClr val="bg1"/>
                </a:solidFill>
                <a:latin typeface="Helvetica" pitchFamily="34" charset="0"/>
                <a:cs typeface="Helvetica" pitchFamily="34" charset="0"/>
              </a:rPr>
              <a:t>j</a:t>
            </a:r>
            <a:r>
              <a:rPr lang="en-CA" sz="2800" dirty="0" smtClean="0">
                <a:solidFill>
                  <a:schemeClr val="bg1"/>
                </a:solidFill>
                <a:latin typeface="Helvetica" pitchFamily="34" charset="0"/>
                <a:cs typeface="Helvetica" pitchFamily="34" charset="0"/>
              </a:rPr>
              <a:t>, where </a:t>
            </a:r>
          </a:p>
          <a:p>
            <a:pPr marL="800100" lvl="1" indent="-342900">
              <a:spcBef>
                <a:spcPct val="20000"/>
              </a:spcBef>
              <a:buFont typeface="Arial" pitchFamily="34" charset="0"/>
              <a:buChar char="•"/>
              <a:defRPr/>
            </a:pPr>
            <a:r>
              <a:rPr lang="en-CA" sz="2800" i="1" dirty="0" smtClean="0">
                <a:solidFill>
                  <a:schemeClr val="bg1"/>
                </a:solidFill>
                <a:latin typeface="Helvetica" pitchFamily="34" charset="0"/>
                <a:cs typeface="Helvetica" pitchFamily="34" charset="0"/>
              </a:rPr>
              <a:t>k</a:t>
            </a:r>
            <a:r>
              <a:rPr lang="en-CA" sz="2800" dirty="0" smtClean="0">
                <a:solidFill>
                  <a:schemeClr val="bg1"/>
                </a:solidFill>
                <a:latin typeface="Helvetica" pitchFamily="34" charset="0"/>
                <a:cs typeface="Helvetica" pitchFamily="34" charset="0"/>
              </a:rPr>
              <a:t> represents the levels of TMS </a:t>
            </a:r>
          </a:p>
          <a:p>
            <a:pPr marL="800100" lvl="1" indent="-342900">
              <a:spcBef>
                <a:spcPct val="20000"/>
              </a:spcBef>
              <a:buFont typeface="Arial" pitchFamily="34" charset="0"/>
              <a:buChar char="•"/>
              <a:defRPr/>
            </a:pPr>
            <a:r>
              <a:rPr lang="en-CA" sz="2800" i="1" dirty="0" smtClean="0">
                <a:solidFill>
                  <a:schemeClr val="bg1"/>
                </a:solidFill>
                <a:latin typeface="Helvetica" pitchFamily="34" charset="0"/>
                <a:cs typeface="Helvetica" pitchFamily="34" charset="0"/>
              </a:rPr>
              <a:t>j</a:t>
            </a:r>
            <a:r>
              <a:rPr lang="en-CA" sz="2800" dirty="0" smtClean="0">
                <a:solidFill>
                  <a:schemeClr val="bg1"/>
                </a:solidFill>
                <a:latin typeface="Helvetica" pitchFamily="34" charset="0"/>
                <a:cs typeface="Helvetica" pitchFamily="34" charset="0"/>
              </a:rPr>
              <a:t> represents the possible SOAs</a:t>
            </a:r>
            <a:r>
              <a:rPr lang="en-US" sz="2800" dirty="0" smtClean="0">
                <a:solidFill>
                  <a:schemeClr val="bg1"/>
                </a:solidFill>
                <a:latin typeface="Helvetica" pitchFamily="34" charset="0"/>
                <a:cs typeface="Helvetica" pitchFamily="34" charset="0"/>
              </a:rPr>
              <a:t>…</a:t>
            </a:r>
            <a:endParaRPr lang="en-CA" sz="1000" i="1"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14" name="Picture 13" descr="Screen shot 2011-12-05 at 7.38.39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3356992"/>
            <a:ext cx="4991100" cy="1193800"/>
          </a:xfrm>
          <a:prstGeom prst="rect">
            <a:avLst/>
          </a:prstGeom>
        </p:spPr>
      </p:pic>
    </p:spTree>
    <p:extLst>
      <p:ext uri="{BB962C8B-B14F-4D97-AF65-F5344CB8AC3E}">
        <p14:creationId xmlns:p14="http://schemas.microsoft.com/office/powerpoint/2010/main" val="1089070253"/>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2" name="TextBox 11"/>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
        <p:nvSpPr>
          <p:cNvPr id="13"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b="1" dirty="0">
                <a:solidFill>
                  <a:schemeClr val="bg1"/>
                </a:solidFill>
                <a:latin typeface="Helvetica" pitchFamily="34" charset="0"/>
                <a:cs typeface="Helvetica" pitchFamily="34" charset="0"/>
              </a:rPr>
              <a:t>K</a:t>
            </a:r>
            <a:r>
              <a:rPr lang="en-CA" sz="2800" dirty="0">
                <a:solidFill>
                  <a:schemeClr val="bg1"/>
                </a:solidFill>
                <a:latin typeface="Helvetica" pitchFamily="34" charset="0"/>
                <a:cs typeface="Helvetica" pitchFamily="34" charset="0"/>
              </a:rPr>
              <a:t> as a vector of size </a:t>
            </a:r>
            <a:r>
              <a:rPr lang="en-CA" sz="2800" i="1" dirty="0">
                <a:solidFill>
                  <a:schemeClr val="bg1"/>
                </a:solidFill>
                <a:latin typeface="Helvetica" pitchFamily="34" charset="0"/>
                <a:cs typeface="Helvetica" pitchFamily="34" charset="0"/>
              </a:rPr>
              <a:t>k</a:t>
            </a:r>
            <a:r>
              <a:rPr lang="en-CA" sz="2800" b="1" dirty="0">
                <a:solidFill>
                  <a:schemeClr val="bg1"/>
                </a:solidFill>
                <a:latin typeface="Helvetica" pitchFamily="34" charset="0"/>
                <a:cs typeface="Helvetica" pitchFamily="34" charset="0"/>
              </a:rPr>
              <a:t> x </a:t>
            </a:r>
            <a:r>
              <a:rPr lang="en-CA" sz="2800" i="1" dirty="0">
                <a:solidFill>
                  <a:schemeClr val="bg1"/>
                </a:solidFill>
                <a:latin typeface="Helvetica" pitchFamily="34" charset="0"/>
                <a:cs typeface="Helvetica" pitchFamily="34" charset="0"/>
              </a:rPr>
              <a:t>j</a:t>
            </a:r>
            <a:r>
              <a:rPr lang="en-CA" sz="2800" dirty="0">
                <a:solidFill>
                  <a:schemeClr val="bg1"/>
                </a:solidFill>
                <a:latin typeface="Helvetica" pitchFamily="34" charset="0"/>
                <a:cs typeface="Helvetica" pitchFamily="34" charset="0"/>
              </a:rPr>
              <a:t>, where </a:t>
            </a:r>
          </a:p>
          <a:p>
            <a:pPr marL="800100" lvl="1" indent="-342900">
              <a:spcBef>
                <a:spcPct val="20000"/>
              </a:spcBef>
              <a:buFont typeface="Arial" pitchFamily="34" charset="0"/>
              <a:buChar char="•"/>
              <a:defRPr/>
            </a:pPr>
            <a:r>
              <a:rPr lang="en-CA" sz="2800" i="1" dirty="0">
                <a:solidFill>
                  <a:schemeClr val="bg1"/>
                </a:solidFill>
                <a:latin typeface="Helvetica" pitchFamily="34" charset="0"/>
                <a:cs typeface="Helvetica" pitchFamily="34" charset="0"/>
              </a:rPr>
              <a:t>k</a:t>
            </a:r>
            <a:r>
              <a:rPr lang="en-CA" sz="2800" dirty="0">
                <a:solidFill>
                  <a:schemeClr val="bg1"/>
                </a:solidFill>
                <a:latin typeface="Helvetica" pitchFamily="34" charset="0"/>
                <a:cs typeface="Helvetica" pitchFamily="34" charset="0"/>
              </a:rPr>
              <a:t> represents the levels of TMS </a:t>
            </a:r>
          </a:p>
          <a:p>
            <a:pPr marL="800100" lvl="1" indent="-342900">
              <a:spcBef>
                <a:spcPct val="20000"/>
              </a:spcBef>
              <a:buFont typeface="Arial" pitchFamily="34" charset="0"/>
              <a:buChar char="•"/>
              <a:defRPr/>
            </a:pPr>
            <a:r>
              <a:rPr lang="en-CA" sz="2800" i="1" dirty="0">
                <a:solidFill>
                  <a:schemeClr val="bg1"/>
                </a:solidFill>
                <a:latin typeface="Helvetica" pitchFamily="34" charset="0"/>
                <a:cs typeface="Helvetica" pitchFamily="34" charset="0"/>
              </a:rPr>
              <a:t>j</a:t>
            </a:r>
            <a:r>
              <a:rPr lang="en-CA" sz="2800" dirty="0">
                <a:solidFill>
                  <a:schemeClr val="bg1"/>
                </a:solidFill>
                <a:latin typeface="Helvetica" pitchFamily="34" charset="0"/>
                <a:cs typeface="Helvetica" pitchFamily="34" charset="0"/>
              </a:rPr>
              <a:t> represents the possible SOAs</a:t>
            </a:r>
            <a:r>
              <a:rPr lang="en-US" sz="2800" dirty="0">
                <a:solidFill>
                  <a:schemeClr val="bg1"/>
                </a:solidFill>
                <a:latin typeface="Helvetica" pitchFamily="34" charset="0"/>
                <a:cs typeface="Helvetica" pitchFamily="34" charset="0"/>
              </a:rPr>
              <a:t>…</a:t>
            </a:r>
            <a:endParaRPr lang="en-CA" sz="1000" i="1"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14" name="Picture 13" descr="Screen shot 2011-12-05 at 7.38.39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3356992"/>
            <a:ext cx="4991100" cy="1193800"/>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1720" y="4749577"/>
            <a:ext cx="4991100" cy="914767"/>
          </a:xfrm>
          <a:prstGeom prst="rect">
            <a:avLst/>
          </a:prstGeom>
        </p:spPr>
      </p:pic>
    </p:spTree>
    <p:extLst>
      <p:ext uri="{BB962C8B-B14F-4D97-AF65-F5344CB8AC3E}">
        <p14:creationId xmlns:p14="http://schemas.microsoft.com/office/powerpoint/2010/main" val="3430500112"/>
      </p:ext>
    </p:extLst>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Quantifying </a:t>
            </a:r>
            <a:r>
              <a:rPr lang="en-CA" dirty="0" smtClean="0"/>
              <a:t>Information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graphicFrame>
        <p:nvGraphicFramePr>
          <p:cNvPr id="12" name="Chart 11"/>
          <p:cNvGraphicFramePr>
            <a:graphicFrameLocks/>
          </p:cNvGraphicFramePr>
          <p:nvPr>
            <p:extLst>
              <p:ext uri="{D42A27DB-BD31-4B8C-83A1-F6EECF244321}">
                <p14:modId xmlns:p14="http://schemas.microsoft.com/office/powerpoint/2010/main" val="369607727"/>
              </p:ext>
            </p:extLst>
          </p:nvPr>
        </p:nvGraphicFramePr>
        <p:xfrm>
          <a:off x="467544" y="1844824"/>
          <a:ext cx="8208912" cy="3939654"/>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600475931"/>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Model Comparison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TextBox 7"/>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pic>
        <p:nvPicPr>
          <p:cNvPr id="3" name="Picture 2" descr="Screen shot 2011-12-05 at 7.39.04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00" y="3111500"/>
            <a:ext cx="7353300" cy="635000"/>
          </a:xfrm>
          <a:prstGeom prst="rect">
            <a:avLst/>
          </a:prstGeom>
        </p:spPr>
      </p:pic>
    </p:spTree>
    <p:extLst>
      <p:ext uri="{BB962C8B-B14F-4D97-AF65-F5344CB8AC3E}">
        <p14:creationId xmlns:p14="http://schemas.microsoft.com/office/powerpoint/2010/main" val="2424863588"/>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Model Comparison </a:t>
            </a:r>
            <a:r>
              <a:rPr lang="en-US" dirty="0"/>
              <a:t>–</a:t>
            </a:r>
            <a:r>
              <a:rPr lang="en-CA" dirty="0"/>
              <a:t> Take 2</a:t>
            </a:r>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502977009"/>
              </p:ext>
            </p:extLst>
          </p:nvPr>
        </p:nvGraphicFramePr>
        <p:xfrm>
          <a:off x="1031606" y="1600201"/>
          <a:ext cx="7080787" cy="4525960"/>
        </p:xfrm>
        <a:graphic>
          <a:graphicData uri="http://schemas.openxmlformats.org/drawingml/2006/table">
            <a:tbl>
              <a:tblPr/>
              <a:tblGrid>
                <a:gridCol w="107647"/>
                <a:gridCol w="1782158"/>
                <a:gridCol w="1016667"/>
                <a:gridCol w="1016667"/>
                <a:gridCol w="1016667"/>
                <a:gridCol w="1016667"/>
                <a:gridCol w="1016667"/>
                <a:gridCol w="107647"/>
              </a:tblGrid>
              <a:tr h="418628">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c gridSpan="6">
                  <a:txBody>
                    <a:bodyPr/>
                    <a:lstStyle/>
                    <a:p>
                      <a:pPr algn="ctr" fontAlgn="ctr"/>
                      <a:r>
                        <a:rPr lang="en-US" sz="2400" b="1" i="0" u="sng" strike="noStrike">
                          <a:solidFill>
                            <a:srgbClr val="FFFFFF"/>
                          </a:solidFill>
                          <a:effectLst/>
                          <a:latin typeface="Helvetica"/>
                        </a:rPr>
                        <a:t>Original Model vs. Ideal Observer (with SOA)</a:t>
                      </a:r>
                    </a:p>
                  </a:txBody>
                  <a:tcPr marL="11961" marR="11961" marT="11961"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46863">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gridSpan="6">
                  <a:txBody>
                    <a:bodyPr/>
                    <a:lstStyle/>
                    <a:p>
                      <a:pPr algn="ctr" fontAlgn="b"/>
                      <a:r>
                        <a:rPr lang="en-US" sz="2100" b="1" i="1" u="none" strike="noStrike">
                          <a:solidFill>
                            <a:srgbClr val="FFFFFF"/>
                          </a:solidFill>
                          <a:effectLst/>
                          <a:latin typeface="Helvetica"/>
                        </a:rPr>
                        <a:t>ANOVA</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fr-FR" sz="1700" b="1" i="1" u="none" strike="noStrike">
                          <a:solidFill>
                            <a:srgbClr val="000000"/>
                          </a:solidFill>
                          <a:effectLst/>
                          <a:latin typeface="Helvetica"/>
                        </a:rPr>
                        <a:t>Source</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da-DK" sz="1700" b="1" i="1" u="none" strike="noStrike">
                          <a:solidFill>
                            <a:srgbClr val="000000"/>
                          </a:solidFill>
                          <a:effectLst/>
                          <a:latin typeface="Helvetica"/>
                        </a:rPr>
                        <a:t>df</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Sum of Squares</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de-DE" sz="1700" b="1" i="1" u="none" strike="noStrike">
                          <a:solidFill>
                            <a:srgbClr val="000000"/>
                          </a:solidFill>
                          <a:effectLst/>
                          <a:latin typeface="Helvetica"/>
                        </a:rPr>
                        <a:t>Mean Square</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F</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1" i="1" u="none" strike="noStrike">
                          <a:solidFill>
                            <a:srgbClr val="000000"/>
                          </a:solidFill>
                          <a:effectLst/>
                          <a:latin typeface="Helvetica"/>
                        </a:rPr>
                        <a:t>Sig.</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dirty="0">
                          <a:solidFill>
                            <a:srgbClr val="000000"/>
                          </a:solidFill>
                          <a:effectLst/>
                          <a:latin typeface="Helvetics"/>
                        </a:rPr>
                        <a:t>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2</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157.459</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78.730</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93.522</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1" u="none" strike="noStrike" dirty="0">
                          <a:solidFill>
                            <a:srgbClr val="FFFFFF"/>
                          </a:solidFill>
                          <a:effectLst/>
                          <a:latin typeface="Helvetica"/>
                        </a:rPr>
                        <a:t>p &lt; .0001</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Ideal with SOA - Original Model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14</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137.675</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9.834</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0" u="none" strike="noStrike">
                          <a:solidFill>
                            <a:srgbClr val="FFFFFF"/>
                          </a:solidFill>
                          <a:effectLst/>
                          <a:latin typeface="Helvetica"/>
                        </a:rPr>
                        <a:t>13.183</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700" b="0" i="1" u="none" strike="noStrike">
                          <a:solidFill>
                            <a:srgbClr val="FFFFFF"/>
                          </a:solidFill>
                          <a:effectLst/>
                          <a:latin typeface="Helvetica"/>
                        </a:rPr>
                        <a:t>p</a:t>
                      </a:r>
                      <a:r>
                        <a:rPr lang="en-US" sz="1700" b="0" i="0" u="none" strike="noStrike">
                          <a:solidFill>
                            <a:srgbClr val="FFFFFF"/>
                          </a:solidFill>
                          <a:effectLst/>
                          <a:latin typeface="Helvetica"/>
                        </a:rPr>
                        <a:t> &lt; .0001</a:t>
                      </a:r>
                      <a:endParaRPr lang="en-US" sz="1700" b="0" i="1" u="none" strike="noStrike">
                        <a:solidFill>
                          <a:srgbClr val="FFFFFF"/>
                        </a:solidFill>
                        <a:effectLst/>
                        <a:latin typeface="Helvetica"/>
                      </a:endParaRP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Error (Ideal with SOA)</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1175</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876.487</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0.746</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598039">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ctr"/>
                      <a:r>
                        <a:rPr lang="en-US" sz="1700" b="1" i="1" u="none" strike="noStrike">
                          <a:solidFill>
                            <a:srgbClr val="000000"/>
                          </a:solidFill>
                          <a:effectLst/>
                          <a:latin typeface="Helvetics"/>
                        </a:rPr>
                        <a:t>Total</a:t>
                      </a:r>
                    </a:p>
                  </a:txBody>
                  <a:tcPr marL="11961" marR="11961" marT="11961"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1191</a:t>
                      </a:r>
                    </a:p>
                  </a:txBody>
                  <a:tcPr marL="11961" marR="11961" marT="1196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dirty="0">
                          <a:solidFill>
                            <a:srgbClr val="FFFFFF"/>
                          </a:solidFill>
                          <a:effectLst/>
                          <a:latin typeface="Helvetica"/>
                        </a:rPr>
                        <a:t>1171.621</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75000"/>
                        <a:lumOff val="25000"/>
                      </a:schemeClr>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1700" b="0" i="0" u="none" strike="noStrike">
                          <a:solidFill>
                            <a:srgbClr val="FFFFFF"/>
                          </a:solidFill>
                          <a:effectLst/>
                          <a:latin typeface="Helvetica"/>
                        </a:rPr>
                        <a:t> </a:t>
                      </a:r>
                    </a:p>
                  </a:txBody>
                  <a:tcPr marL="11961" marR="11961" marT="1196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solidFill>
                      <a:srgbClr val="000000"/>
                    </a:solidFill>
                  </a:tcPr>
                </a:tc>
              </a:tr>
              <a:tr h="385137">
                <a:tc>
                  <a:txBody>
                    <a:bodyPr/>
                    <a:lstStyle/>
                    <a:p>
                      <a:pPr algn="l" fontAlgn="b"/>
                      <a:r>
                        <a:rPr lang="en-US" sz="1000" b="0" i="0" u="none" strike="noStrike">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2400" b="1" i="0" u="sng" strike="noStrike">
                          <a:solidFill>
                            <a:srgbClr val="000000"/>
                          </a:solidFill>
                          <a:effectLst/>
                          <a:latin typeface="Helvetica"/>
                        </a:rPr>
                        <a:t> </a:t>
                      </a:r>
                    </a:p>
                  </a:txBody>
                  <a:tcPr marL="11961" marR="11961" marT="11961" marB="0" anchor="ctr">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D0D0D"/>
                    </a:solidFill>
                  </a:tcPr>
                </a:tc>
                <a:tc>
                  <a:txBody>
                    <a:bodyPr/>
                    <a:lstStyle/>
                    <a:p>
                      <a:pPr algn="l" fontAlgn="b"/>
                      <a:r>
                        <a:rPr lang="en-US" sz="1000" b="0" i="0" u="none" strike="noStrike" dirty="0">
                          <a:solidFill>
                            <a:srgbClr val="000000"/>
                          </a:solidFill>
                          <a:effectLst/>
                          <a:latin typeface="Calibri"/>
                        </a:rPr>
                        <a:t> </a:t>
                      </a:r>
                    </a:p>
                  </a:txBody>
                  <a:tcPr marL="11961" marR="11961" marT="11961"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solidFill>
                      <a:srgbClr val="000000"/>
                    </a:solidFill>
                  </a:tcPr>
                </a:tc>
              </a:tr>
            </a:tbl>
          </a:graphicData>
        </a:graphic>
      </p:graphicFrame>
      <p:sp>
        <p:nvSpPr>
          <p:cNvPr id="9" name="TextBox 8"/>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4136002011"/>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14" name="TextBox 13"/>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graphicFrame>
        <p:nvGraphicFramePr>
          <p:cNvPr id="18" name="Chart 17"/>
          <p:cNvGraphicFramePr>
            <a:graphicFrameLocks/>
          </p:cNvGraphicFramePr>
          <p:nvPr>
            <p:extLst>
              <p:ext uri="{D42A27DB-BD31-4B8C-83A1-F6EECF244321}">
                <p14:modId xmlns:p14="http://schemas.microsoft.com/office/powerpoint/2010/main" val="1129839107"/>
              </p:ext>
            </p:extLst>
          </p:nvPr>
        </p:nvGraphicFramePr>
        <p:xfrm>
          <a:off x="1259632" y="1"/>
          <a:ext cx="6622344" cy="34289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10095273"/>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14" name="TextBox 13"/>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graphicFrame>
        <p:nvGraphicFramePr>
          <p:cNvPr id="17" name="Chart 16"/>
          <p:cNvGraphicFramePr>
            <a:graphicFrameLocks/>
          </p:cNvGraphicFramePr>
          <p:nvPr>
            <p:extLst>
              <p:ext uri="{D42A27DB-BD31-4B8C-83A1-F6EECF244321}">
                <p14:modId xmlns:p14="http://schemas.microsoft.com/office/powerpoint/2010/main" val="3390522882"/>
              </p:ext>
            </p:extLst>
          </p:nvPr>
        </p:nvGraphicFramePr>
        <p:xfrm>
          <a:off x="1259632" y="2636912"/>
          <a:ext cx="6624736" cy="36249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p:cNvGraphicFramePr>
            <a:graphicFrameLocks/>
          </p:cNvGraphicFramePr>
          <p:nvPr>
            <p:extLst>
              <p:ext uri="{D42A27DB-BD31-4B8C-83A1-F6EECF244321}">
                <p14:modId xmlns:p14="http://schemas.microsoft.com/office/powerpoint/2010/main" val="3009223855"/>
              </p:ext>
            </p:extLst>
          </p:nvPr>
        </p:nvGraphicFramePr>
        <p:xfrm>
          <a:off x="1259632" y="1"/>
          <a:ext cx="6622344" cy="34289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6886416"/>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Therefore:</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CA" sz="2800" dirty="0" smtClean="0">
                <a:solidFill>
                  <a:schemeClr val="bg1"/>
                </a:solidFill>
                <a:latin typeface="Helvetica" pitchFamily="34" charset="0"/>
                <a:cs typeface="Helvetica" pitchFamily="34" charset="0"/>
              </a:rPr>
              <a:t>Trial</a:t>
            </a:r>
            <a:r>
              <a:rPr lang="en-CA" sz="2800" dirty="0">
                <a:solidFill>
                  <a:schemeClr val="bg1"/>
                </a:solidFill>
                <a:latin typeface="Helvetica" pitchFamily="34" charset="0"/>
                <a:cs typeface="Helvetica" pitchFamily="34" charset="0"/>
              </a:rPr>
              <a:t>-by-trial MEP variation can be modelled as a function of </a:t>
            </a:r>
            <a:r>
              <a:rPr lang="en-CA" sz="2800" dirty="0" smtClean="0">
                <a:solidFill>
                  <a:schemeClr val="bg1"/>
                </a:solidFill>
                <a:latin typeface="Helvetica" pitchFamily="34" charset="0"/>
                <a:cs typeface="Helvetica" pitchFamily="34" charset="0"/>
              </a:rPr>
              <a:t>surprise to the</a:t>
            </a:r>
            <a:r>
              <a:rPr lang="en-US" sz="2800" dirty="0" smtClean="0">
                <a:solidFill>
                  <a:schemeClr val="bg1"/>
                </a:solidFill>
                <a:latin typeface="Helvetica" pitchFamily="34" charset="0"/>
                <a:cs typeface="Helvetica" pitchFamily="34" charset="0"/>
              </a:rPr>
              <a:t> TMS event, </a:t>
            </a:r>
          </a:p>
          <a:p>
            <a:pPr marL="342900" indent="-342900">
              <a:spcBef>
                <a:spcPct val="20000"/>
              </a:spcBef>
              <a:buFont typeface="Arial" pitchFamily="34" charset="0"/>
              <a:buChar char="•"/>
              <a:defRPr/>
            </a:pPr>
            <a:endParaRPr lang="en-US" sz="2800" b="1"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r>
              <a:rPr lang="en-US" sz="2800" b="1" dirty="0" smtClean="0">
                <a:solidFill>
                  <a:schemeClr val="bg1"/>
                </a:solidFill>
                <a:latin typeface="Helvetica" pitchFamily="34" charset="0"/>
                <a:cs typeface="Helvetica" pitchFamily="34" charset="0"/>
              </a:rPr>
              <a:t>…and</a:t>
            </a:r>
            <a:r>
              <a:rPr lang="en-US" sz="2800" dirty="0" smtClean="0">
                <a:solidFill>
                  <a:schemeClr val="bg1"/>
                </a:solidFill>
                <a:latin typeface="Helvetica" pitchFamily="34" charset="0"/>
                <a:cs typeface="Helvetica" pitchFamily="34" charset="0"/>
              </a:rPr>
              <a:t> time of </a:t>
            </a:r>
            <a:r>
              <a:rPr lang="en-CA" sz="2800" dirty="0" smtClean="0">
                <a:solidFill>
                  <a:schemeClr val="bg1"/>
                </a:solidFill>
                <a:latin typeface="Helvetica" pitchFamily="34" charset="0"/>
                <a:cs typeface="Helvetica" pitchFamily="34" charset="0"/>
              </a:rPr>
              <a:t>pulse onset</a:t>
            </a: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3369370564"/>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Back to Reality</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2800" dirty="0">
                <a:solidFill>
                  <a:srgbClr val="FFFFFF"/>
                </a:solidFill>
                <a:latin typeface="Helvetica"/>
                <a:ea typeface="Lucida Grande"/>
                <a:cs typeface="Helvetica"/>
              </a:rPr>
              <a:t>What does this tell us about event-related motor-evoked potentials?</a:t>
            </a:r>
            <a:endParaRPr lang="en-CA" sz="2800" dirty="0">
              <a:solidFill>
                <a:srgbClr val="FFFFFF"/>
              </a:solidFill>
              <a:latin typeface="Helvetica"/>
              <a:cs typeface="Helvetica"/>
            </a:endParaRPr>
          </a:p>
          <a:p>
            <a:pPr marL="914400" lvl="1" indent="-457200">
              <a:spcBef>
                <a:spcPct val="20000"/>
              </a:spcBef>
              <a:buFont typeface="Arial"/>
              <a:buChar char="•"/>
              <a:defRPr/>
            </a:pPr>
            <a:endParaRPr lang="en-CA" sz="2800" dirty="0" smtClean="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rgbClr val="FFFFFF"/>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rgbClr val="FFFFFF"/>
              </a:solidFill>
              <a:latin typeface="Helvetica" pitchFamily="34" charset="0"/>
              <a:cs typeface="Helvetica" pitchFamily="34" charset="0"/>
            </a:endParaRPr>
          </a:p>
          <a:p>
            <a:pPr lvl="2">
              <a:spcBef>
                <a:spcPct val="20000"/>
              </a:spcBef>
              <a:defRPr/>
            </a:pPr>
            <a:endParaRPr lang="en-CA" sz="2800" dirty="0" smtClean="0">
              <a:solidFill>
                <a:srgbClr val="FFFFFF"/>
              </a:solidFill>
              <a:latin typeface="Helvetica" pitchFamily="34" charset="0"/>
              <a:cs typeface="Helvetica" pitchFamily="34" charset="0"/>
            </a:endParaRPr>
          </a:p>
          <a:p>
            <a:pPr lvl="2">
              <a:spcBef>
                <a:spcPct val="20000"/>
              </a:spcBef>
              <a:defRPr/>
            </a:pPr>
            <a:endParaRPr lang="en-CA" sz="2800" dirty="0" smtClean="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rgbClr val="FFFFFF"/>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rgbClr val="FFFFFF"/>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rgbClr val="FFFFFF"/>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rgbClr val="FFFFFF"/>
              </a:solidFill>
              <a:effectLst/>
              <a:uLnTx/>
              <a:uFillTx/>
              <a:latin typeface="Helvetica" pitchFamily="34" charset="0"/>
              <a:ea typeface="+mn-ea"/>
              <a:cs typeface="Helvetica" pitchFamily="34" charset="0"/>
            </a:endParaRPr>
          </a:p>
        </p:txBody>
      </p:sp>
      <p:sp>
        <p:nvSpPr>
          <p:cNvPr id="7" name="TextBox 6"/>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99472808"/>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pic>
        <p:nvPicPr>
          <p:cNvPr id="7" name="Picture 6" descr="Screen shot 2011-12-03 at 4.35.5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60" y="3717032"/>
            <a:ext cx="2781300" cy="2298700"/>
          </a:xfrm>
          <a:prstGeom prst="rect">
            <a:avLst/>
          </a:prstGeom>
        </p:spPr>
      </p:pic>
      <p:pic>
        <p:nvPicPr>
          <p:cNvPr id="8" name="Picture 7" descr="Screen shot 2011-12-03 at 4.36.15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3717032"/>
            <a:ext cx="2806700" cy="2304256"/>
          </a:xfrm>
          <a:prstGeom prst="rect">
            <a:avLst/>
          </a:prstGeom>
        </p:spPr>
      </p:pic>
      <p:sp>
        <p:nvSpPr>
          <p:cNvPr id="18" name="TextBox 17"/>
          <p:cNvSpPr txBox="1"/>
          <p:nvPr/>
        </p:nvSpPr>
        <p:spPr>
          <a:xfrm>
            <a:off x="467544" y="3284984"/>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Baseline</a:t>
            </a:r>
            <a:endParaRPr lang="en-CA" sz="2200" dirty="0">
              <a:solidFill>
                <a:schemeClr val="bg1"/>
              </a:solidFill>
              <a:latin typeface="Helvetica" pitchFamily="34" charset="0"/>
              <a:cs typeface="Helvetica" pitchFamily="34" charset="0"/>
            </a:endParaRPr>
          </a:p>
        </p:txBody>
      </p:sp>
      <p:sp>
        <p:nvSpPr>
          <p:cNvPr id="19" name="TextBox 18"/>
          <p:cNvSpPr txBox="1"/>
          <p:nvPr/>
        </p:nvSpPr>
        <p:spPr>
          <a:xfrm>
            <a:off x="6012160" y="3284984"/>
            <a:ext cx="280831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Experimental</a:t>
            </a:r>
            <a:endParaRPr lang="en-CA" sz="2200" dirty="0">
              <a:solidFill>
                <a:schemeClr val="bg1"/>
              </a:solidFill>
              <a:latin typeface="Helvetica" pitchFamily="34" charset="0"/>
              <a:cs typeface="Helvetica" pitchFamily="34" charset="0"/>
            </a:endParaRPr>
          </a:p>
        </p:txBody>
      </p:sp>
      <p:sp>
        <p:nvSpPr>
          <p:cNvPr id="10" name="TextBox 9"/>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
        <p:nvSpPr>
          <p:cNvPr id="14"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2800" dirty="0">
                <a:solidFill>
                  <a:srgbClr val="FFFFFF"/>
                </a:solidFill>
                <a:latin typeface="Helvetica"/>
                <a:ea typeface="Lucida Grande"/>
                <a:cs typeface="Helvetica"/>
              </a:rPr>
              <a:t>What does this tell us about event-related motor-evoked potentials?</a:t>
            </a:r>
            <a:endParaRPr lang="en-CA" sz="2800" dirty="0">
              <a:solidFill>
                <a:srgbClr val="FFFFFF"/>
              </a:solidFill>
              <a:latin typeface="Helvetica"/>
              <a:cs typeface="Helvetica"/>
            </a:endParaRPr>
          </a:p>
          <a:p>
            <a:pPr marL="914400" lvl="1" indent="-457200">
              <a:spcBef>
                <a:spcPct val="20000"/>
              </a:spcBef>
              <a:buFont typeface="Arial"/>
              <a:buChar char="•"/>
              <a:defRPr/>
            </a:pPr>
            <a:endParaRPr lang="en-CA" sz="2800" dirty="0" smtClean="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rgbClr val="FFFFFF"/>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rgbClr val="FFFFFF"/>
              </a:solidFill>
              <a:latin typeface="Helvetica" pitchFamily="34" charset="0"/>
              <a:cs typeface="Helvetica" pitchFamily="34" charset="0"/>
            </a:endParaRPr>
          </a:p>
          <a:p>
            <a:pPr lvl="2">
              <a:spcBef>
                <a:spcPct val="20000"/>
              </a:spcBef>
              <a:defRPr/>
            </a:pPr>
            <a:endParaRPr lang="en-CA" sz="2800" dirty="0" smtClean="0">
              <a:solidFill>
                <a:srgbClr val="FFFFFF"/>
              </a:solidFill>
              <a:latin typeface="Helvetica" pitchFamily="34" charset="0"/>
              <a:cs typeface="Helvetica" pitchFamily="34" charset="0"/>
            </a:endParaRPr>
          </a:p>
          <a:p>
            <a:pPr lvl="2">
              <a:spcBef>
                <a:spcPct val="20000"/>
              </a:spcBef>
              <a:defRPr/>
            </a:pPr>
            <a:endParaRPr lang="en-CA" sz="2800" dirty="0" smtClean="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rgbClr val="FFFFFF"/>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rgbClr val="FFFFFF"/>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rgbClr val="FFFFFF"/>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rgbClr val="FFFFFF"/>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rgbClr val="FFFFFF"/>
              </a:solidFill>
              <a:effectLst/>
              <a:uLnTx/>
              <a:uFillTx/>
              <a:latin typeface="Helvetica" pitchFamily="34" charset="0"/>
              <a:ea typeface="+mn-ea"/>
              <a:cs typeface="Helvetica" pitchFamily="34" charset="0"/>
            </a:endParaRPr>
          </a:p>
        </p:txBody>
      </p:sp>
      <p:sp>
        <p:nvSpPr>
          <p:cNvPr id="15" name="Title 1"/>
          <p:cNvSpPr>
            <a:spLocks noGrp="1"/>
          </p:cNvSpPr>
          <p:nvPr>
            <p:ph type="title"/>
          </p:nvPr>
        </p:nvSpPr>
        <p:spPr>
          <a:xfrm>
            <a:off x="457200" y="274638"/>
            <a:ext cx="8229600" cy="1143000"/>
          </a:xfrm>
        </p:spPr>
        <p:txBody>
          <a:bodyPr/>
          <a:lstStyle/>
          <a:p>
            <a:r>
              <a:rPr lang="en-CA" dirty="0" smtClean="0"/>
              <a:t>Back to Reality</a:t>
            </a:r>
            <a:endParaRPr lang="en-CA" dirty="0"/>
          </a:p>
        </p:txBody>
      </p:sp>
    </p:spTree>
    <p:extLst>
      <p:ext uri="{BB962C8B-B14F-4D97-AF65-F5344CB8AC3E}">
        <p14:creationId xmlns:p14="http://schemas.microsoft.com/office/powerpoint/2010/main" val="28992705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Back to Reality</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2800" dirty="0">
                <a:solidFill>
                  <a:srgbClr val="FFFFFF"/>
                </a:solidFill>
                <a:latin typeface="Helvetica"/>
                <a:ea typeface="Lucida Grande"/>
                <a:cs typeface="Helvetica"/>
              </a:rPr>
              <a:t>What does this tell us about event-related motor-evoked potentials?</a:t>
            </a:r>
            <a:endParaRPr lang="en-CA" sz="2800" dirty="0">
              <a:solidFill>
                <a:srgbClr val="FFFFFF"/>
              </a:solidFill>
              <a:latin typeface="Helvetica"/>
              <a:cs typeface="Helvetica"/>
            </a:endParaRPr>
          </a:p>
          <a:p>
            <a:pPr marL="34290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971550" lvl="1" indent="-514350">
              <a:spcBef>
                <a:spcPct val="20000"/>
              </a:spcBef>
              <a:buFont typeface="+mj-lt"/>
              <a:buAutoNum type="arabicPeriod"/>
              <a:defRPr/>
            </a:pPr>
            <a:r>
              <a:rPr lang="en-CA" sz="2800" dirty="0" smtClean="0">
                <a:solidFill>
                  <a:schemeClr val="bg1"/>
                </a:solidFill>
                <a:latin typeface="Helvetica" pitchFamily="34" charset="0"/>
                <a:cs typeface="Helvetica" pitchFamily="34" charset="0"/>
              </a:rPr>
              <a:t>Covert motor preparation after a surprising event?</a:t>
            </a:r>
          </a:p>
          <a:p>
            <a:pPr marL="971550" lvl="1" indent="-514350">
              <a:spcBef>
                <a:spcPct val="20000"/>
              </a:spcBef>
              <a:buFont typeface="+mj-lt"/>
              <a:buAutoNum type="arabicPeriod"/>
              <a:defRPr/>
            </a:pPr>
            <a:endParaRPr lang="en-CA" sz="2800" dirty="0">
              <a:solidFill>
                <a:schemeClr val="bg1"/>
              </a:solidFill>
              <a:latin typeface="Helvetica" pitchFamily="34" charset="0"/>
              <a:cs typeface="Helvetica" pitchFamily="34" charset="0"/>
            </a:endParaRPr>
          </a:p>
          <a:p>
            <a:pPr marL="971550" lvl="1" indent="-514350">
              <a:spcBef>
                <a:spcPct val="20000"/>
              </a:spcBef>
              <a:buFont typeface="+mj-lt"/>
              <a:buAutoNum type="arabicPeriod"/>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3815151288"/>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Back to Reality</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2800" dirty="0">
                <a:solidFill>
                  <a:srgbClr val="FFFFFF"/>
                </a:solidFill>
                <a:latin typeface="Helvetica"/>
                <a:ea typeface="Lucida Grande"/>
                <a:cs typeface="Helvetica"/>
              </a:rPr>
              <a:t>What does this tell us about event-related motor-evoked potentials?</a:t>
            </a:r>
            <a:endParaRPr lang="en-CA" sz="2800" dirty="0">
              <a:solidFill>
                <a:srgbClr val="FFFFFF"/>
              </a:solidFill>
              <a:latin typeface="Helvetica"/>
              <a:cs typeface="Helvetica"/>
            </a:endParaRPr>
          </a:p>
          <a:p>
            <a:pPr marL="342900"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marL="971550" lvl="1" indent="-514350">
              <a:spcBef>
                <a:spcPct val="20000"/>
              </a:spcBef>
              <a:buFont typeface="+mj-lt"/>
              <a:buAutoNum type="arabicPeriod"/>
              <a:defRPr/>
            </a:pPr>
            <a:r>
              <a:rPr lang="en-CA" sz="2800" dirty="0" smtClean="0">
                <a:solidFill>
                  <a:schemeClr val="bg1"/>
                </a:solidFill>
                <a:latin typeface="Helvetica" pitchFamily="34" charset="0"/>
                <a:cs typeface="Helvetica" pitchFamily="34" charset="0"/>
              </a:rPr>
              <a:t>Covert motor preparation after a surprising event?</a:t>
            </a:r>
          </a:p>
          <a:p>
            <a:pPr marL="971550" lvl="1" indent="-514350">
              <a:spcBef>
                <a:spcPct val="20000"/>
              </a:spcBef>
              <a:buFont typeface="+mj-lt"/>
              <a:buAutoNum type="arabicPeriod"/>
              <a:defRPr/>
            </a:pPr>
            <a:endParaRPr lang="en-CA" sz="2800" dirty="0">
              <a:solidFill>
                <a:schemeClr val="bg1"/>
              </a:solidFill>
              <a:latin typeface="Helvetica" pitchFamily="34" charset="0"/>
              <a:cs typeface="Helvetica" pitchFamily="34" charset="0"/>
            </a:endParaRPr>
          </a:p>
          <a:p>
            <a:pPr marL="971550" lvl="1" indent="-514350">
              <a:spcBef>
                <a:spcPct val="20000"/>
              </a:spcBef>
              <a:buFont typeface="+mj-lt"/>
              <a:buAutoNum type="arabicPeriod"/>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pic>
        <p:nvPicPr>
          <p:cNvPr id="3" name="Picture 2" descr="Screen shot 2011-12-05 at 9.13.30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3284984"/>
            <a:ext cx="3949700" cy="2641600"/>
          </a:xfrm>
          <a:prstGeom prst="rect">
            <a:avLst/>
          </a:prstGeom>
        </p:spPr>
      </p:pic>
      <p:pic>
        <p:nvPicPr>
          <p:cNvPr id="6" name="Picture 5" descr="Screen shot 2011-12-05 at 9.13.37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5976" y="5877272"/>
            <a:ext cx="1511300" cy="304800"/>
          </a:xfrm>
          <a:prstGeom prst="rect">
            <a:avLst/>
          </a:prstGeom>
        </p:spPr>
      </p:pic>
      <p:pic>
        <p:nvPicPr>
          <p:cNvPr id="9" name="Picture 8" descr="Screen shot 2011-12-05 at 9.13.4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1800" y="3573016"/>
            <a:ext cx="342900" cy="2235200"/>
          </a:xfrm>
          <a:prstGeom prst="rect">
            <a:avLst/>
          </a:prstGeom>
        </p:spPr>
      </p:pic>
      <p:sp>
        <p:nvSpPr>
          <p:cNvPr id="10" name="TextBox 9"/>
          <p:cNvSpPr txBox="1"/>
          <p:nvPr/>
        </p:nvSpPr>
        <p:spPr>
          <a:xfrm>
            <a:off x="0" y="5949280"/>
            <a:ext cx="3888432" cy="338554"/>
          </a:xfrm>
          <a:prstGeom prst="rect">
            <a:avLst/>
          </a:prstGeom>
          <a:noFill/>
          <a:ln>
            <a:solidFill>
              <a:schemeClr val="bg1">
                <a:lumMod val="50000"/>
              </a:schemeClr>
            </a:solidFill>
          </a:ln>
        </p:spPr>
        <p:txBody>
          <a:bodyPr wrap="square" rtlCol="0">
            <a:spAutoFit/>
          </a:bodyPr>
          <a:lstStyle/>
          <a:p>
            <a:pPr algn="ctr"/>
            <a:r>
              <a:rPr lang="en-US" sz="1600" dirty="0" smtClean="0">
                <a:solidFill>
                  <a:schemeClr val="bg1"/>
                </a:solidFill>
                <a:latin typeface="Helvetica" pitchFamily="34" charset="0"/>
                <a:cs typeface="Helvetica" pitchFamily="34" charset="0"/>
              </a:rPr>
              <a:t>F</a:t>
            </a:r>
            <a:r>
              <a:rPr lang="en-CA" sz="1600" dirty="0" err="1" smtClean="0">
                <a:solidFill>
                  <a:schemeClr val="bg1"/>
                </a:solidFill>
                <a:latin typeface="Helvetica" pitchFamily="34" charset="0"/>
                <a:cs typeface="Helvetica" pitchFamily="34" charset="0"/>
              </a:rPr>
              <a:t>igure</a:t>
            </a:r>
            <a:r>
              <a:rPr lang="en-CA" sz="1600" dirty="0" smtClean="0">
                <a:solidFill>
                  <a:schemeClr val="bg1"/>
                </a:solidFill>
                <a:latin typeface="Helvetica" pitchFamily="34" charset="0"/>
                <a:cs typeface="Helvetica" pitchFamily="34" charset="0"/>
              </a:rPr>
              <a:t> courtesy </a:t>
            </a:r>
            <a:r>
              <a:rPr lang="en-CA" sz="1600" dirty="0" err="1" smtClean="0">
                <a:solidFill>
                  <a:schemeClr val="bg1"/>
                </a:solidFill>
                <a:latin typeface="Helvetica" pitchFamily="34" charset="0"/>
                <a:cs typeface="Helvetica" pitchFamily="34" charset="0"/>
              </a:rPr>
              <a:t>Bestmann</a:t>
            </a:r>
            <a:r>
              <a:rPr lang="en-CA" sz="1600" dirty="0" smtClean="0">
                <a:solidFill>
                  <a:schemeClr val="bg1"/>
                </a:solidFill>
                <a:latin typeface="Helvetica" pitchFamily="34" charset="0"/>
                <a:cs typeface="Helvetica" pitchFamily="34" charset="0"/>
              </a:rPr>
              <a:t> et al., 2008.</a:t>
            </a:r>
            <a:endParaRPr lang="en-CA" sz="16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578709263"/>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Back to Reality</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Present Model</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2800" dirty="0">
                <a:solidFill>
                  <a:srgbClr val="FFFFFF"/>
                </a:solidFill>
                <a:latin typeface="Helvetica"/>
                <a:ea typeface="Lucida Grande"/>
                <a:cs typeface="Helvetica"/>
              </a:rPr>
              <a:t>What does this tell us about event-related motor-evoked potentials?</a:t>
            </a:r>
            <a:endParaRPr lang="en-CA" sz="2800" dirty="0">
              <a:solidFill>
                <a:srgbClr val="FFFFFF"/>
              </a:solidFill>
              <a:latin typeface="Helvetica"/>
              <a:cs typeface="Helvetica"/>
            </a:endParaRPr>
          </a:p>
          <a:p>
            <a:pPr lvl="1">
              <a:spcBef>
                <a:spcPct val="20000"/>
              </a:spcBef>
              <a:defRPr/>
            </a:pPr>
            <a:endParaRPr lang="en-CA" sz="1000" dirty="0">
              <a:solidFill>
                <a:schemeClr val="bg1"/>
              </a:solidFill>
              <a:latin typeface="Helvetica" pitchFamily="34" charset="0"/>
              <a:cs typeface="Helvetica" pitchFamily="34" charset="0"/>
            </a:endParaRPr>
          </a:p>
          <a:p>
            <a:pPr marL="971550" lvl="1" indent="-514350">
              <a:spcBef>
                <a:spcPct val="20000"/>
              </a:spcBef>
              <a:buFont typeface="+mj-lt"/>
              <a:buAutoNum type="arabicPeriod" startAt="2"/>
              <a:defRPr/>
            </a:pPr>
            <a:r>
              <a:rPr lang="en-CA" sz="2800" dirty="0">
                <a:solidFill>
                  <a:schemeClr val="bg1"/>
                </a:solidFill>
                <a:latin typeface="Helvetica" pitchFamily="34" charset="0"/>
                <a:cs typeface="Helvetica" pitchFamily="34" charset="0"/>
              </a:rPr>
              <a:t>Resource depletion following surprising event?</a:t>
            </a:r>
          </a:p>
          <a:p>
            <a:pPr marL="971550" lvl="1" indent="-514350">
              <a:spcBef>
                <a:spcPct val="20000"/>
              </a:spcBef>
              <a:buFont typeface="+mj-lt"/>
              <a:buAutoNum type="arabicPeriod" startAt="2"/>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914400" lvl="1" indent="-457200">
              <a:spcBef>
                <a:spcPct val="20000"/>
              </a:spcBef>
              <a:buFont typeface="Arial"/>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1000" dirty="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lvl="2">
              <a:spcBef>
                <a:spcPct val="20000"/>
              </a:spcBef>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sp>
        <p:nvSpPr>
          <p:cNvPr id="7" name="TextBox 6"/>
          <p:cNvSpPr txBox="1"/>
          <p:nvPr/>
        </p:nvSpPr>
        <p:spPr>
          <a:xfrm>
            <a:off x="6012160"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Conclusions: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spTree>
    <p:extLst>
      <p:ext uri="{BB962C8B-B14F-4D97-AF65-F5344CB8AC3E}">
        <p14:creationId xmlns:p14="http://schemas.microsoft.com/office/powerpoint/2010/main" val="4197664293"/>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467544" y="1268760"/>
            <a:ext cx="8280920" cy="5472608"/>
          </a:xfrm>
          <a:prstGeom prst="rect">
            <a:avLst/>
          </a:prstGeom>
        </p:spPr>
        <p:txBody>
          <a:bodyPr vert="horz" lIns="91440" tIns="45720" rIns="91440" bIns="45720" rtlCol="0">
            <a:normAutofit/>
          </a:bodyPr>
          <a:lstStyle/>
          <a:p>
            <a:pPr>
              <a:lnSpc>
                <a:spcPts val="1920"/>
              </a:lnSpc>
            </a:pPr>
            <a:r>
              <a:rPr lang="en-US" sz="1600" dirty="0">
                <a:solidFill>
                  <a:schemeClr val="bg1"/>
                </a:solidFill>
                <a:latin typeface="Helvetica"/>
                <a:cs typeface="Helvetica"/>
              </a:rPr>
              <a:t>Barker, A. T., &amp; </a:t>
            </a:r>
            <a:r>
              <a:rPr lang="en-US" sz="1600" dirty="0" err="1">
                <a:solidFill>
                  <a:schemeClr val="bg1"/>
                </a:solidFill>
                <a:latin typeface="Helvetica"/>
                <a:cs typeface="Helvetica"/>
              </a:rPr>
              <a:t>Freeston</a:t>
            </a:r>
            <a:r>
              <a:rPr lang="en-US" sz="1600" dirty="0">
                <a:solidFill>
                  <a:schemeClr val="bg1"/>
                </a:solidFill>
                <a:latin typeface="Helvetica"/>
                <a:cs typeface="Helvetica"/>
              </a:rPr>
              <a:t>, I. (2007). </a:t>
            </a:r>
            <a:r>
              <a:rPr lang="en-US" sz="1600" dirty="0" err="1">
                <a:solidFill>
                  <a:schemeClr val="bg1"/>
                </a:solidFill>
                <a:latin typeface="Helvetica"/>
                <a:cs typeface="Helvetica"/>
              </a:rPr>
              <a:t>Transcranial</a:t>
            </a:r>
            <a:r>
              <a:rPr lang="en-US" sz="1600" dirty="0">
                <a:solidFill>
                  <a:schemeClr val="bg1"/>
                </a:solidFill>
                <a:latin typeface="Helvetica"/>
                <a:cs typeface="Helvetica"/>
              </a:rPr>
              <a:t> magnetic stimulation.</a:t>
            </a:r>
            <a:r>
              <a:rPr lang="en-US" sz="1600" i="1" dirty="0">
                <a:solidFill>
                  <a:schemeClr val="bg1"/>
                </a:solidFill>
                <a:latin typeface="Helvetica"/>
                <a:cs typeface="Helvetica"/>
              </a:rPr>
              <a:t> </a:t>
            </a:r>
            <a:r>
              <a:rPr lang="en-US" sz="1600" i="1" dirty="0" err="1">
                <a:solidFill>
                  <a:schemeClr val="bg1"/>
                </a:solidFill>
                <a:latin typeface="Helvetica"/>
                <a:cs typeface="Helvetica"/>
              </a:rPr>
              <a:t>Scholarpedia</a:t>
            </a:r>
            <a:r>
              <a:rPr lang="en-US" sz="1600" dirty="0">
                <a:solidFill>
                  <a:schemeClr val="bg1"/>
                </a:solidFill>
                <a:latin typeface="Helvetica"/>
                <a:cs typeface="Helvetica"/>
              </a:rPr>
              <a:t>, </a:t>
            </a:r>
            <a:r>
              <a:rPr lang="en-US" sz="1600" i="1" dirty="0">
                <a:solidFill>
                  <a:schemeClr val="bg1"/>
                </a:solidFill>
                <a:latin typeface="Helvetica"/>
                <a:cs typeface="Helvetica"/>
              </a:rPr>
              <a:t>2</a:t>
            </a:r>
            <a:r>
              <a:rPr lang="en-US" sz="1600" dirty="0">
                <a:solidFill>
                  <a:schemeClr val="bg1"/>
                </a:solidFill>
                <a:latin typeface="Helvetica"/>
                <a:cs typeface="Helvetica"/>
              </a:rPr>
              <a:t>, </a:t>
            </a:r>
            <a:r>
              <a:rPr lang="en-US" sz="1600" dirty="0" smtClean="0">
                <a:solidFill>
                  <a:schemeClr val="bg1"/>
                </a:solidFill>
                <a:latin typeface="Helvetica"/>
                <a:cs typeface="Helvetica"/>
              </a:rPr>
              <a:t>	2936.</a:t>
            </a:r>
            <a:endParaRPr lang="en-US" sz="1600" dirty="0">
              <a:solidFill>
                <a:schemeClr val="bg1"/>
              </a:solidFill>
              <a:latin typeface="Helvetica"/>
              <a:cs typeface="Helvetica"/>
            </a:endParaRPr>
          </a:p>
          <a:p>
            <a:pPr>
              <a:lnSpc>
                <a:spcPts val="1920"/>
              </a:lnSpc>
            </a:pPr>
            <a:r>
              <a:rPr lang="en-US" sz="1600" dirty="0" err="1">
                <a:solidFill>
                  <a:schemeClr val="bg1"/>
                </a:solidFill>
                <a:latin typeface="Helvetica"/>
                <a:cs typeface="Helvetica"/>
              </a:rPr>
              <a:t>Bestmann</a:t>
            </a:r>
            <a:r>
              <a:rPr lang="en-US" sz="1600" dirty="0">
                <a:solidFill>
                  <a:schemeClr val="bg1"/>
                </a:solidFill>
                <a:latin typeface="Helvetica"/>
                <a:cs typeface="Helvetica"/>
              </a:rPr>
              <a:t>, S., Harrison, L. M., </a:t>
            </a:r>
            <a:r>
              <a:rPr lang="en-US" sz="1600" dirty="0" err="1">
                <a:solidFill>
                  <a:schemeClr val="bg1"/>
                </a:solidFill>
                <a:latin typeface="Helvetica"/>
                <a:cs typeface="Helvetica"/>
              </a:rPr>
              <a:t>Blankenburg</a:t>
            </a:r>
            <a:r>
              <a:rPr lang="en-US" sz="1600" dirty="0">
                <a:solidFill>
                  <a:schemeClr val="bg1"/>
                </a:solidFill>
                <a:latin typeface="Helvetica"/>
                <a:cs typeface="Helvetica"/>
              </a:rPr>
              <a:t>, F., Mars, R. B., Haggard, P., </a:t>
            </a:r>
            <a:r>
              <a:rPr lang="en-US" sz="1600" dirty="0" err="1">
                <a:solidFill>
                  <a:schemeClr val="bg1"/>
                </a:solidFill>
                <a:latin typeface="Helvetica"/>
                <a:cs typeface="Helvetica"/>
              </a:rPr>
              <a:t>Friston</a:t>
            </a:r>
            <a:r>
              <a:rPr lang="en-US" sz="1600" dirty="0">
                <a:solidFill>
                  <a:schemeClr val="bg1"/>
                </a:solidFill>
                <a:latin typeface="Helvetica"/>
                <a:cs typeface="Helvetica"/>
              </a:rPr>
              <a:t>, K. J., &amp; </a:t>
            </a:r>
            <a:r>
              <a:rPr lang="en-US" sz="1600" dirty="0" smtClean="0">
                <a:solidFill>
                  <a:schemeClr val="bg1"/>
                </a:solidFill>
                <a:latin typeface="Helvetica"/>
                <a:cs typeface="Helvetica"/>
              </a:rPr>
              <a:t>	</a:t>
            </a:r>
            <a:r>
              <a:rPr lang="en-US" sz="1600" dirty="0" err="1" smtClean="0">
                <a:solidFill>
                  <a:schemeClr val="bg1"/>
                </a:solidFill>
                <a:latin typeface="Helvetica"/>
                <a:cs typeface="Helvetica"/>
              </a:rPr>
              <a:t>Rothwell</a:t>
            </a:r>
            <a:r>
              <a:rPr lang="en-US" sz="1600" dirty="0">
                <a:solidFill>
                  <a:schemeClr val="bg1"/>
                </a:solidFill>
                <a:latin typeface="Helvetica"/>
                <a:cs typeface="Helvetica"/>
              </a:rPr>
              <a:t>, J. C. (2008). Influence of uncertainty and surprise on human </a:t>
            </a:r>
            <a:r>
              <a:rPr lang="en-US" sz="1600" dirty="0" err="1">
                <a:solidFill>
                  <a:schemeClr val="bg1"/>
                </a:solidFill>
                <a:latin typeface="Helvetica"/>
                <a:cs typeface="Helvetica"/>
              </a:rPr>
              <a:t>corticospinal</a:t>
            </a:r>
            <a:r>
              <a:rPr lang="en-US" sz="1600" dirty="0">
                <a:solidFill>
                  <a:schemeClr val="bg1"/>
                </a:solidFill>
                <a:latin typeface="Helvetica"/>
                <a:cs typeface="Helvetica"/>
              </a:rPr>
              <a:t> </a:t>
            </a:r>
            <a:r>
              <a:rPr lang="en-US" sz="1600" dirty="0" smtClean="0">
                <a:solidFill>
                  <a:schemeClr val="bg1"/>
                </a:solidFill>
                <a:latin typeface="Helvetica"/>
                <a:cs typeface="Helvetica"/>
              </a:rPr>
              <a:t>	excitability </a:t>
            </a:r>
            <a:r>
              <a:rPr lang="en-US" sz="1600" dirty="0">
                <a:solidFill>
                  <a:schemeClr val="bg1"/>
                </a:solidFill>
                <a:latin typeface="Helvetica"/>
                <a:cs typeface="Helvetica"/>
              </a:rPr>
              <a:t>during preparation for action. </a:t>
            </a:r>
            <a:r>
              <a:rPr lang="en-US" sz="1600" i="1" dirty="0">
                <a:solidFill>
                  <a:schemeClr val="bg1"/>
                </a:solidFill>
                <a:latin typeface="Helvetica"/>
                <a:cs typeface="Helvetica"/>
              </a:rPr>
              <a:t>Current Biology</a:t>
            </a:r>
            <a:r>
              <a:rPr lang="en-US" sz="1600" dirty="0">
                <a:solidFill>
                  <a:schemeClr val="bg1"/>
                </a:solidFill>
                <a:latin typeface="Helvetica"/>
                <a:cs typeface="Helvetica"/>
              </a:rPr>
              <a:t>, </a:t>
            </a:r>
            <a:r>
              <a:rPr lang="en-US" sz="1600" i="1" dirty="0">
                <a:solidFill>
                  <a:schemeClr val="bg1"/>
                </a:solidFill>
                <a:latin typeface="Helvetica"/>
                <a:cs typeface="Helvetica"/>
              </a:rPr>
              <a:t>18</a:t>
            </a:r>
            <a:r>
              <a:rPr lang="en-US" sz="1600" dirty="0">
                <a:solidFill>
                  <a:schemeClr val="bg1"/>
                </a:solidFill>
                <a:latin typeface="Helvetica"/>
                <a:cs typeface="Helvetica"/>
              </a:rPr>
              <a:t>, 775-780</a:t>
            </a:r>
            <a:r>
              <a:rPr lang="en-US" sz="1600" dirty="0" smtClean="0">
                <a:solidFill>
                  <a:schemeClr val="bg1"/>
                </a:solidFill>
                <a:latin typeface="Helvetica"/>
                <a:cs typeface="Helvetica"/>
              </a:rPr>
              <a:t>.</a:t>
            </a:r>
            <a:endParaRPr lang="en-US" sz="1600" dirty="0">
              <a:solidFill>
                <a:schemeClr val="bg1"/>
              </a:solidFill>
              <a:latin typeface="Helvetica"/>
              <a:cs typeface="Helvetica"/>
            </a:endParaRPr>
          </a:p>
          <a:p>
            <a:pPr>
              <a:lnSpc>
                <a:spcPts val="1920"/>
              </a:lnSpc>
            </a:pPr>
            <a:r>
              <a:rPr lang="en-US" sz="1600" dirty="0">
                <a:solidFill>
                  <a:schemeClr val="bg1"/>
                </a:solidFill>
                <a:latin typeface="Helvetica"/>
                <a:cs typeface="Helvetica"/>
              </a:rPr>
              <a:t>Levy, I., </a:t>
            </a:r>
            <a:r>
              <a:rPr lang="en-US" sz="1600" dirty="0" err="1">
                <a:solidFill>
                  <a:schemeClr val="bg1"/>
                </a:solidFill>
                <a:latin typeface="Helvetica"/>
                <a:cs typeface="Helvetica"/>
              </a:rPr>
              <a:t>Hasson</a:t>
            </a:r>
            <a:r>
              <a:rPr lang="en-US" sz="1600" dirty="0">
                <a:solidFill>
                  <a:schemeClr val="bg1"/>
                </a:solidFill>
                <a:latin typeface="Helvetica"/>
                <a:cs typeface="Helvetica"/>
              </a:rPr>
              <a:t>, R., </a:t>
            </a:r>
            <a:r>
              <a:rPr lang="en-US" sz="1600" dirty="0" err="1">
                <a:solidFill>
                  <a:schemeClr val="bg1"/>
                </a:solidFill>
                <a:latin typeface="Helvetica"/>
                <a:cs typeface="Helvetica"/>
              </a:rPr>
              <a:t>Avidan</a:t>
            </a:r>
            <a:r>
              <a:rPr lang="en-US" sz="1600" dirty="0">
                <a:solidFill>
                  <a:schemeClr val="bg1"/>
                </a:solidFill>
                <a:latin typeface="Helvetica"/>
                <a:cs typeface="Helvetica"/>
              </a:rPr>
              <a:t>, G., </a:t>
            </a:r>
            <a:r>
              <a:rPr lang="en-US" sz="1600" dirty="0" err="1">
                <a:solidFill>
                  <a:schemeClr val="bg1"/>
                </a:solidFill>
                <a:latin typeface="Helvetica"/>
                <a:cs typeface="Helvetica"/>
              </a:rPr>
              <a:t>Hendler</a:t>
            </a:r>
            <a:r>
              <a:rPr lang="en-US" sz="1600" dirty="0">
                <a:solidFill>
                  <a:schemeClr val="bg1"/>
                </a:solidFill>
                <a:latin typeface="Helvetica"/>
                <a:cs typeface="Helvetica"/>
              </a:rPr>
              <a:t>, T., &amp; </a:t>
            </a:r>
            <a:r>
              <a:rPr lang="en-US" sz="1600" dirty="0" err="1">
                <a:solidFill>
                  <a:schemeClr val="bg1"/>
                </a:solidFill>
                <a:latin typeface="Helvetica"/>
                <a:cs typeface="Helvetica"/>
              </a:rPr>
              <a:t>Malach</a:t>
            </a:r>
            <a:r>
              <a:rPr lang="en-US" sz="1600" dirty="0">
                <a:solidFill>
                  <a:schemeClr val="bg1"/>
                </a:solidFill>
                <a:latin typeface="Helvetica"/>
                <a:cs typeface="Helvetica"/>
              </a:rPr>
              <a:t>, R. (2001). Center-periphery </a:t>
            </a:r>
            <a:r>
              <a:rPr lang="en-US" sz="1600" dirty="0" smtClean="0">
                <a:solidFill>
                  <a:schemeClr val="bg1"/>
                </a:solidFill>
                <a:latin typeface="Helvetica"/>
                <a:cs typeface="Helvetica"/>
              </a:rPr>
              <a:t>	organization </a:t>
            </a:r>
            <a:r>
              <a:rPr lang="en-US" sz="1600" dirty="0">
                <a:solidFill>
                  <a:schemeClr val="bg1"/>
                </a:solidFill>
                <a:latin typeface="Helvetica"/>
                <a:cs typeface="Helvetica"/>
              </a:rPr>
              <a:t>of human object areas. </a:t>
            </a:r>
            <a:r>
              <a:rPr lang="en-US" sz="1600" i="1" dirty="0">
                <a:solidFill>
                  <a:schemeClr val="bg1"/>
                </a:solidFill>
                <a:latin typeface="Helvetica"/>
                <a:cs typeface="Helvetica"/>
              </a:rPr>
              <a:t>Nature Neuroscience</a:t>
            </a:r>
            <a:r>
              <a:rPr lang="en-US" sz="1600" dirty="0">
                <a:solidFill>
                  <a:schemeClr val="bg1"/>
                </a:solidFill>
                <a:latin typeface="Helvetica"/>
                <a:cs typeface="Helvetica"/>
              </a:rPr>
              <a:t>, </a:t>
            </a:r>
            <a:r>
              <a:rPr lang="en-US" sz="1600" i="1" dirty="0">
                <a:solidFill>
                  <a:schemeClr val="bg1"/>
                </a:solidFill>
                <a:latin typeface="Helvetica"/>
                <a:cs typeface="Helvetica"/>
              </a:rPr>
              <a:t>4</a:t>
            </a:r>
            <a:r>
              <a:rPr lang="en-US" sz="1600" dirty="0">
                <a:solidFill>
                  <a:schemeClr val="bg1"/>
                </a:solidFill>
                <a:latin typeface="Helvetica"/>
                <a:cs typeface="Helvetica"/>
              </a:rPr>
              <a:t>, 533-539</a:t>
            </a:r>
            <a:r>
              <a:rPr lang="en-US" sz="1600" dirty="0" smtClean="0">
                <a:solidFill>
                  <a:schemeClr val="bg1"/>
                </a:solidFill>
                <a:latin typeface="Helvetica"/>
                <a:cs typeface="Helvetica"/>
              </a:rPr>
              <a:t>.</a:t>
            </a:r>
            <a:endParaRPr lang="en-US" sz="1600" dirty="0">
              <a:solidFill>
                <a:schemeClr val="bg1"/>
              </a:solidFill>
              <a:latin typeface="Helvetica"/>
              <a:cs typeface="Helvetica"/>
            </a:endParaRPr>
          </a:p>
          <a:p>
            <a:pPr>
              <a:lnSpc>
                <a:spcPts val="1920"/>
              </a:lnSpc>
            </a:pPr>
            <a:r>
              <a:rPr lang="en-US" sz="1600" dirty="0">
                <a:solidFill>
                  <a:schemeClr val="bg1"/>
                </a:solidFill>
                <a:latin typeface="Helvetica"/>
                <a:cs typeface="Helvetica"/>
              </a:rPr>
              <a:t>Mars, R. B., </a:t>
            </a:r>
            <a:r>
              <a:rPr lang="en-US" sz="1600" dirty="0" err="1">
                <a:solidFill>
                  <a:schemeClr val="bg1"/>
                </a:solidFill>
                <a:latin typeface="Helvetica"/>
                <a:cs typeface="Helvetica"/>
              </a:rPr>
              <a:t>Debaner</a:t>
            </a:r>
            <a:r>
              <a:rPr lang="en-US" sz="1600" dirty="0">
                <a:solidFill>
                  <a:schemeClr val="bg1"/>
                </a:solidFill>
                <a:latin typeface="Helvetica"/>
                <a:cs typeface="Helvetica"/>
              </a:rPr>
              <a:t>, S., Gladwin, T. E., Harrison, L. M., Haggard, P., </a:t>
            </a:r>
            <a:r>
              <a:rPr lang="en-US" sz="1600" dirty="0" err="1">
                <a:solidFill>
                  <a:schemeClr val="bg1"/>
                </a:solidFill>
                <a:latin typeface="Helvetica"/>
                <a:cs typeface="Helvetica"/>
              </a:rPr>
              <a:t>Rothwell</a:t>
            </a:r>
            <a:r>
              <a:rPr lang="en-US" sz="1600" dirty="0">
                <a:solidFill>
                  <a:schemeClr val="bg1"/>
                </a:solidFill>
                <a:latin typeface="Helvetica"/>
                <a:cs typeface="Helvetica"/>
              </a:rPr>
              <a:t>, J. C., &amp; </a:t>
            </a:r>
            <a:r>
              <a:rPr lang="en-US" sz="1600" dirty="0" smtClean="0">
                <a:solidFill>
                  <a:schemeClr val="bg1"/>
                </a:solidFill>
                <a:latin typeface="Helvetica"/>
                <a:cs typeface="Helvetica"/>
              </a:rPr>
              <a:t>	</a:t>
            </a:r>
            <a:r>
              <a:rPr lang="en-US" sz="1600" dirty="0" err="1" smtClean="0">
                <a:solidFill>
                  <a:schemeClr val="bg1"/>
                </a:solidFill>
                <a:latin typeface="Helvetica"/>
                <a:cs typeface="Helvetica"/>
              </a:rPr>
              <a:t>Bestmann</a:t>
            </a:r>
            <a:r>
              <a:rPr lang="en-US" sz="1600" dirty="0">
                <a:solidFill>
                  <a:schemeClr val="bg1"/>
                </a:solidFill>
                <a:latin typeface="Helvetica"/>
                <a:cs typeface="Helvetica"/>
              </a:rPr>
              <a:t>, S. Trial-by-trial fluctuations in the event-related </a:t>
            </a:r>
            <a:r>
              <a:rPr lang="en-US" sz="1600" dirty="0" smtClean="0">
                <a:solidFill>
                  <a:schemeClr val="bg1"/>
                </a:solidFill>
                <a:latin typeface="Helvetica"/>
                <a:cs typeface="Helvetica"/>
              </a:rPr>
              <a:t>	electroencephalogram </a:t>
            </a:r>
            <a:r>
              <a:rPr lang="en-US" sz="1600" dirty="0">
                <a:solidFill>
                  <a:schemeClr val="bg1"/>
                </a:solidFill>
                <a:latin typeface="Helvetica"/>
                <a:cs typeface="Helvetica"/>
              </a:rPr>
              <a:t>reflect dynamic changes in the degree of surprise. </a:t>
            </a:r>
            <a:r>
              <a:rPr lang="en-US" sz="1600" dirty="0" smtClean="0">
                <a:solidFill>
                  <a:schemeClr val="bg1"/>
                </a:solidFill>
                <a:latin typeface="Helvetica"/>
                <a:cs typeface="Helvetica"/>
              </a:rPr>
              <a:t>	</a:t>
            </a:r>
            <a:r>
              <a:rPr lang="en-US" sz="1600" i="1" dirty="0" smtClean="0">
                <a:solidFill>
                  <a:schemeClr val="bg1"/>
                </a:solidFill>
                <a:latin typeface="Helvetica"/>
                <a:cs typeface="Helvetica"/>
              </a:rPr>
              <a:t>Journal </a:t>
            </a:r>
            <a:r>
              <a:rPr lang="en-US" sz="1600" i="1" dirty="0">
                <a:solidFill>
                  <a:schemeClr val="bg1"/>
                </a:solidFill>
                <a:latin typeface="Helvetica"/>
                <a:cs typeface="Helvetica"/>
              </a:rPr>
              <a:t>of Neuroscience</a:t>
            </a:r>
            <a:r>
              <a:rPr lang="en-US" sz="1600" dirty="0">
                <a:solidFill>
                  <a:schemeClr val="bg1"/>
                </a:solidFill>
                <a:latin typeface="Helvetica"/>
                <a:cs typeface="Helvetica"/>
              </a:rPr>
              <a:t>, </a:t>
            </a:r>
            <a:r>
              <a:rPr lang="en-US" sz="1600" i="1" dirty="0">
                <a:solidFill>
                  <a:schemeClr val="bg1"/>
                </a:solidFill>
                <a:latin typeface="Helvetica"/>
                <a:cs typeface="Helvetica"/>
              </a:rPr>
              <a:t>28</a:t>
            </a:r>
            <a:r>
              <a:rPr lang="en-US" sz="1600" dirty="0">
                <a:solidFill>
                  <a:schemeClr val="bg1"/>
                </a:solidFill>
                <a:latin typeface="Helvetica"/>
                <a:cs typeface="Helvetica"/>
              </a:rPr>
              <a:t>, 12539-12545</a:t>
            </a:r>
            <a:r>
              <a:rPr lang="en-US" sz="1600" dirty="0" smtClean="0">
                <a:solidFill>
                  <a:schemeClr val="bg1"/>
                </a:solidFill>
                <a:latin typeface="Helvetica"/>
                <a:cs typeface="Helvetica"/>
              </a:rPr>
              <a:t>.</a:t>
            </a:r>
            <a:endParaRPr lang="en-US" sz="1600" dirty="0">
              <a:solidFill>
                <a:schemeClr val="bg1"/>
              </a:solidFill>
              <a:latin typeface="Helvetica"/>
              <a:cs typeface="Helvetica"/>
            </a:endParaRPr>
          </a:p>
          <a:p>
            <a:pPr>
              <a:lnSpc>
                <a:spcPts val="1920"/>
              </a:lnSpc>
            </a:pPr>
            <a:r>
              <a:rPr lang="en-US" sz="1600" dirty="0" err="1">
                <a:solidFill>
                  <a:schemeClr val="bg1"/>
                </a:solidFill>
                <a:latin typeface="Helvetica"/>
                <a:cs typeface="Helvetica"/>
              </a:rPr>
              <a:t>Pascual</a:t>
            </a:r>
            <a:r>
              <a:rPr lang="en-US" sz="1600" dirty="0">
                <a:solidFill>
                  <a:schemeClr val="bg1"/>
                </a:solidFill>
                <a:latin typeface="Helvetica"/>
                <a:cs typeface="Helvetica"/>
              </a:rPr>
              <a:t>-Leone, A., Walsh, V., &amp; </a:t>
            </a:r>
            <a:r>
              <a:rPr lang="en-US" sz="1600" dirty="0" err="1">
                <a:solidFill>
                  <a:schemeClr val="bg1"/>
                </a:solidFill>
                <a:latin typeface="Helvetica"/>
                <a:cs typeface="Helvetica"/>
              </a:rPr>
              <a:t>Rothwell</a:t>
            </a:r>
            <a:r>
              <a:rPr lang="en-US" sz="1600" dirty="0">
                <a:solidFill>
                  <a:schemeClr val="bg1"/>
                </a:solidFill>
                <a:latin typeface="Helvetica"/>
                <a:cs typeface="Helvetica"/>
              </a:rPr>
              <a:t>, J. (2000). </a:t>
            </a:r>
            <a:r>
              <a:rPr lang="en-US" sz="1600" dirty="0" err="1">
                <a:solidFill>
                  <a:schemeClr val="bg1"/>
                </a:solidFill>
                <a:latin typeface="Helvetica"/>
                <a:cs typeface="Helvetica"/>
              </a:rPr>
              <a:t>Transcranial</a:t>
            </a:r>
            <a:r>
              <a:rPr lang="en-US" sz="1600" dirty="0">
                <a:solidFill>
                  <a:schemeClr val="bg1"/>
                </a:solidFill>
                <a:latin typeface="Helvetica"/>
                <a:cs typeface="Helvetica"/>
              </a:rPr>
              <a:t> magnetic stimulation in </a:t>
            </a:r>
            <a:r>
              <a:rPr lang="en-US" sz="1600" dirty="0" smtClean="0">
                <a:solidFill>
                  <a:schemeClr val="bg1"/>
                </a:solidFill>
                <a:latin typeface="Helvetica"/>
                <a:cs typeface="Helvetica"/>
              </a:rPr>
              <a:t>	cognitive </a:t>
            </a:r>
            <a:r>
              <a:rPr lang="en-US" sz="1600" dirty="0">
                <a:solidFill>
                  <a:schemeClr val="bg1"/>
                </a:solidFill>
                <a:latin typeface="Helvetica"/>
                <a:cs typeface="Helvetica"/>
              </a:rPr>
              <a:t>neuroscience - virtual lesion, chronometry, and functional connectivity. </a:t>
            </a:r>
            <a:r>
              <a:rPr lang="en-US" sz="1600" dirty="0" smtClean="0">
                <a:solidFill>
                  <a:schemeClr val="bg1"/>
                </a:solidFill>
                <a:latin typeface="Helvetica"/>
                <a:cs typeface="Helvetica"/>
              </a:rPr>
              <a:t>	</a:t>
            </a:r>
            <a:r>
              <a:rPr lang="en-US" sz="1600" i="1" dirty="0" smtClean="0">
                <a:solidFill>
                  <a:schemeClr val="bg1"/>
                </a:solidFill>
                <a:latin typeface="Helvetica"/>
                <a:cs typeface="Helvetica"/>
              </a:rPr>
              <a:t>Current </a:t>
            </a:r>
            <a:r>
              <a:rPr lang="en-US" sz="1600" i="1" dirty="0">
                <a:solidFill>
                  <a:schemeClr val="bg1"/>
                </a:solidFill>
                <a:latin typeface="Helvetica"/>
                <a:cs typeface="Helvetica"/>
              </a:rPr>
              <a:t>Opinion in Neurobiology</a:t>
            </a:r>
            <a:r>
              <a:rPr lang="en-US" sz="1600" dirty="0">
                <a:solidFill>
                  <a:schemeClr val="bg1"/>
                </a:solidFill>
                <a:latin typeface="Helvetica"/>
                <a:cs typeface="Helvetica"/>
              </a:rPr>
              <a:t>, </a:t>
            </a:r>
            <a:r>
              <a:rPr lang="en-US" sz="1600" i="1" dirty="0">
                <a:solidFill>
                  <a:schemeClr val="bg1"/>
                </a:solidFill>
                <a:latin typeface="Helvetica"/>
                <a:cs typeface="Helvetica"/>
              </a:rPr>
              <a:t>10</a:t>
            </a:r>
            <a:r>
              <a:rPr lang="en-US" sz="1600" dirty="0">
                <a:solidFill>
                  <a:schemeClr val="bg1"/>
                </a:solidFill>
                <a:latin typeface="Helvetica"/>
                <a:cs typeface="Helvetica"/>
              </a:rPr>
              <a:t>, 232-237.</a:t>
            </a:r>
          </a:p>
          <a:p>
            <a:pPr>
              <a:lnSpc>
                <a:spcPts val="1920"/>
              </a:lnSpc>
            </a:pPr>
            <a:r>
              <a:rPr lang="en-US" sz="1600" dirty="0">
                <a:solidFill>
                  <a:schemeClr val="bg1"/>
                </a:solidFill>
                <a:latin typeface="Helvetica"/>
                <a:cs typeface="Helvetica"/>
              </a:rPr>
              <a:t>Pitcher, D., Walsh, V., </a:t>
            </a:r>
            <a:r>
              <a:rPr lang="en-US" sz="1600" dirty="0" err="1">
                <a:solidFill>
                  <a:schemeClr val="bg1"/>
                </a:solidFill>
                <a:latin typeface="Helvetica"/>
                <a:cs typeface="Helvetica"/>
              </a:rPr>
              <a:t>Yovel</a:t>
            </a:r>
            <a:r>
              <a:rPr lang="en-US" sz="1600" dirty="0">
                <a:solidFill>
                  <a:schemeClr val="bg1"/>
                </a:solidFill>
                <a:latin typeface="Helvetica"/>
                <a:cs typeface="Helvetica"/>
              </a:rPr>
              <a:t>, G., &amp; Duchene, B. (2007). TMS evidence for the involvement </a:t>
            </a:r>
            <a:r>
              <a:rPr lang="en-US" sz="1600" dirty="0" smtClean="0">
                <a:solidFill>
                  <a:schemeClr val="bg1"/>
                </a:solidFill>
                <a:latin typeface="Helvetica"/>
                <a:cs typeface="Helvetica"/>
              </a:rPr>
              <a:t>	of </a:t>
            </a:r>
            <a:r>
              <a:rPr lang="en-US" sz="1600" dirty="0">
                <a:solidFill>
                  <a:schemeClr val="bg1"/>
                </a:solidFill>
                <a:latin typeface="Helvetica"/>
                <a:cs typeface="Helvetica"/>
              </a:rPr>
              <a:t>the right occipital face area in early face processing. </a:t>
            </a:r>
            <a:r>
              <a:rPr lang="en-US" sz="1600" i="1" dirty="0">
                <a:solidFill>
                  <a:schemeClr val="bg1"/>
                </a:solidFill>
                <a:latin typeface="Helvetica"/>
                <a:cs typeface="Helvetica"/>
              </a:rPr>
              <a:t>Current Biology</a:t>
            </a:r>
            <a:r>
              <a:rPr lang="en-US" sz="1600" dirty="0">
                <a:solidFill>
                  <a:schemeClr val="bg1"/>
                </a:solidFill>
                <a:latin typeface="Helvetica"/>
                <a:cs typeface="Helvetica"/>
              </a:rPr>
              <a:t>, </a:t>
            </a:r>
            <a:r>
              <a:rPr lang="en-US" sz="1600" i="1" dirty="0">
                <a:solidFill>
                  <a:schemeClr val="bg1"/>
                </a:solidFill>
                <a:latin typeface="Helvetica"/>
                <a:cs typeface="Helvetica"/>
              </a:rPr>
              <a:t>17</a:t>
            </a:r>
            <a:r>
              <a:rPr lang="en-US" sz="1600" dirty="0">
                <a:solidFill>
                  <a:schemeClr val="bg1"/>
                </a:solidFill>
                <a:latin typeface="Helvetica"/>
                <a:cs typeface="Helvetica"/>
              </a:rPr>
              <a:t>, </a:t>
            </a:r>
            <a:r>
              <a:rPr lang="en-US" sz="1600" dirty="0" smtClean="0">
                <a:solidFill>
                  <a:schemeClr val="bg1"/>
                </a:solidFill>
                <a:latin typeface="Helvetica"/>
                <a:cs typeface="Helvetica"/>
              </a:rPr>
              <a:t>	1568</a:t>
            </a:r>
            <a:r>
              <a:rPr lang="en-US" sz="1600" dirty="0">
                <a:solidFill>
                  <a:schemeClr val="bg1"/>
                </a:solidFill>
                <a:latin typeface="Helvetica"/>
                <a:cs typeface="Helvetica"/>
              </a:rPr>
              <a:t>-1573.</a:t>
            </a:r>
          </a:p>
          <a:p>
            <a:pPr>
              <a:lnSpc>
                <a:spcPts val="1920"/>
              </a:lnSpc>
            </a:pPr>
            <a:r>
              <a:rPr lang="en-US" sz="1600" dirty="0">
                <a:solidFill>
                  <a:schemeClr val="bg1"/>
                </a:solidFill>
                <a:latin typeface="Helvetica"/>
                <a:cs typeface="Helvetica"/>
              </a:rPr>
              <a:t>Shannon, C. E. (1948). A mathematical theory of communication. </a:t>
            </a:r>
            <a:r>
              <a:rPr lang="en-US" sz="1600" i="1" dirty="0">
                <a:solidFill>
                  <a:schemeClr val="bg1"/>
                </a:solidFill>
                <a:latin typeface="Helvetica"/>
                <a:cs typeface="Helvetica"/>
              </a:rPr>
              <a:t>The Bell System </a:t>
            </a:r>
            <a:r>
              <a:rPr lang="en-US" sz="1600" i="1" dirty="0" smtClean="0">
                <a:solidFill>
                  <a:schemeClr val="bg1"/>
                </a:solidFill>
                <a:latin typeface="Helvetica"/>
                <a:cs typeface="Helvetica"/>
              </a:rPr>
              <a:t>	Technical </a:t>
            </a:r>
            <a:r>
              <a:rPr lang="en-US" sz="1600" i="1" dirty="0">
                <a:solidFill>
                  <a:schemeClr val="bg1"/>
                </a:solidFill>
                <a:latin typeface="Helvetica"/>
                <a:cs typeface="Helvetica"/>
              </a:rPr>
              <a:t>Journal</a:t>
            </a:r>
            <a:r>
              <a:rPr lang="en-US" sz="1600" dirty="0">
                <a:solidFill>
                  <a:schemeClr val="bg1"/>
                </a:solidFill>
                <a:latin typeface="Helvetica"/>
                <a:cs typeface="Helvetica"/>
              </a:rPr>
              <a:t>, </a:t>
            </a:r>
            <a:r>
              <a:rPr lang="en-US" sz="1600" i="1" dirty="0">
                <a:solidFill>
                  <a:schemeClr val="bg1"/>
                </a:solidFill>
                <a:latin typeface="Helvetica"/>
                <a:cs typeface="Helvetica"/>
              </a:rPr>
              <a:t>27</a:t>
            </a:r>
            <a:r>
              <a:rPr lang="en-US" sz="1600" dirty="0">
                <a:solidFill>
                  <a:schemeClr val="bg1"/>
                </a:solidFill>
                <a:latin typeface="Helvetica"/>
                <a:cs typeface="Helvetica"/>
              </a:rPr>
              <a:t>, 379-423</a:t>
            </a:r>
            <a:r>
              <a:rPr lang="en-US" sz="1600" dirty="0" smtClean="0">
                <a:solidFill>
                  <a:schemeClr val="bg1"/>
                </a:solidFill>
                <a:latin typeface="Helvetica"/>
                <a:cs typeface="Helvetica"/>
              </a:rPr>
              <a:t>.</a:t>
            </a:r>
          </a:p>
          <a:p>
            <a:pPr marL="898525" indent="-898525">
              <a:lnSpc>
                <a:spcPts val="1920"/>
              </a:lnSpc>
            </a:pPr>
            <a:r>
              <a:rPr kumimoji="0" lang="en-US" sz="1600" b="0" i="0" u="none" strike="noStrike" kern="1200" cap="none" spc="0" normalizeH="0" baseline="0" noProof="0" dirty="0" err="1" smtClean="0">
                <a:ln>
                  <a:noFill/>
                </a:ln>
                <a:solidFill>
                  <a:schemeClr val="bg1"/>
                </a:solidFill>
                <a:effectLst/>
                <a:uLnTx/>
                <a:uFillTx/>
                <a:latin typeface="Helvetica"/>
                <a:cs typeface="Helvetica"/>
              </a:rPr>
              <a:t>Strang</a:t>
            </a:r>
            <a:r>
              <a:rPr lang="en-US" sz="1600" dirty="0" smtClean="0">
                <a:solidFill>
                  <a:schemeClr val="bg1"/>
                </a:solidFill>
                <a:latin typeface="Helvetica"/>
                <a:cs typeface="Helvetica"/>
              </a:rPr>
              <a:t>e, B. A., </a:t>
            </a:r>
            <a:r>
              <a:rPr lang="en-US" sz="1600" dirty="0" err="1" smtClean="0">
                <a:solidFill>
                  <a:schemeClr val="bg1"/>
                </a:solidFill>
                <a:latin typeface="Helvetica"/>
                <a:cs typeface="Helvetica"/>
              </a:rPr>
              <a:t>Duggins</a:t>
            </a:r>
            <a:r>
              <a:rPr lang="en-US" sz="1600" dirty="0" smtClean="0">
                <a:solidFill>
                  <a:schemeClr val="bg1"/>
                </a:solidFill>
                <a:latin typeface="Helvetica"/>
                <a:cs typeface="Helvetica"/>
              </a:rPr>
              <a:t>, A., Penny, W., Dolan, R. J., &amp; </a:t>
            </a:r>
            <a:r>
              <a:rPr lang="en-US" sz="1600" dirty="0" err="1" smtClean="0">
                <a:solidFill>
                  <a:schemeClr val="bg1"/>
                </a:solidFill>
                <a:latin typeface="Helvetica"/>
                <a:cs typeface="Helvetica"/>
              </a:rPr>
              <a:t>Friston</a:t>
            </a:r>
            <a:r>
              <a:rPr lang="en-US" sz="1600" dirty="0" smtClean="0">
                <a:solidFill>
                  <a:schemeClr val="bg1"/>
                </a:solidFill>
                <a:latin typeface="Helvetica"/>
                <a:cs typeface="Helvetica"/>
              </a:rPr>
              <a:t>, K. J. (2005). Information theory, novelty, and hippocampal responses: Unpredicted or unpredictable? </a:t>
            </a:r>
            <a:r>
              <a:rPr lang="en-US" sz="1600" i="1" dirty="0" smtClean="0">
                <a:solidFill>
                  <a:schemeClr val="bg1"/>
                </a:solidFill>
                <a:latin typeface="Helvetica"/>
                <a:cs typeface="Helvetica"/>
              </a:rPr>
              <a:t>Neural Networks</a:t>
            </a:r>
            <a:r>
              <a:rPr lang="en-US" sz="1600" dirty="0" smtClean="0">
                <a:solidFill>
                  <a:schemeClr val="bg1"/>
                </a:solidFill>
                <a:latin typeface="Helvetica"/>
                <a:cs typeface="Helvetica"/>
              </a:rPr>
              <a:t>, </a:t>
            </a:r>
            <a:r>
              <a:rPr lang="en-US" sz="1600" i="1" dirty="0" smtClean="0">
                <a:solidFill>
                  <a:schemeClr val="bg1"/>
                </a:solidFill>
                <a:latin typeface="Helvetica"/>
                <a:cs typeface="Helvetica"/>
              </a:rPr>
              <a:t>18</a:t>
            </a:r>
            <a:r>
              <a:rPr lang="en-US" sz="1600" dirty="0" smtClean="0">
                <a:solidFill>
                  <a:schemeClr val="bg1"/>
                </a:solidFill>
                <a:latin typeface="Helvetica"/>
                <a:cs typeface="Helvetica"/>
              </a:rPr>
              <a:t>, 225-230.</a:t>
            </a:r>
            <a:endParaRPr kumimoji="0" lang="en-CA" sz="1600" b="0" i="0" u="none" strike="noStrike" kern="1200" cap="none" spc="0" normalizeH="0" baseline="0" noProof="0" dirty="0">
              <a:ln>
                <a:noFill/>
              </a:ln>
              <a:solidFill>
                <a:schemeClr val="bg1"/>
              </a:solidFill>
              <a:effectLst/>
              <a:uLnTx/>
              <a:uFillTx/>
              <a:latin typeface="Helvetica"/>
              <a:cs typeface="Helvetica"/>
            </a:endParaRPr>
          </a:p>
        </p:txBody>
      </p:sp>
      <p:sp>
        <p:nvSpPr>
          <p:cNvPr id="3" name="Title 2"/>
          <p:cNvSpPr>
            <a:spLocks noGrp="1"/>
          </p:cNvSpPr>
          <p:nvPr>
            <p:ph type="title"/>
          </p:nvPr>
        </p:nvSpPr>
        <p:spPr/>
        <p:txBody>
          <a:bodyPr/>
          <a:lstStyle/>
          <a:p>
            <a:r>
              <a:rPr lang="en-US" dirty="0" smtClean="0"/>
              <a:t>References</a:t>
            </a:r>
            <a:endParaRPr lang="en-US" dirty="0"/>
          </a:p>
        </p:txBody>
      </p:sp>
    </p:spTree>
    <p:extLst>
      <p:ext uri="{BB962C8B-B14F-4D97-AF65-F5344CB8AC3E}">
        <p14:creationId xmlns:p14="http://schemas.microsoft.com/office/powerpoint/2010/main" val="3811226138"/>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Ideal Observer Model</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5" name="TextBox 4"/>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a:t>
            </a:r>
            <a:endParaRPr lang="en-CA" sz="2200" dirty="0">
              <a:solidFill>
                <a:schemeClr val="bg1"/>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235" y="1916832"/>
            <a:ext cx="6281909" cy="3085971"/>
          </a:xfrm>
          <a:prstGeom prst="rect">
            <a:avLst/>
          </a:prstGeom>
        </p:spPr>
      </p:pic>
    </p:spTree>
    <p:extLst>
      <p:ext uri="{BB962C8B-B14F-4D97-AF65-F5344CB8AC3E}">
        <p14:creationId xmlns:p14="http://schemas.microsoft.com/office/powerpoint/2010/main" val="4130110229"/>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Ideal Observer Model </a:t>
            </a:r>
            <a:r>
              <a:rPr lang="en-US" dirty="0" smtClean="0"/>
              <a:t>–</a:t>
            </a:r>
            <a:r>
              <a:rPr lang="en-CA" dirty="0" smtClean="0"/>
              <a:t> Take 2</a:t>
            </a:r>
            <a:endParaRPr lang="en-CA" dirty="0"/>
          </a:p>
        </p:txBody>
      </p:sp>
      <p:sp>
        <p:nvSpPr>
          <p:cNvPr id="4" name="TextBox 3"/>
          <p:cNvSpPr txBox="1"/>
          <p:nvPr/>
        </p:nvSpPr>
        <p:spPr>
          <a:xfrm>
            <a:off x="467544"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Intro: TMS</a:t>
            </a:r>
            <a:endParaRPr lang="en-CA" sz="2200" dirty="0">
              <a:solidFill>
                <a:schemeClr val="tx1">
                  <a:lumMod val="65000"/>
                  <a:lumOff val="35000"/>
                </a:schemeClr>
              </a:solidFill>
              <a:latin typeface="Helvetica" pitchFamily="34" charset="0"/>
              <a:cs typeface="Helvetica" pitchFamily="34" charset="0"/>
            </a:endParaRPr>
          </a:p>
        </p:txBody>
      </p:sp>
      <p:sp>
        <p:nvSpPr>
          <p:cNvPr id="6" name="TextBox 5"/>
          <p:cNvSpPr txBox="1"/>
          <p:nvPr/>
        </p:nvSpPr>
        <p:spPr>
          <a:xfrm>
            <a:off x="6012160" y="6309320"/>
            <a:ext cx="2699792"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tx1">
                    <a:lumMod val="65000"/>
                    <a:lumOff val="35000"/>
                  </a:schemeClr>
                </a:solidFill>
                <a:latin typeface="Helvetica" pitchFamily="34" charset="0"/>
                <a:cs typeface="Helvetica" pitchFamily="34" charset="0"/>
              </a:rPr>
              <a:t>Conclusions</a:t>
            </a:r>
            <a:endParaRPr lang="en-CA" sz="2200" dirty="0">
              <a:solidFill>
                <a:schemeClr val="tx1">
                  <a:lumMod val="65000"/>
                  <a:lumOff val="35000"/>
                </a:schemeClr>
              </a:solidFill>
              <a:latin typeface="Helvetica" pitchFamily="34" charset="0"/>
              <a:cs typeface="Helvetica" pitchFamily="34" charset="0"/>
            </a:endParaRPr>
          </a:p>
        </p:txBody>
      </p:sp>
      <p:sp>
        <p:nvSpPr>
          <p:cNvPr id="8" name="Content Placeholder 2"/>
          <p:cNvSpPr txBox="1">
            <a:spLocks/>
          </p:cNvSpPr>
          <p:nvPr/>
        </p:nvSpPr>
        <p:spPr>
          <a:xfrm>
            <a:off x="467544" y="1628801"/>
            <a:ext cx="8280920" cy="4320480"/>
          </a:xfrm>
          <a:prstGeom prst="rect">
            <a:avLst/>
          </a:prstGeom>
        </p:spPr>
        <p:txBody>
          <a:bodyPr vert="horz" lIns="91440" tIns="45720" rIns="91440" bIns="45720" rtlCol="0">
            <a:normAutofit/>
          </a:bodyPr>
          <a:lstStyle/>
          <a:p>
            <a:pPr marL="457200" indent="-457200">
              <a:spcBef>
                <a:spcPct val="20000"/>
              </a:spcBef>
              <a:buFont typeface="Arial"/>
              <a:buChar char="•"/>
              <a:defRPr/>
            </a:pPr>
            <a:endParaRPr lang="en-CA" sz="2800" dirty="0" smtClean="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a:solidFill>
                <a:schemeClr val="bg1"/>
              </a:solidFill>
              <a:latin typeface="Helvetica" pitchFamily="34" charset="0"/>
              <a:cs typeface="Helvetica" pitchFamily="34" charset="0"/>
            </a:endParaRPr>
          </a:p>
          <a:p>
            <a:pPr marL="800100" lvl="1" indent="-342900">
              <a:spcBef>
                <a:spcPct val="20000"/>
              </a:spcBef>
              <a:buFont typeface="Arial" pitchFamily="34" charset="0"/>
              <a:buChar char="•"/>
              <a:defRPr/>
            </a:pPr>
            <a:endParaRPr lang="en-CA" sz="2800" dirty="0" smtClean="0">
              <a:solidFill>
                <a:schemeClr val="bg1"/>
              </a:solidFill>
              <a:latin typeface="Helvetica" pitchFamily="34" charset="0"/>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8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1000" b="0" i="0" u="none" strike="noStrike" kern="1200" cap="none" spc="0" normalizeH="0" baseline="0" noProof="0" dirty="0" smtClean="0">
              <a:ln>
                <a:noFill/>
              </a:ln>
              <a:solidFill>
                <a:schemeClr val="bg1"/>
              </a:solidFill>
              <a:effectLst/>
              <a:uLnTx/>
              <a:uFillTx/>
              <a:latin typeface="Helvetica" pitchFamily="34" charset="0"/>
              <a:ea typeface="+mn-ea"/>
              <a:cs typeface="Helvetica"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CA" sz="2600" b="0" i="0" u="none" strike="noStrike" kern="1200" cap="none" spc="0" normalizeH="0" baseline="0" noProof="0" dirty="0">
              <a:ln>
                <a:noFill/>
              </a:ln>
              <a:solidFill>
                <a:schemeClr val="bg1"/>
              </a:solidFill>
              <a:effectLst/>
              <a:uLnTx/>
              <a:uFillTx/>
              <a:latin typeface="Helvetica" pitchFamily="34" charset="0"/>
              <a:ea typeface="+mn-ea"/>
              <a:cs typeface="Helvetica" pitchFamily="34" charset="0"/>
            </a:endParaRPr>
          </a:p>
        </p:txBody>
      </p:sp>
      <p:pic>
        <p:nvPicPr>
          <p:cNvPr id="3" name="Picture 2" descr="Screen shot 2011-12-05 at 6.00.2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3573016"/>
            <a:ext cx="4032448" cy="2739997"/>
          </a:xfrm>
          <a:prstGeom prst="rect">
            <a:avLst/>
          </a:prstGeom>
        </p:spPr>
      </p:pic>
      <p:sp>
        <p:nvSpPr>
          <p:cNvPr id="10" name="TextBox 9"/>
          <p:cNvSpPr txBox="1"/>
          <p:nvPr/>
        </p:nvSpPr>
        <p:spPr>
          <a:xfrm>
            <a:off x="3203848" y="6309320"/>
            <a:ext cx="2771800" cy="430887"/>
          </a:xfrm>
          <a:prstGeom prst="rect">
            <a:avLst/>
          </a:prstGeom>
          <a:noFill/>
          <a:ln>
            <a:solidFill>
              <a:schemeClr val="bg1">
                <a:lumMod val="50000"/>
              </a:schemeClr>
            </a:solidFill>
          </a:ln>
        </p:spPr>
        <p:txBody>
          <a:bodyPr wrap="square" rtlCol="0">
            <a:spAutoFit/>
          </a:bodyPr>
          <a:lstStyle/>
          <a:p>
            <a:pPr algn="ctr"/>
            <a:r>
              <a:rPr lang="en-CA" sz="2200" dirty="0" smtClean="0">
                <a:solidFill>
                  <a:schemeClr val="bg1"/>
                </a:solidFill>
                <a:latin typeface="Helvetica" pitchFamily="34" charset="0"/>
                <a:cs typeface="Helvetica" pitchFamily="34" charset="0"/>
              </a:rPr>
              <a:t>Present Model: </a:t>
            </a:r>
            <a:r>
              <a:rPr lang="en-CA" sz="1400" dirty="0" err="1" smtClean="0">
                <a:solidFill>
                  <a:schemeClr val="bg1"/>
                </a:solidFill>
                <a:latin typeface="Helvetica" pitchFamily="34" charset="0"/>
                <a:cs typeface="Helvetica" pitchFamily="34" charset="0"/>
              </a:rPr>
              <a:t>Redux</a:t>
            </a:r>
            <a:endParaRPr lang="en-CA" sz="1400" dirty="0">
              <a:solidFill>
                <a:schemeClr val="bg1"/>
              </a:solidFill>
              <a:latin typeface="Helvetica" pitchFamily="34" charset="0"/>
              <a:cs typeface="Helvetica" pitchFamily="34" charset="0"/>
            </a:endParaRPr>
          </a:p>
        </p:txBody>
      </p:sp>
      <p:pic>
        <p:nvPicPr>
          <p:cNvPr id="5" name="Picture 4" descr="Screen shot 2011-12-05 at 6.11.47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5776" y="3883212"/>
            <a:ext cx="4032448" cy="2445208"/>
          </a:xfrm>
          <a:prstGeom prst="rect">
            <a:avLst/>
          </a:prstGeom>
        </p:spPr>
      </p:pic>
      <p:pic>
        <p:nvPicPr>
          <p:cNvPr id="11" name="Picture 10" descr="Screen shot 2011-12-05 at 6.00.1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5776" y="1196752"/>
            <a:ext cx="4022968" cy="2736304"/>
          </a:xfrm>
          <a:prstGeom prst="rect">
            <a:avLst/>
          </a:prstGeom>
        </p:spPr>
      </p:pic>
    </p:spTree>
    <p:extLst>
      <p:ext uri="{BB962C8B-B14F-4D97-AF65-F5344CB8AC3E}">
        <p14:creationId xmlns:p14="http://schemas.microsoft.com/office/powerpoint/2010/main" val="887596571"/>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3286</TotalTime>
  <Words>5540</Words>
  <Application>Microsoft Macintosh PowerPoint</Application>
  <PresentationFormat>On-screen Show (4:3)</PresentationFormat>
  <Paragraphs>1230</Paragraphs>
  <Slides>90</Slides>
  <Notes>89</Notes>
  <HiddenSlides>0</HiddenSlides>
  <MMClips>1</MMClips>
  <ScaleCrop>false</ScaleCrop>
  <HeadingPairs>
    <vt:vector size="6" baseType="variant">
      <vt:variant>
        <vt:lpstr>Theme</vt:lpstr>
      </vt:variant>
      <vt:variant>
        <vt:i4>1</vt:i4>
      </vt:variant>
      <vt:variant>
        <vt:lpstr>Links</vt:lpstr>
      </vt:variant>
      <vt:variant>
        <vt:i4>3</vt:i4>
      </vt:variant>
      <vt:variant>
        <vt:lpstr>Slide Titles</vt:lpstr>
      </vt:variant>
      <vt:variant>
        <vt:i4>90</vt:i4>
      </vt:variant>
    </vt:vector>
  </HeadingPairs>
  <TitlesOfParts>
    <vt:vector size="94" baseType="lpstr">
      <vt:lpstr>Office Theme</vt:lpstr>
      <vt:lpstr>\\localhost\Users\hoge4680\Dropbox\Jeremy's School Files\psych 792 readings\surprise,entropy,meps\Document1!OLE_LINK2</vt:lpstr>
      <vt:lpstr>\\localhost\Users\hoge4680\Dropbox\Jeremy's School Files\psych 792 readings\surprise,entropy,meps\Document1!OLE_LINK3</vt:lpstr>
      <vt:lpstr>\\localhost\Users\hoge4680\Dropbox\Jeremy's School Files\psych 792 readings\surprise,entropy,meps\Document1!OLE_LINK4</vt:lpstr>
      <vt:lpstr>Transcranial Magnetic Information:  Influence of Surprise on Corticospinal Excitability</vt:lpstr>
      <vt:lpstr>Outline</vt:lpstr>
      <vt:lpstr>Outline</vt:lpstr>
      <vt:lpstr>Outline</vt:lpstr>
      <vt:lpstr>Transcranial Magnetic Stimulation (TMS)</vt:lpstr>
      <vt:lpstr>Transcranial Magnetic Stimulation (TMS)</vt:lpstr>
      <vt:lpstr>Why use TMS?</vt:lpstr>
      <vt:lpstr>Why use TMS?</vt:lpstr>
      <vt:lpstr>Why use TMS?</vt:lpstr>
      <vt:lpstr>Why use TMS?</vt:lpstr>
      <vt:lpstr>TMS: Fundamentals </vt:lpstr>
      <vt:lpstr>TMS: Fundamentals </vt:lpstr>
      <vt:lpstr>TMS: Fundamentals </vt:lpstr>
      <vt:lpstr>TMS: Fundamentals </vt:lpstr>
      <vt:lpstr>TMS: Fundamentals </vt:lpstr>
      <vt:lpstr>TMS: Fundamentals </vt:lpstr>
      <vt:lpstr>TMS: Uses</vt:lpstr>
      <vt:lpstr>TMS: Uses</vt:lpstr>
      <vt:lpstr>TMS: Uses</vt:lpstr>
      <vt:lpstr>TMS: Uses</vt:lpstr>
      <vt:lpstr>TMS: Uses</vt:lpstr>
      <vt:lpstr>TMS: Uses</vt:lpstr>
      <vt:lpstr>TMS: Uses</vt:lpstr>
      <vt:lpstr>TMS: Uses</vt:lpstr>
      <vt:lpstr>TMS: Uses</vt:lpstr>
      <vt:lpstr>TMS: Uses</vt:lpstr>
      <vt:lpstr>TMS: Uses</vt:lpstr>
      <vt:lpstr>TMS: Uses</vt:lpstr>
      <vt:lpstr>TMS: Uses</vt:lpstr>
      <vt:lpstr>Motor-Evoked Potentials:  Typical Analysis</vt:lpstr>
      <vt:lpstr>Motor-Evoked Potentials:  Typical Analysis</vt:lpstr>
      <vt:lpstr>Motor-Evoked Potentials:  Typical Analysis</vt:lpstr>
      <vt:lpstr>Motor-Evoked Potentials:  Typical Analysis</vt:lpstr>
      <vt:lpstr>Motor-Evoked Potentials:  Typical Analysis</vt:lpstr>
      <vt:lpstr>Motor-Evoked Potentials:  Within-Block Variability</vt:lpstr>
      <vt:lpstr>Possible Explanation?</vt:lpstr>
      <vt:lpstr>Possible Explanation?</vt:lpstr>
      <vt:lpstr>Do MEPs also vary as a function of surprise?</vt:lpstr>
      <vt:lpstr>Do MEPs also vary as a function of surprise?</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Quantifying Information</vt:lpstr>
      <vt:lpstr>Questions:</vt:lpstr>
      <vt:lpstr>Questions:</vt:lpstr>
      <vt:lpstr>Nested Model Comparison</vt:lpstr>
      <vt:lpstr>Nested Model Comparison</vt:lpstr>
      <vt:lpstr>Nested Model Comparison</vt:lpstr>
      <vt:lpstr>Nested Model Comparison</vt:lpstr>
      <vt:lpstr>Nested Model Comparison</vt:lpstr>
      <vt:lpstr>Ideal Observer Model</vt:lpstr>
      <vt:lpstr>Ideal Observer Model</vt:lpstr>
      <vt:lpstr>Ideal Observer Model</vt:lpstr>
      <vt:lpstr>Questions:</vt:lpstr>
      <vt:lpstr>Questions:</vt:lpstr>
      <vt:lpstr>Nested Model Comparison</vt:lpstr>
      <vt:lpstr>Nested Model Comparison</vt:lpstr>
      <vt:lpstr>Nested Model Comparison</vt:lpstr>
      <vt:lpstr>Nested Model Comparison</vt:lpstr>
      <vt:lpstr>Maximal Forgetting Model</vt:lpstr>
      <vt:lpstr>Therefore:</vt:lpstr>
      <vt:lpstr>Therefore:</vt:lpstr>
      <vt:lpstr>Therefore:</vt:lpstr>
      <vt:lpstr>Problem:</vt:lpstr>
      <vt:lpstr>Quantifying Information – Take 2</vt:lpstr>
      <vt:lpstr>Quantifying Information – Take 2</vt:lpstr>
      <vt:lpstr>Quantifying Information – Take 2</vt:lpstr>
      <vt:lpstr>Quantifying Information – Take 2</vt:lpstr>
      <vt:lpstr>Model Comparison – Take 2</vt:lpstr>
      <vt:lpstr>Model Comparison – Take 2</vt:lpstr>
      <vt:lpstr>PowerPoint Presentation</vt:lpstr>
      <vt:lpstr>PowerPoint Presentation</vt:lpstr>
      <vt:lpstr>Therefore:</vt:lpstr>
      <vt:lpstr>Back to Reality</vt:lpstr>
      <vt:lpstr>Back to Reality</vt:lpstr>
      <vt:lpstr>Back to Reality</vt:lpstr>
      <vt:lpstr>Back to Reality</vt:lpstr>
      <vt:lpstr>Back to Reality</vt:lpstr>
      <vt:lpstr>References</vt:lpstr>
      <vt:lpstr>Ideal Observer Model</vt:lpstr>
      <vt:lpstr>Ideal Observer Model – Take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Transcranial Magnetic Information:  Using surprise and entropy to model corticospinal excitability</dc:title>
  <dc:creator>jeremy</dc:creator>
  <cp:lastModifiedBy>Obhi Lab</cp:lastModifiedBy>
  <cp:revision>77</cp:revision>
  <dcterms:created xsi:type="dcterms:W3CDTF">2011-11-24T20:55:30Z</dcterms:created>
  <dcterms:modified xsi:type="dcterms:W3CDTF">2011-12-06T16:28:50Z</dcterms:modified>
</cp:coreProperties>
</file>